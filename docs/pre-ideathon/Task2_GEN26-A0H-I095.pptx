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5"/>
  </p:notes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Cambria Bold" charset="1" panose="02040803050406030204"/>
      <p:regular r:id="rId18"/>
    </p:embeddedFont>
    <p:embeddedFont>
      <p:font typeface="Calibri (MS) Bold" charset="1" panose="020F0702030404030204"/>
      <p:regular r:id="rId19"/>
    </p:embeddedFont>
    <p:embeddedFont>
      <p:font typeface="Calibri (MS)" charset="1" panose="020F0502020204030204"/>
      <p:regular r:id="rId20"/>
    </p:embeddedFont>
    <p:embeddedFont>
      <p:font typeface="Cambria" charset="1" panose="02040503050406030204"/>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notesMasters/notesMaster1.xml" Type="http://schemas.openxmlformats.org/officeDocument/2006/relationships/notesMaster"/><Relationship Id="rId16" Target="theme/theme2.xml" Type="http://schemas.openxmlformats.org/officeDocument/2006/relationships/theme"/><Relationship Id="rId17" Target="notesSlides/notesSlide1.xml" Type="http://schemas.openxmlformats.org/officeDocument/2006/relationships/note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notesSlides/notesSlide2.xml" Type="http://schemas.openxmlformats.org/officeDocument/2006/relationships/notesSlide"/><Relationship Id="rId22" Target="notesSlides/notesSlide3.xml" Type="http://schemas.openxmlformats.org/officeDocument/2006/relationships/notesSlide"/><Relationship Id="rId23" Target="notesSlides/notesSlide4.xml" Type="http://schemas.openxmlformats.org/officeDocument/2006/relationships/notesSlide"/><Relationship Id="rId24" Target="notesSlides/notesSlide5.xml" Type="http://schemas.openxmlformats.org/officeDocument/2006/relationships/notesSlide"/><Relationship Id="rId25" Target="notesSlides/notesSlide6.xml" Type="http://schemas.openxmlformats.org/officeDocument/2006/relationships/notesSlide"/><Relationship Id="rId26" Target="notesSlides/notesSlide7.xml" Type="http://schemas.openxmlformats.org/officeDocument/2006/relationships/notesSlide"/><Relationship Id="rId27" Target="notesSlides/notesSlide8.xml" Type="http://schemas.openxmlformats.org/officeDocument/2006/relationships/notesSlide"/><Relationship Id="rId28" Target="fonts/font28.fntdata" Type="http://schemas.openxmlformats.org/officeDocument/2006/relationships/font"/><Relationship Id="rId29" Target="notesSlides/notesSlide9.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png" Type="http://schemas.openxmlformats.org/officeDocument/2006/relationships/image"/><Relationship Id="rId4" Target="../media/image1.jpe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5.png" Type="http://schemas.openxmlformats.org/officeDocument/2006/relationships/image"/><Relationship Id="rId4" Target="../media/image1.jpeg" Type="http://schemas.openxmlformats.org/officeDocument/2006/relationships/image"/><Relationship Id="rId5"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5.png" Type="http://schemas.openxmlformats.org/officeDocument/2006/relationships/image"/><Relationship Id="rId4" Target="../media/image1.jpeg" Type="http://schemas.openxmlformats.org/officeDocument/2006/relationships/image"/><Relationship Id="rId5" Target="../media/image3.png" Type="http://schemas.openxmlformats.org/officeDocument/2006/relationships/image"/><Relationship Id="rId6" Target="../media/image6.png" Type="http://schemas.openxmlformats.org/officeDocument/2006/relationships/image"/><Relationship Id="rId7" Target="../media/image7.png" Type="http://schemas.openxmlformats.org/officeDocument/2006/relationships/image"/><Relationship Id="rId8" Target="../media/image4.png" Type="http://schemas.openxmlformats.org/officeDocument/2006/relationships/image"/><Relationship Id="rId9" Target="https://www.fluke.com/en-us/product/industrial-imaging/precision-acoustic-imager-ii910" TargetMode="External" Type="http://schemas.openxmlformats.org/officeDocument/2006/relationships/hyperlink"/></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3.svg" Type="http://schemas.openxmlformats.org/officeDocument/2006/relationships/image"/><Relationship Id="rId12" Target="../media/image14.png" Type="http://schemas.openxmlformats.org/officeDocument/2006/relationships/image"/><Relationship Id="rId13" Target="../media/image15.jpeg" Type="http://schemas.openxmlformats.org/officeDocument/2006/relationships/image"/><Relationship Id="rId2" Target="../notesSlides/notesSlide5.xml" Type="http://schemas.openxmlformats.org/officeDocument/2006/relationships/notesSlide"/><Relationship Id="rId3" Target="../media/image5.png" Type="http://schemas.openxmlformats.org/officeDocument/2006/relationships/image"/><Relationship Id="rId4" Target="../media/image1.jpeg" Type="http://schemas.openxmlformats.org/officeDocument/2006/relationships/image"/><Relationship Id="rId5" Target="../media/image4.pn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11" Target="../media/image12.png" Type="http://schemas.openxmlformats.org/officeDocument/2006/relationships/image"/><Relationship Id="rId12" Target="../media/image13.svg" Type="http://schemas.openxmlformats.org/officeDocument/2006/relationships/image"/><Relationship Id="rId13" Target="../media/image14.png" Type="http://schemas.openxmlformats.org/officeDocument/2006/relationships/image"/><Relationship Id="rId2" Target="../notesSlides/notesSlide6.xml" Type="http://schemas.openxmlformats.org/officeDocument/2006/relationships/notesSlide"/><Relationship Id="rId3" Target="../media/image16.png" Type="http://schemas.openxmlformats.org/officeDocument/2006/relationships/image"/><Relationship Id="rId4" Target="../media/image17.svg" Type="http://schemas.openxmlformats.org/officeDocument/2006/relationships/image"/><Relationship Id="rId5" Target="../media/image5.png" Type="http://schemas.openxmlformats.org/officeDocument/2006/relationships/image"/><Relationship Id="rId6" Target="../media/image15.jpeg" Type="http://schemas.openxmlformats.org/officeDocument/2006/relationships/image"/><Relationship Id="rId7" Target="../media/image1.jpeg" Type="http://schemas.openxmlformats.org/officeDocument/2006/relationships/image"/><Relationship Id="rId8" Target="../media/image18.png" Type="http://schemas.openxmlformats.org/officeDocument/2006/relationships/image"/><Relationship Id="rId9"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3.svg" Type="http://schemas.openxmlformats.org/officeDocument/2006/relationships/image"/><Relationship Id="rId12" Target="../media/image14.png" Type="http://schemas.openxmlformats.org/officeDocument/2006/relationships/image"/><Relationship Id="rId13" Target="../media/image18.png" Type="http://schemas.openxmlformats.org/officeDocument/2006/relationships/image"/><Relationship Id="rId14" Target="../media/image19.png" Type="http://schemas.openxmlformats.org/officeDocument/2006/relationships/image"/><Relationship Id="rId15" Target="../media/image20.svg" Type="http://schemas.openxmlformats.org/officeDocument/2006/relationships/image"/><Relationship Id="rId16" Target="../media/image21.png" Type="http://schemas.openxmlformats.org/officeDocument/2006/relationships/image"/><Relationship Id="rId17" Target="../media/image22.svg" Type="http://schemas.openxmlformats.org/officeDocument/2006/relationships/image"/><Relationship Id="rId2" Target="../notesSlides/notesSlide7.xml" Type="http://schemas.openxmlformats.org/officeDocument/2006/relationships/notesSlide"/><Relationship Id="rId3" Target="../media/image16.png" Type="http://schemas.openxmlformats.org/officeDocument/2006/relationships/image"/><Relationship Id="rId4" Target="../media/image17.svg" Type="http://schemas.openxmlformats.org/officeDocument/2006/relationships/image"/><Relationship Id="rId5" Target="../media/image5.png" Type="http://schemas.openxmlformats.org/officeDocument/2006/relationships/image"/><Relationship Id="rId6" Target="../media/image15.jpeg" Type="http://schemas.openxmlformats.org/officeDocument/2006/relationships/image"/><Relationship Id="rId7" Target="../media/image1.jpe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3.svg" Type="http://schemas.openxmlformats.org/officeDocument/2006/relationships/image"/><Relationship Id="rId12" Target="../media/image14.png" Type="http://schemas.openxmlformats.org/officeDocument/2006/relationships/image"/><Relationship Id="rId13" Target="../media/image18.png" Type="http://schemas.openxmlformats.org/officeDocument/2006/relationships/image"/><Relationship Id="rId14" Target="../media/image23.png" Type="http://schemas.openxmlformats.org/officeDocument/2006/relationships/image"/><Relationship Id="rId2" Target="../notesSlides/notesSlide8.xml" Type="http://schemas.openxmlformats.org/officeDocument/2006/relationships/notesSlide"/><Relationship Id="rId3" Target="../media/image16.png" Type="http://schemas.openxmlformats.org/officeDocument/2006/relationships/image"/><Relationship Id="rId4" Target="../media/image17.svg" Type="http://schemas.openxmlformats.org/officeDocument/2006/relationships/image"/><Relationship Id="rId5" Target="../media/image5.png" Type="http://schemas.openxmlformats.org/officeDocument/2006/relationships/image"/><Relationship Id="rId6" Target="../media/image15.jpeg" Type="http://schemas.openxmlformats.org/officeDocument/2006/relationships/image"/><Relationship Id="rId7" Target="../media/image1.jpe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5.png" Type="http://schemas.openxmlformats.org/officeDocument/2006/relationships/image"/><Relationship Id="rId4" Target="../media/image1.jpe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52B35"/>
        </a:solidFill>
      </p:bgPr>
    </p:bg>
    <p:spTree>
      <p:nvGrpSpPr>
        <p:cNvPr id="1" name=""/>
        <p:cNvGrpSpPr/>
        <p:nvPr/>
      </p:nvGrpSpPr>
      <p:grpSpPr>
        <a:xfrm>
          <a:off x="0" y="0"/>
          <a:ext cx="0" cy="0"/>
          <a:chOff x="0" y="0"/>
          <a:chExt cx="0" cy="0"/>
        </a:xfrm>
      </p:grpSpPr>
      <p:grpSp>
        <p:nvGrpSpPr>
          <p:cNvPr name="Group 2" id="2"/>
          <p:cNvGrpSpPr/>
          <p:nvPr/>
        </p:nvGrpSpPr>
        <p:grpSpPr>
          <a:xfrm rot="5400000">
            <a:off x="13250475" y="-1845697"/>
            <a:ext cx="5567067" cy="4824412"/>
            <a:chOff x="0" y="0"/>
            <a:chExt cx="7422756" cy="6432550"/>
          </a:xfrm>
        </p:grpSpPr>
        <p:sp>
          <p:nvSpPr>
            <p:cNvPr name="Freeform 3" id="3"/>
            <p:cNvSpPr/>
            <p:nvPr/>
          </p:nvSpPr>
          <p:spPr>
            <a:xfrm flipH="false" flipV="false" rot="0">
              <a:off x="0" y="0"/>
              <a:ext cx="7422769" cy="6432550"/>
            </a:xfrm>
            <a:custGeom>
              <a:avLst/>
              <a:gdLst/>
              <a:ahLst/>
              <a:cxnLst/>
              <a:rect r="r" b="b" t="t" l="l"/>
              <a:pathLst>
                <a:path h="6432550" w="7422769">
                  <a:moveTo>
                    <a:pt x="0" y="3216275"/>
                  </a:moveTo>
                  <a:lnTo>
                    <a:pt x="1608074" y="0"/>
                  </a:lnTo>
                  <a:lnTo>
                    <a:pt x="5814568" y="0"/>
                  </a:lnTo>
                  <a:lnTo>
                    <a:pt x="7422769" y="3216275"/>
                  </a:lnTo>
                  <a:lnTo>
                    <a:pt x="5814568" y="6432550"/>
                  </a:lnTo>
                  <a:lnTo>
                    <a:pt x="1608074" y="6432550"/>
                  </a:lnTo>
                  <a:close/>
                </a:path>
              </a:pathLst>
            </a:custGeom>
            <a:blipFill>
              <a:blip r:embed="rId3">
                <a:alphaModFix amt="0"/>
              </a:blip>
              <a:stretch>
                <a:fillRect l="-61187" t="0" r="-61187" b="0"/>
              </a:stretch>
            </a:blipFill>
            <a:ln w="23812" cap="sq">
              <a:solidFill>
                <a:srgbClr val="4FA278"/>
              </a:solidFill>
              <a:prstDash val="solid"/>
              <a:miter/>
            </a:ln>
          </p:spPr>
        </p:sp>
      </p:grpSp>
      <p:grpSp>
        <p:nvGrpSpPr>
          <p:cNvPr name="Group 4" id="4"/>
          <p:cNvGrpSpPr/>
          <p:nvPr/>
        </p:nvGrpSpPr>
        <p:grpSpPr>
          <a:xfrm rot="5400000">
            <a:off x="15774219" y="2525554"/>
            <a:ext cx="5567067" cy="4824412"/>
            <a:chOff x="0" y="0"/>
            <a:chExt cx="7422756" cy="6432550"/>
          </a:xfrm>
        </p:grpSpPr>
        <p:sp>
          <p:nvSpPr>
            <p:cNvPr name="Freeform 5" id="5"/>
            <p:cNvSpPr/>
            <p:nvPr/>
          </p:nvSpPr>
          <p:spPr>
            <a:xfrm flipH="false" flipV="false" rot="0">
              <a:off x="0" y="0"/>
              <a:ext cx="7422769" cy="6432550"/>
            </a:xfrm>
            <a:custGeom>
              <a:avLst/>
              <a:gdLst/>
              <a:ahLst/>
              <a:cxnLst/>
              <a:rect r="r" b="b" t="t" l="l"/>
              <a:pathLst>
                <a:path h="6432550" w="7422769">
                  <a:moveTo>
                    <a:pt x="0" y="3216275"/>
                  </a:moveTo>
                  <a:lnTo>
                    <a:pt x="1608074" y="0"/>
                  </a:lnTo>
                  <a:lnTo>
                    <a:pt x="5814568" y="0"/>
                  </a:lnTo>
                  <a:lnTo>
                    <a:pt x="7422769" y="3216275"/>
                  </a:lnTo>
                  <a:lnTo>
                    <a:pt x="5814568" y="6432550"/>
                  </a:lnTo>
                  <a:lnTo>
                    <a:pt x="1608074" y="6432550"/>
                  </a:lnTo>
                  <a:close/>
                </a:path>
              </a:pathLst>
            </a:custGeom>
            <a:solidFill>
              <a:srgbClr val="026855">
                <a:alpha val="5882"/>
              </a:srgbClr>
            </a:solidFill>
            <a:ln w="23812" cap="sq">
              <a:solidFill>
                <a:srgbClr val="4FA278"/>
              </a:solidFill>
              <a:prstDash val="solid"/>
              <a:miter/>
            </a:ln>
          </p:spPr>
        </p:sp>
      </p:grpSp>
      <p:grpSp>
        <p:nvGrpSpPr>
          <p:cNvPr name="Group 6" id="6"/>
          <p:cNvGrpSpPr/>
          <p:nvPr/>
        </p:nvGrpSpPr>
        <p:grpSpPr>
          <a:xfrm rot="5400000">
            <a:off x="13250475" y="6896805"/>
            <a:ext cx="5567067" cy="4824412"/>
            <a:chOff x="0" y="0"/>
            <a:chExt cx="7422756" cy="6432550"/>
          </a:xfrm>
        </p:grpSpPr>
        <p:sp>
          <p:nvSpPr>
            <p:cNvPr name="Freeform 7" id="7"/>
            <p:cNvSpPr/>
            <p:nvPr/>
          </p:nvSpPr>
          <p:spPr>
            <a:xfrm flipH="false" flipV="false" rot="0">
              <a:off x="0" y="0"/>
              <a:ext cx="7422769" cy="6432550"/>
            </a:xfrm>
            <a:custGeom>
              <a:avLst/>
              <a:gdLst/>
              <a:ahLst/>
              <a:cxnLst/>
              <a:rect r="r" b="b" t="t" l="l"/>
              <a:pathLst>
                <a:path h="6432550" w="7422769">
                  <a:moveTo>
                    <a:pt x="0" y="3216275"/>
                  </a:moveTo>
                  <a:lnTo>
                    <a:pt x="1608074" y="0"/>
                  </a:lnTo>
                  <a:lnTo>
                    <a:pt x="5814568" y="0"/>
                  </a:lnTo>
                  <a:lnTo>
                    <a:pt x="7422769" y="3216275"/>
                  </a:lnTo>
                  <a:lnTo>
                    <a:pt x="5814568" y="6432550"/>
                  </a:lnTo>
                  <a:lnTo>
                    <a:pt x="1608074" y="6432550"/>
                  </a:lnTo>
                  <a:close/>
                </a:path>
              </a:pathLst>
            </a:custGeom>
            <a:blipFill>
              <a:blip r:embed="rId3">
                <a:alphaModFix amt="0"/>
              </a:blip>
              <a:stretch>
                <a:fillRect l="-61187" t="0" r="-61187" b="0"/>
              </a:stretch>
            </a:blipFill>
            <a:ln w="23812" cap="sq">
              <a:solidFill>
                <a:srgbClr val="4FA278"/>
              </a:solidFill>
              <a:prstDash val="solid"/>
              <a:miter/>
            </a:ln>
          </p:spPr>
        </p:sp>
      </p:grpSp>
      <p:grpSp>
        <p:nvGrpSpPr>
          <p:cNvPr name="Group 8" id="8"/>
          <p:cNvGrpSpPr/>
          <p:nvPr/>
        </p:nvGrpSpPr>
        <p:grpSpPr>
          <a:xfrm rot="5400000">
            <a:off x="9920040" y="4766310"/>
            <a:ext cx="871080" cy="754380"/>
            <a:chOff x="0" y="0"/>
            <a:chExt cx="1161440" cy="1005840"/>
          </a:xfrm>
        </p:grpSpPr>
        <p:sp>
          <p:nvSpPr>
            <p:cNvPr name="Freeform 9" id="9"/>
            <p:cNvSpPr/>
            <p:nvPr/>
          </p:nvSpPr>
          <p:spPr>
            <a:xfrm flipH="false" flipV="false" rot="0">
              <a:off x="0" y="0"/>
              <a:ext cx="1161415" cy="1005840"/>
            </a:xfrm>
            <a:custGeom>
              <a:avLst/>
              <a:gdLst/>
              <a:ahLst/>
              <a:cxnLst/>
              <a:rect r="r" b="b" t="t" l="l"/>
              <a:pathLst>
                <a:path h="1005840" w="1161415">
                  <a:moveTo>
                    <a:pt x="0" y="502920"/>
                  </a:moveTo>
                  <a:lnTo>
                    <a:pt x="251460" y="0"/>
                  </a:lnTo>
                  <a:lnTo>
                    <a:pt x="909955" y="0"/>
                  </a:lnTo>
                  <a:lnTo>
                    <a:pt x="1161415" y="502920"/>
                  </a:lnTo>
                  <a:lnTo>
                    <a:pt x="909955" y="1005840"/>
                  </a:lnTo>
                  <a:lnTo>
                    <a:pt x="251460" y="1005840"/>
                  </a:lnTo>
                  <a:close/>
                </a:path>
              </a:pathLst>
            </a:custGeom>
            <a:solidFill>
              <a:srgbClr val="7AC143"/>
            </a:solidFill>
          </p:spPr>
        </p:sp>
      </p:grpSp>
      <p:grpSp>
        <p:nvGrpSpPr>
          <p:cNvPr name="Group 10" id="10"/>
          <p:cNvGrpSpPr/>
          <p:nvPr/>
        </p:nvGrpSpPr>
        <p:grpSpPr>
          <a:xfrm rot="5400000">
            <a:off x="16274377" y="2592324"/>
            <a:ext cx="506816" cy="438912"/>
            <a:chOff x="0" y="0"/>
            <a:chExt cx="675754" cy="585216"/>
          </a:xfrm>
        </p:grpSpPr>
        <p:sp>
          <p:nvSpPr>
            <p:cNvPr name="Freeform 11" id="11"/>
            <p:cNvSpPr/>
            <p:nvPr/>
          </p:nvSpPr>
          <p:spPr>
            <a:xfrm flipH="false" flipV="false" rot="0">
              <a:off x="0" y="0"/>
              <a:ext cx="675767" cy="585216"/>
            </a:xfrm>
            <a:custGeom>
              <a:avLst/>
              <a:gdLst/>
              <a:ahLst/>
              <a:cxnLst/>
              <a:rect r="r" b="b" t="t" l="l"/>
              <a:pathLst>
                <a:path h="585216" w="675767">
                  <a:moveTo>
                    <a:pt x="0" y="292608"/>
                  </a:moveTo>
                  <a:lnTo>
                    <a:pt x="146304" y="0"/>
                  </a:lnTo>
                  <a:lnTo>
                    <a:pt x="529463" y="0"/>
                  </a:lnTo>
                  <a:lnTo>
                    <a:pt x="675767" y="292608"/>
                  </a:lnTo>
                  <a:lnTo>
                    <a:pt x="529463" y="585216"/>
                  </a:lnTo>
                  <a:lnTo>
                    <a:pt x="146304" y="585216"/>
                  </a:lnTo>
                  <a:close/>
                </a:path>
              </a:pathLst>
            </a:custGeom>
            <a:solidFill>
              <a:srgbClr val="7AC143">
                <a:alpha val="48627"/>
              </a:srgbClr>
            </a:solidFill>
          </p:spPr>
        </p:sp>
      </p:grpSp>
      <p:grpSp>
        <p:nvGrpSpPr>
          <p:cNvPr name="Group 12" id="12"/>
          <p:cNvGrpSpPr/>
          <p:nvPr/>
        </p:nvGrpSpPr>
        <p:grpSpPr>
          <a:xfrm rot="5400000">
            <a:off x="10303088" y="2160270"/>
            <a:ext cx="6414335" cy="5554980"/>
            <a:chOff x="0" y="0"/>
            <a:chExt cx="8552447" cy="7406640"/>
          </a:xfrm>
        </p:grpSpPr>
        <p:sp>
          <p:nvSpPr>
            <p:cNvPr name="Freeform 13" id="13"/>
            <p:cNvSpPr/>
            <p:nvPr/>
          </p:nvSpPr>
          <p:spPr>
            <a:xfrm flipH="false" flipV="false" rot="0">
              <a:off x="0" y="0"/>
              <a:ext cx="8552434" cy="7406640"/>
            </a:xfrm>
            <a:custGeom>
              <a:avLst/>
              <a:gdLst/>
              <a:ahLst/>
              <a:cxnLst/>
              <a:rect r="r" b="b" t="t" l="l"/>
              <a:pathLst>
                <a:path h="7406640" w="8552434">
                  <a:moveTo>
                    <a:pt x="0" y="3703320"/>
                  </a:moveTo>
                  <a:lnTo>
                    <a:pt x="1851660" y="0"/>
                  </a:lnTo>
                  <a:lnTo>
                    <a:pt x="6700774" y="0"/>
                  </a:lnTo>
                  <a:lnTo>
                    <a:pt x="8552434" y="3703320"/>
                  </a:lnTo>
                  <a:lnTo>
                    <a:pt x="6700774" y="7406640"/>
                  </a:lnTo>
                  <a:lnTo>
                    <a:pt x="1851660" y="7406640"/>
                  </a:lnTo>
                  <a:close/>
                </a:path>
              </a:pathLst>
            </a:custGeom>
            <a:solidFill>
              <a:srgbClr val="026855">
                <a:alpha val="20000"/>
              </a:srgbClr>
            </a:solidFill>
          </p:spPr>
        </p:sp>
      </p:grpSp>
      <p:grpSp>
        <p:nvGrpSpPr>
          <p:cNvPr name="Group 14" id="14"/>
          <p:cNvGrpSpPr/>
          <p:nvPr/>
        </p:nvGrpSpPr>
        <p:grpSpPr>
          <a:xfrm rot="5400000">
            <a:off x="10119255" y="7186612"/>
            <a:ext cx="1295600" cy="1125855"/>
            <a:chOff x="0" y="0"/>
            <a:chExt cx="1727467" cy="1501140"/>
          </a:xfrm>
        </p:grpSpPr>
        <p:sp>
          <p:nvSpPr>
            <p:cNvPr name="Freeform 15" id="15"/>
            <p:cNvSpPr/>
            <p:nvPr/>
          </p:nvSpPr>
          <p:spPr>
            <a:xfrm flipH="false" flipV="false" rot="0">
              <a:off x="0" y="0"/>
              <a:ext cx="1727454" cy="1501140"/>
            </a:xfrm>
            <a:custGeom>
              <a:avLst/>
              <a:gdLst/>
              <a:ahLst/>
              <a:cxnLst/>
              <a:rect r="r" b="b" t="t" l="l"/>
              <a:pathLst>
                <a:path h="1501140" w="1727454">
                  <a:moveTo>
                    <a:pt x="0" y="750570"/>
                  </a:moveTo>
                  <a:lnTo>
                    <a:pt x="375285" y="0"/>
                  </a:lnTo>
                  <a:lnTo>
                    <a:pt x="1352169" y="0"/>
                  </a:lnTo>
                  <a:lnTo>
                    <a:pt x="1727454" y="750570"/>
                  </a:lnTo>
                  <a:lnTo>
                    <a:pt x="1352169" y="1501140"/>
                  </a:lnTo>
                  <a:lnTo>
                    <a:pt x="375285" y="1501140"/>
                  </a:lnTo>
                  <a:close/>
                </a:path>
              </a:pathLst>
            </a:custGeom>
            <a:blipFill>
              <a:blip r:embed="rId3">
                <a:alphaModFix amt="0"/>
              </a:blip>
              <a:stretch>
                <a:fillRect l="-61494" t="0" r="-61494" b="0"/>
              </a:stretch>
            </a:blipFill>
            <a:ln w="28575" cap="sq">
              <a:solidFill>
                <a:srgbClr val="7AC143"/>
              </a:solidFill>
              <a:prstDash val="solid"/>
              <a:miter/>
            </a:ln>
          </p:spPr>
        </p:sp>
      </p:grpSp>
      <p:grpSp>
        <p:nvGrpSpPr>
          <p:cNvPr name="Group 16" id="16"/>
          <p:cNvGrpSpPr/>
          <p:nvPr/>
        </p:nvGrpSpPr>
        <p:grpSpPr>
          <a:xfrm rot="5400000">
            <a:off x="10710062" y="2508885"/>
            <a:ext cx="5600405" cy="4857750"/>
            <a:chOff x="0" y="0"/>
            <a:chExt cx="7467206" cy="6477000"/>
          </a:xfrm>
        </p:grpSpPr>
        <p:sp>
          <p:nvSpPr>
            <p:cNvPr name="Freeform 17" id="17"/>
            <p:cNvSpPr/>
            <p:nvPr/>
          </p:nvSpPr>
          <p:spPr>
            <a:xfrm flipH="false" flipV="false" rot="0">
              <a:off x="0" y="0"/>
              <a:ext cx="7467219" cy="6477000"/>
            </a:xfrm>
            <a:custGeom>
              <a:avLst/>
              <a:gdLst/>
              <a:ahLst/>
              <a:cxnLst/>
              <a:rect r="r" b="b" t="t" l="l"/>
              <a:pathLst>
                <a:path h="6477000" w="7467219">
                  <a:moveTo>
                    <a:pt x="0" y="3238500"/>
                  </a:moveTo>
                  <a:lnTo>
                    <a:pt x="1619250" y="0"/>
                  </a:lnTo>
                  <a:lnTo>
                    <a:pt x="5847969" y="0"/>
                  </a:lnTo>
                  <a:lnTo>
                    <a:pt x="7467219" y="3238500"/>
                  </a:lnTo>
                  <a:lnTo>
                    <a:pt x="5847969" y="6477000"/>
                  </a:lnTo>
                  <a:lnTo>
                    <a:pt x="1619250" y="6477000"/>
                  </a:lnTo>
                  <a:close/>
                </a:path>
              </a:pathLst>
            </a:custGeom>
            <a:solidFill>
              <a:srgbClr val="FFFFFF"/>
            </a:solidFill>
            <a:ln w="57150" cap="sq">
              <a:solidFill>
                <a:srgbClr val="7AC143"/>
              </a:solidFill>
              <a:prstDash val="solid"/>
              <a:miter/>
            </a:ln>
          </p:spPr>
        </p:sp>
      </p:grpSp>
      <p:grpSp>
        <p:nvGrpSpPr>
          <p:cNvPr name="Group 18" id="18"/>
          <p:cNvGrpSpPr/>
          <p:nvPr/>
        </p:nvGrpSpPr>
        <p:grpSpPr>
          <a:xfrm rot="0">
            <a:off x="12166149" y="3188970"/>
            <a:ext cx="2688222" cy="3497580"/>
            <a:chOff x="0" y="0"/>
            <a:chExt cx="3584296" cy="4663440"/>
          </a:xfrm>
        </p:grpSpPr>
        <p:sp>
          <p:nvSpPr>
            <p:cNvPr name="Freeform 19" id="19" descr="Genesis logo"/>
            <p:cNvSpPr/>
            <p:nvPr/>
          </p:nvSpPr>
          <p:spPr>
            <a:xfrm flipH="false" flipV="false" rot="0">
              <a:off x="0" y="0"/>
              <a:ext cx="3584321" cy="4663440"/>
            </a:xfrm>
            <a:custGeom>
              <a:avLst/>
              <a:gdLst/>
              <a:ahLst/>
              <a:cxnLst/>
              <a:rect r="r" b="b" t="t" l="l"/>
              <a:pathLst>
                <a:path h="4663440" w="3584321">
                  <a:moveTo>
                    <a:pt x="0" y="0"/>
                  </a:moveTo>
                  <a:lnTo>
                    <a:pt x="3584321" y="0"/>
                  </a:lnTo>
                  <a:lnTo>
                    <a:pt x="3584321" y="4663440"/>
                  </a:lnTo>
                  <a:lnTo>
                    <a:pt x="0" y="4663440"/>
                  </a:lnTo>
                  <a:lnTo>
                    <a:pt x="0" y="0"/>
                  </a:lnTo>
                  <a:close/>
                </a:path>
              </a:pathLst>
            </a:custGeom>
            <a:blipFill>
              <a:blip r:embed="rId4"/>
              <a:stretch>
                <a:fillRect l="0" t="0" r="0" b="0"/>
              </a:stretch>
            </a:blipFill>
          </p:spPr>
        </p:sp>
      </p:grpSp>
      <p:sp>
        <p:nvSpPr>
          <p:cNvPr name="TextBox 20" id="20"/>
          <p:cNvSpPr txBox="true"/>
          <p:nvPr/>
        </p:nvSpPr>
        <p:spPr>
          <a:xfrm rot="0">
            <a:off x="822960" y="1038225"/>
            <a:ext cx="8503920" cy="2324100"/>
          </a:xfrm>
          <a:prstGeom prst="rect">
            <a:avLst/>
          </a:prstGeom>
        </p:spPr>
        <p:txBody>
          <a:bodyPr anchor="t" rtlCol="false" tIns="0" lIns="0" bIns="0" rIns="0">
            <a:spAutoFit/>
          </a:bodyPr>
          <a:lstStyle/>
          <a:p>
            <a:pPr algn="l">
              <a:lnSpc>
                <a:spcPts val="8748"/>
              </a:lnSpc>
            </a:pPr>
            <a:r>
              <a:rPr lang="en-US" b="true" sz="8100" spc="299">
                <a:solidFill>
                  <a:srgbClr val="FFFFFF"/>
                </a:solidFill>
                <a:latin typeface="Cambria Bold"/>
                <a:ea typeface="Cambria Bold"/>
                <a:cs typeface="Cambria Bold"/>
                <a:sym typeface="Cambria Bold"/>
              </a:rPr>
              <a:t>GENESIS</a:t>
            </a:r>
          </a:p>
          <a:p>
            <a:pPr algn="l">
              <a:lnSpc>
                <a:spcPts val="8748"/>
              </a:lnSpc>
            </a:pPr>
            <a:r>
              <a:rPr lang="en-US" b="true" sz="8100" spc="299">
                <a:solidFill>
                  <a:srgbClr val="7AC143"/>
                </a:solidFill>
                <a:latin typeface="Cambria Bold"/>
                <a:ea typeface="Cambria Bold"/>
                <a:cs typeface="Cambria Bold"/>
                <a:sym typeface="Cambria Bold"/>
              </a:rPr>
              <a:t>IDEATHON</a:t>
            </a:r>
          </a:p>
        </p:txBody>
      </p:sp>
      <p:grpSp>
        <p:nvGrpSpPr>
          <p:cNvPr name="Group 21" id="21"/>
          <p:cNvGrpSpPr/>
          <p:nvPr/>
        </p:nvGrpSpPr>
        <p:grpSpPr>
          <a:xfrm rot="0">
            <a:off x="811054" y="3556159"/>
            <a:ext cx="3178492" cy="599884"/>
            <a:chOff x="0" y="0"/>
            <a:chExt cx="4237990" cy="799846"/>
          </a:xfrm>
        </p:grpSpPr>
        <p:sp>
          <p:nvSpPr>
            <p:cNvPr name="Freeform 22" id="22"/>
            <p:cNvSpPr/>
            <p:nvPr/>
          </p:nvSpPr>
          <p:spPr>
            <a:xfrm flipH="false" flipV="false" rot="0">
              <a:off x="0" y="0"/>
              <a:ext cx="4237990" cy="799846"/>
            </a:xfrm>
            <a:custGeom>
              <a:avLst/>
              <a:gdLst/>
              <a:ahLst/>
              <a:cxnLst/>
              <a:rect r="r" b="b" t="t" l="l"/>
              <a:pathLst>
                <a:path h="799846" w="4237990">
                  <a:moveTo>
                    <a:pt x="0" y="399923"/>
                  </a:moveTo>
                  <a:cubicBezTo>
                    <a:pt x="0" y="179070"/>
                    <a:pt x="179070" y="0"/>
                    <a:pt x="399923" y="0"/>
                  </a:cubicBezTo>
                  <a:lnTo>
                    <a:pt x="3838067" y="0"/>
                  </a:lnTo>
                  <a:cubicBezTo>
                    <a:pt x="4058920" y="0"/>
                    <a:pt x="4237990" y="179070"/>
                    <a:pt x="4237990" y="399923"/>
                  </a:cubicBezTo>
                  <a:cubicBezTo>
                    <a:pt x="4237990" y="620776"/>
                    <a:pt x="4058920" y="799846"/>
                    <a:pt x="3838067" y="799846"/>
                  </a:cubicBezTo>
                  <a:lnTo>
                    <a:pt x="399923" y="799846"/>
                  </a:lnTo>
                  <a:cubicBezTo>
                    <a:pt x="179070" y="799846"/>
                    <a:pt x="0" y="620776"/>
                    <a:pt x="0" y="399923"/>
                  </a:cubicBezTo>
                  <a:close/>
                </a:path>
              </a:pathLst>
            </a:custGeom>
            <a:blipFill>
              <a:blip r:embed="rId3">
                <a:alphaModFix amt="0"/>
              </a:blip>
              <a:stretch>
                <a:fillRect l="0" t="-53241" r="0" b="-53241"/>
              </a:stretch>
            </a:blipFill>
            <a:ln w="23812" cap="sq">
              <a:solidFill>
                <a:srgbClr val="7AC143"/>
              </a:solidFill>
              <a:prstDash val="solid"/>
              <a:miter/>
            </a:ln>
          </p:spPr>
        </p:sp>
        <p:sp>
          <p:nvSpPr>
            <p:cNvPr name="TextBox 23" id="23"/>
            <p:cNvSpPr txBox="true"/>
            <p:nvPr/>
          </p:nvSpPr>
          <p:spPr>
            <a:xfrm>
              <a:off x="0" y="-47625"/>
              <a:ext cx="4237990" cy="847471"/>
            </a:xfrm>
            <a:prstGeom prst="rect">
              <a:avLst/>
            </a:prstGeom>
          </p:spPr>
          <p:txBody>
            <a:bodyPr anchor="ctr" rtlCol="false" tIns="50800" lIns="50800" bIns="50800" rIns="50800"/>
            <a:lstStyle/>
            <a:p>
              <a:pPr algn="ctr">
                <a:lnSpc>
                  <a:spcPts val="2340"/>
                </a:lnSpc>
              </a:pPr>
              <a:r>
                <a:rPr lang="en-US" b="true" sz="1950" spc="449">
                  <a:solidFill>
                    <a:srgbClr val="FFFFFF"/>
                  </a:solidFill>
                  <a:latin typeface="Calibri (MS) Bold"/>
                  <a:ea typeface="Calibri (MS) Bold"/>
                  <a:cs typeface="Calibri (MS) Bold"/>
                  <a:sym typeface="Calibri (MS) Bold"/>
                </a:rPr>
                <a:t>TEAM &amp; DOMAIN</a:t>
              </a:r>
            </a:p>
          </p:txBody>
        </p:sp>
      </p:grpSp>
      <p:sp>
        <p:nvSpPr>
          <p:cNvPr name="TextBox 24" id="24"/>
          <p:cNvSpPr txBox="true"/>
          <p:nvPr/>
        </p:nvSpPr>
        <p:spPr>
          <a:xfrm rot="0">
            <a:off x="435721" y="4539615"/>
            <a:ext cx="9052560" cy="4562475"/>
          </a:xfrm>
          <a:prstGeom prst="rect">
            <a:avLst/>
          </a:prstGeom>
        </p:spPr>
        <p:txBody>
          <a:bodyPr anchor="t" rtlCol="false" tIns="0" lIns="0" bIns="0" rIns="0">
            <a:spAutoFit/>
          </a:bodyPr>
          <a:lstStyle/>
          <a:p>
            <a:pPr algn="l" marL="488632" indent="-244316" lvl="1">
              <a:lnSpc>
                <a:spcPts val="3240"/>
              </a:lnSpc>
              <a:buFont typeface="Arial"/>
              <a:buChar char="•"/>
            </a:pPr>
            <a:r>
              <a:rPr lang="en-US" b="true" sz="2700">
                <a:solidFill>
                  <a:srgbClr val="FFFFFF"/>
                </a:solidFill>
                <a:latin typeface="Calibri (MS) Bold"/>
                <a:ea typeface="Calibri (MS) Bold"/>
                <a:cs typeface="Calibri (MS) Bold"/>
                <a:sym typeface="Calibri (MS) Bold"/>
              </a:rPr>
              <a:t>Team Name</a:t>
            </a:r>
            <a:r>
              <a:rPr lang="en-US" sz="2700">
                <a:solidFill>
                  <a:srgbClr val="FFFFFF"/>
                </a:solidFill>
                <a:latin typeface="Calibri (MS)"/>
                <a:ea typeface="Calibri (MS)"/>
                <a:cs typeface="Calibri (MS)"/>
                <a:sym typeface="Calibri (MS)"/>
              </a:rPr>
              <a:t> – SIX-SEVEN</a:t>
            </a:r>
          </a:p>
          <a:p>
            <a:pPr algn="l">
              <a:lnSpc>
                <a:spcPts val="3240"/>
              </a:lnSpc>
            </a:pPr>
          </a:p>
          <a:p>
            <a:pPr algn="l" marL="488632" indent="-244316" lvl="1">
              <a:lnSpc>
                <a:spcPts val="3240"/>
              </a:lnSpc>
              <a:buFont typeface="Arial"/>
              <a:buChar char="•"/>
            </a:pPr>
            <a:r>
              <a:rPr lang="en-US" b="true" sz="2700">
                <a:solidFill>
                  <a:srgbClr val="FFFFFF"/>
                </a:solidFill>
                <a:latin typeface="Calibri (MS) Bold"/>
                <a:ea typeface="Calibri (MS) Bold"/>
                <a:cs typeface="Calibri (MS) Bold"/>
                <a:sym typeface="Calibri (MS) Bold"/>
              </a:rPr>
              <a:t>Team Members</a:t>
            </a:r>
            <a:r>
              <a:rPr lang="en-US" sz="2700">
                <a:solidFill>
                  <a:srgbClr val="FFFFFF"/>
                </a:solidFill>
                <a:latin typeface="Calibri (MS)"/>
                <a:ea typeface="Calibri (MS)"/>
                <a:cs typeface="Calibri (MS)"/>
                <a:sym typeface="Calibri (MS)"/>
              </a:rPr>
              <a:t> – SRI SAILASWARAN A (CB.EN.U4EEE25044), SURYA V ( CB.EN.U4EEE25049 ), OMESHVARDHAN T P              ( CB.EN.U4EEE25030 ), SURENDRAN M (CB.EN.U4EEE25047) </a:t>
            </a:r>
          </a:p>
          <a:p>
            <a:pPr algn="l">
              <a:lnSpc>
                <a:spcPts val="3240"/>
              </a:lnSpc>
            </a:pPr>
          </a:p>
          <a:p>
            <a:pPr algn="l" marL="488632" indent="-244316" lvl="1">
              <a:lnSpc>
                <a:spcPts val="3240"/>
              </a:lnSpc>
              <a:buFont typeface="Arial"/>
              <a:buChar char="•"/>
            </a:pPr>
            <a:r>
              <a:rPr lang="en-US" b="true" sz="2700">
                <a:solidFill>
                  <a:srgbClr val="FFFFFF"/>
                </a:solidFill>
                <a:latin typeface="Calibri (MS) Bold"/>
                <a:ea typeface="Calibri (MS) Bold"/>
                <a:cs typeface="Calibri (MS) Bold"/>
                <a:sym typeface="Calibri (MS) Bold"/>
              </a:rPr>
              <a:t>Selected Domain</a:t>
            </a:r>
            <a:r>
              <a:rPr lang="en-US" sz="2700">
                <a:solidFill>
                  <a:srgbClr val="FFFFFF"/>
                </a:solidFill>
                <a:latin typeface="Calibri (MS)"/>
                <a:ea typeface="Calibri (MS)"/>
                <a:cs typeface="Calibri (MS)"/>
                <a:sym typeface="Calibri (MS)"/>
              </a:rPr>
              <a:t> – #3</a:t>
            </a:r>
          </a:p>
          <a:p>
            <a:pPr algn="l">
              <a:lnSpc>
                <a:spcPts val="3240"/>
              </a:lnSpc>
            </a:pPr>
          </a:p>
          <a:p>
            <a:pPr algn="l" marL="488632" indent="-244316" lvl="1">
              <a:lnSpc>
                <a:spcPts val="3240"/>
              </a:lnSpc>
              <a:buFont typeface="Arial"/>
              <a:buChar char="•"/>
            </a:pPr>
            <a:r>
              <a:rPr lang="en-US" b="true" sz="2700">
                <a:solidFill>
                  <a:srgbClr val="FFFFFF"/>
                </a:solidFill>
                <a:latin typeface="Calibri (MS) Bold"/>
                <a:ea typeface="Calibri (MS) Bold"/>
                <a:cs typeface="Calibri (MS) Bold"/>
                <a:sym typeface="Calibri (MS) Bold"/>
              </a:rPr>
              <a:t>Problem Statement</a:t>
            </a:r>
            <a:r>
              <a:rPr lang="en-US" sz="2700">
                <a:solidFill>
                  <a:srgbClr val="FFFFFF"/>
                </a:solidFill>
                <a:latin typeface="Calibri (MS)"/>
                <a:ea typeface="Calibri (MS)"/>
                <a:cs typeface="Calibri (MS)"/>
                <a:sym typeface="Calibri (MS)"/>
              </a:rPr>
              <a:t> – Detecting the early stage faults like voltage leaks, insulation breakdown before they cause a major equipment failure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grpSp>
        <p:nvGrpSpPr>
          <p:cNvPr name="Group 2" id="2"/>
          <p:cNvGrpSpPr/>
          <p:nvPr/>
        </p:nvGrpSpPr>
        <p:grpSpPr>
          <a:xfrm rot="0">
            <a:off x="16360159" y="472916"/>
            <a:ext cx="1248727" cy="1248727"/>
            <a:chOff x="0" y="0"/>
            <a:chExt cx="1664970" cy="1664970"/>
          </a:xfrm>
        </p:grpSpPr>
        <p:sp>
          <p:nvSpPr>
            <p:cNvPr name="Freeform 3" id="3"/>
            <p:cNvSpPr/>
            <p:nvPr/>
          </p:nvSpPr>
          <p:spPr>
            <a:xfrm flipH="false" flipV="false" rot="0">
              <a:off x="0" y="0"/>
              <a:ext cx="1664970" cy="1664970"/>
            </a:xfrm>
            <a:custGeom>
              <a:avLst/>
              <a:gdLst/>
              <a:ahLst/>
              <a:cxnLst/>
              <a:rect r="r" b="b" t="t" l="l"/>
              <a:pathLst>
                <a:path h="1664970" w="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4" id="4"/>
          <p:cNvGrpSpPr/>
          <p:nvPr/>
        </p:nvGrpSpPr>
        <p:grpSpPr>
          <a:xfrm rot="0">
            <a:off x="16583920" y="576072"/>
            <a:ext cx="801195" cy="1042416"/>
            <a:chOff x="0" y="0"/>
            <a:chExt cx="1068260" cy="1389888"/>
          </a:xfrm>
        </p:grpSpPr>
        <p:sp>
          <p:nvSpPr>
            <p:cNvPr name="Freeform 5" id="5" descr="Genesis logo"/>
            <p:cNvSpPr/>
            <p:nvPr/>
          </p:nvSpPr>
          <p:spPr>
            <a:xfrm flipH="false" flipV="false" rot="0">
              <a:off x="0" y="0"/>
              <a:ext cx="1068324" cy="1389888"/>
            </a:xfrm>
            <a:custGeom>
              <a:avLst/>
              <a:gdLst/>
              <a:ahLst/>
              <a:cxnLst/>
              <a:rect r="r" b="b" t="t" l="l"/>
              <a:pathLst>
                <a:path h="1389888" w="1068324">
                  <a:moveTo>
                    <a:pt x="0" y="0"/>
                  </a:moveTo>
                  <a:lnTo>
                    <a:pt x="1068324" y="0"/>
                  </a:lnTo>
                  <a:lnTo>
                    <a:pt x="1068324" y="1389888"/>
                  </a:lnTo>
                  <a:lnTo>
                    <a:pt x="0" y="1389888"/>
                  </a:lnTo>
                  <a:lnTo>
                    <a:pt x="0" y="0"/>
                  </a:lnTo>
                  <a:close/>
                </a:path>
              </a:pathLst>
            </a:custGeom>
            <a:blipFill>
              <a:blip r:embed="rId3"/>
              <a:stretch>
                <a:fillRect l="0" t="0" r="5" b="0"/>
              </a:stretch>
            </a:blipFill>
          </p:spPr>
        </p:sp>
      </p:grpSp>
      <p:grpSp>
        <p:nvGrpSpPr>
          <p:cNvPr name="Group 6" id="6"/>
          <p:cNvGrpSpPr/>
          <p:nvPr/>
        </p:nvGrpSpPr>
        <p:grpSpPr>
          <a:xfrm rot="5400000">
            <a:off x="15903559" y="7017544"/>
            <a:ext cx="2161927" cy="1875473"/>
            <a:chOff x="0" y="0"/>
            <a:chExt cx="2882570" cy="2500630"/>
          </a:xfrm>
        </p:grpSpPr>
        <p:sp>
          <p:nvSpPr>
            <p:cNvPr name="Freeform 7" id="7"/>
            <p:cNvSpPr/>
            <p:nvPr/>
          </p:nvSpPr>
          <p:spPr>
            <a:xfrm flipH="false" flipV="false" rot="0">
              <a:off x="0" y="0"/>
              <a:ext cx="2882519" cy="2500630"/>
            </a:xfrm>
            <a:custGeom>
              <a:avLst/>
              <a:gdLst/>
              <a:ahLst/>
              <a:cxnLst/>
              <a:rect r="r" b="b" t="t" l="l"/>
              <a:pathLst>
                <a:path h="2500630" w="2882519">
                  <a:moveTo>
                    <a:pt x="0" y="1250315"/>
                  </a:moveTo>
                  <a:lnTo>
                    <a:pt x="625094" y="0"/>
                  </a:lnTo>
                  <a:lnTo>
                    <a:pt x="2257425" y="0"/>
                  </a:lnTo>
                  <a:lnTo>
                    <a:pt x="2882519" y="1250315"/>
                  </a:lnTo>
                  <a:lnTo>
                    <a:pt x="2257425" y="2500630"/>
                  </a:lnTo>
                  <a:lnTo>
                    <a:pt x="625094" y="2500630"/>
                  </a:lnTo>
                  <a:close/>
                </a:path>
              </a:pathLst>
            </a:custGeom>
            <a:blipFill>
              <a:blip r:embed="rId4">
                <a:alphaModFix amt="0"/>
              </a:blip>
              <a:stretch>
                <a:fillRect l="-61304" t="0" r="-61306" b="0"/>
              </a:stretch>
            </a:blipFill>
            <a:ln w="23812" cap="sq">
              <a:solidFill>
                <a:srgbClr val="4FA278"/>
              </a:solidFill>
              <a:prstDash val="solid"/>
              <a:miter/>
            </a:ln>
          </p:spPr>
        </p:sp>
      </p:grpSp>
      <p:grpSp>
        <p:nvGrpSpPr>
          <p:cNvPr name="Group 8" id="8"/>
          <p:cNvGrpSpPr/>
          <p:nvPr/>
        </p:nvGrpSpPr>
        <p:grpSpPr>
          <a:xfrm rot="5400000">
            <a:off x="14613988" y="8011954"/>
            <a:ext cx="1449219" cy="1258252"/>
            <a:chOff x="0" y="0"/>
            <a:chExt cx="1932292" cy="1677670"/>
          </a:xfrm>
        </p:grpSpPr>
        <p:sp>
          <p:nvSpPr>
            <p:cNvPr name="Freeform 9" id="9"/>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0" id="10"/>
          <p:cNvGrpSpPr/>
          <p:nvPr/>
        </p:nvGrpSpPr>
        <p:grpSpPr>
          <a:xfrm rot="5400000">
            <a:off x="17357188" y="5748814"/>
            <a:ext cx="1449219" cy="1258252"/>
            <a:chOff x="0" y="0"/>
            <a:chExt cx="1932292" cy="1677670"/>
          </a:xfrm>
        </p:grpSpPr>
        <p:sp>
          <p:nvSpPr>
            <p:cNvPr name="Freeform 11" id="11"/>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2" id="12"/>
          <p:cNvGrpSpPr/>
          <p:nvPr/>
        </p:nvGrpSpPr>
        <p:grpSpPr>
          <a:xfrm rot="0">
            <a:off x="4602004" y="-221300"/>
            <a:ext cx="11247120" cy="2637160"/>
            <a:chOff x="0" y="0"/>
            <a:chExt cx="14996160" cy="3516213"/>
          </a:xfrm>
        </p:grpSpPr>
        <p:sp>
          <p:nvSpPr>
            <p:cNvPr name="Freeform 13" id="13"/>
            <p:cNvSpPr/>
            <p:nvPr/>
          </p:nvSpPr>
          <p:spPr>
            <a:xfrm flipH="false" flipV="false" rot="0">
              <a:off x="0" y="0"/>
              <a:ext cx="14996161" cy="3516213"/>
            </a:xfrm>
            <a:custGeom>
              <a:avLst/>
              <a:gdLst/>
              <a:ahLst/>
              <a:cxnLst/>
              <a:rect r="r" b="b" t="t" l="l"/>
              <a:pathLst>
                <a:path h="3516213" w="14996161">
                  <a:moveTo>
                    <a:pt x="0" y="0"/>
                  </a:moveTo>
                  <a:lnTo>
                    <a:pt x="14996161" y="0"/>
                  </a:lnTo>
                  <a:lnTo>
                    <a:pt x="14996161" y="3516213"/>
                  </a:lnTo>
                  <a:lnTo>
                    <a:pt x="0" y="3516213"/>
                  </a:lnTo>
                  <a:close/>
                </a:path>
              </a:pathLst>
            </a:custGeom>
            <a:blipFill>
              <a:blip r:embed="rId4">
                <a:alphaModFix amt="0"/>
              </a:blip>
              <a:stretch>
                <a:fillRect l="0" t="-59696" r="0" b="-6505"/>
              </a:stretch>
            </a:blipFill>
          </p:spPr>
        </p:sp>
        <p:sp>
          <p:nvSpPr>
            <p:cNvPr name="TextBox 14" id="14"/>
            <p:cNvSpPr txBox="true"/>
            <p:nvPr/>
          </p:nvSpPr>
          <p:spPr>
            <a:xfrm>
              <a:off x="0" y="-19050"/>
              <a:ext cx="14996160" cy="3535263"/>
            </a:xfrm>
            <a:prstGeom prst="rect">
              <a:avLst/>
            </a:prstGeom>
          </p:spPr>
          <p:txBody>
            <a:bodyPr anchor="ctr" rtlCol="false" tIns="0" lIns="0" bIns="0" rIns="0"/>
            <a:lstStyle/>
            <a:p>
              <a:pPr algn="ctr">
                <a:lnSpc>
                  <a:spcPts val="4320"/>
                </a:lnSpc>
              </a:pPr>
              <a:r>
                <a:rPr lang="en-US" b="true" sz="3600" spc="150">
                  <a:solidFill>
                    <a:srgbClr val="052B35"/>
                  </a:solidFill>
                  <a:latin typeface="Cambria Bold"/>
                  <a:ea typeface="Cambria Bold"/>
                  <a:cs typeface="Cambria Bold"/>
                  <a:sym typeface="Cambria Bold"/>
                </a:rPr>
                <a:t>DOMAIN PROBLEM </a:t>
              </a:r>
            </a:p>
          </p:txBody>
        </p:sp>
      </p:grpSp>
      <p:grpSp>
        <p:nvGrpSpPr>
          <p:cNvPr name="Group 15" id="15"/>
          <p:cNvGrpSpPr/>
          <p:nvPr/>
        </p:nvGrpSpPr>
        <p:grpSpPr>
          <a:xfrm rot="0">
            <a:off x="678656" y="472916"/>
            <a:ext cx="3923347" cy="1248727"/>
            <a:chOff x="0" y="0"/>
            <a:chExt cx="5231130" cy="1664970"/>
          </a:xfrm>
        </p:grpSpPr>
        <p:sp>
          <p:nvSpPr>
            <p:cNvPr name="Freeform 16" id="16"/>
            <p:cNvSpPr/>
            <p:nvPr/>
          </p:nvSpPr>
          <p:spPr>
            <a:xfrm flipH="false" flipV="false" rot="0">
              <a:off x="0" y="0"/>
              <a:ext cx="5231130" cy="1664970"/>
            </a:xfrm>
            <a:custGeom>
              <a:avLst/>
              <a:gdLst/>
              <a:ahLst/>
              <a:cxnLst/>
              <a:rect r="r" b="b" t="t" l="l"/>
              <a:pathLst>
                <a:path h="1664970" w="523113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17" id="17"/>
          <p:cNvGrpSpPr/>
          <p:nvPr/>
        </p:nvGrpSpPr>
        <p:grpSpPr>
          <a:xfrm rot="0">
            <a:off x="898112" y="678656"/>
            <a:ext cx="960692" cy="837248"/>
            <a:chOff x="0" y="0"/>
            <a:chExt cx="1280922" cy="1116330"/>
          </a:xfrm>
        </p:grpSpPr>
        <p:sp>
          <p:nvSpPr>
            <p:cNvPr name="Freeform 18" id="18"/>
            <p:cNvSpPr/>
            <p:nvPr/>
          </p:nvSpPr>
          <p:spPr>
            <a:xfrm flipH="false" flipV="false" rot="0">
              <a:off x="0" y="0"/>
              <a:ext cx="1280922" cy="1116330"/>
            </a:xfrm>
            <a:custGeom>
              <a:avLst/>
              <a:gdLst/>
              <a:ahLst/>
              <a:cxnLst/>
              <a:rect r="r" b="b" t="t" l="l"/>
              <a:pathLst>
                <a:path h="1116330" w="1280922">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name="Group 19" id="19"/>
          <p:cNvGrpSpPr/>
          <p:nvPr/>
        </p:nvGrpSpPr>
        <p:grpSpPr>
          <a:xfrm rot="0">
            <a:off x="1104138" y="822960"/>
            <a:ext cx="548640" cy="548640"/>
            <a:chOff x="0" y="0"/>
            <a:chExt cx="731520" cy="731520"/>
          </a:xfrm>
        </p:grpSpPr>
        <p:sp>
          <p:nvSpPr>
            <p:cNvPr name="Freeform 20" id="20" descr="Team icon"/>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5"/>
              <a:stretch>
                <a:fillRect l="0" t="0" r="0" b="0"/>
              </a:stretch>
            </a:blipFill>
          </p:spPr>
        </p:sp>
      </p:grpSp>
      <p:grpSp>
        <p:nvGrpSpPr>
          <p:cNvPr name="Group 21" id="21"/>
          <p:cNvGrpSpPr/>
          <p:nvPr/>
        </p:nvGrpSpPr>
        <p:grpSpPr>
          <a:xfrm rot="0">
            <a:off x="2057400" y="576072"/>
            <a:ext cx="2441448" cy="1042416"/>
            <a:chOff x="0" y="0"/>
            <a:chExt cx="3255264" cy="1389888"/>
          </a:xfrm>
        </p:grpSpPr>
        <p:sp>
          <p:nvSpPr>
            <p:cNvPr name="Freeform 22" id="22"/>
            <p:cNvSpPr/>
            <p:nvPr/>
          </p:nvSpPr>
          <p:spPr>
            <a:xfrm flipH="false" flipV="false" rot="0">
              <a:off x="0" y="0"/>
              <a:ext cx="3255264" cy="1389888"/>
            </a:xfrm>
            <a:custGeom>
              <a:avLst/>
              <a:gdLst/>
              <a:ahLst/>
              <a:cxnLst/>
              <a:rect r="r" b="b" t="t" l="l"/>
              <a:pathLst>
                <a:path h="1389888" w="3255264">
                  <a:moveTo>
                    <a:pt x="0" y="0"/>
                  </a:moveTo>
                  <a:lnTo>
                    <a:pt x="3255264" y="0"/>
                  </a:lnTo>
                  <a:lnTo>
                    <a:pt x="3255264" y="1389888"/>
                  </a:lnTo>
                  <a:lnTo>
                    <a:pt x="0" y="1389888"/>
                  </a:lnTo>
                  <a:close/>
                </a:path>
              </a:pathLst>
            </a:custGeom>
            <a:blipFill>
              <a:blip r:embed="rId4">
                <a:alphaModFix amt="0"/>
              </a:blip>
              <a:stretch>
                <a:fillRect l="-4781" t="0" r="-4781" b="0"/>
              </a:stretch>
            </a:blipFill>
          </p:spPr>
        </p:sp>
        <p:sp>
          <p:nvSpPr>
            <p:cNvPr name="TextBox 23" id="23"/>
            <p:cNvSpPr txBox="true"/>
            <p:nvPr/>
          </p:nvSpPr>
          <p:spPr>
            <a:xfrm>
              <a:off x="0" y="-28575"/>
              <a:ext cx="3255264" cy="1418463"/>
            </a:xfrm>
            <a:prstGeom prst="rect">
              <a:avLst/>
            </a:prstGeom>
          </p:spPr>
          <p:txBody>
            <a:bodyPr anchor="ctr" rtlCol="false" tIns="0" lIns="0" bIns="0" rIns="0"/>
            <a:lstStyle/>
            <a:p>
              <a:pPr algn="l">
                <a:lnSpc>
                  <a:spcPts val="1620"/>
                </a:lnSpc>
              </a:pPr>
              <a:r>
                <a:rPr lang="en-US" b="true" sz="1350" spc="449">
                  <a:solidFill>
                    <a:srgbClr val="5B6F6B"/>
                  </a:solidFill>
                  <a:latin typeface="Calibri (MS) Bold"/>
                  <a:ea typeface="Calibri (MS) Bold"/>
                  <a:cs typeface="Calibri (MS) Bold"/>
                  <a:sym typeface="Calibri (MS) Bold"/>
                </a:rPr>
                <a:t>TEAM</a:t>
              </a:r>
            </a:p>
            <a:p>
              <a:pPr algn="l">
                <a:lnSpc>
                  <a:spcPts val="2700"/>
                </a:lnSpc>
              </a:pPr>
              <a:r>
                <a:rPr lang="en-US" b="true" sz="2250" spc="749">
                  <a:solidFill>
                    <a:srgbClr val="026855"/>
                  </a:solidFill>
                  <a:latin typeface="Calibri (MS) Bold"/>
                  <a:ea typeface="Calibri (MS) Bold"/>
                  <a:cs typeface="Calibri (MS) Bold"/>
                  <a:sym typeface="Calibri (MS) Bold"/>
                </a:rPr>
                <a:t>SIX-SEVEN</a:t>
              </a:r>
            </a:p>
          </p:txBody>
        </p:sp>
      </p:grpSp>
      <p:grpSp>
        <p:nvGrpSpPr>
          <p:cNvPr name="Group 24" id="24"/>
          <p:cNvGrpSpPr/>
          <p:nvPr/>
        </p:nvGrpSpPr>
        <p:grpSpPr>
          <a:xfrm rot="0">
            <a:off x="822960" y="2194560"/>
            <a:ext cx="685800" cy="593903"/>
            <a:chOff x="0" y="0"/>
            <a:chExt cx="914400" cy="791870"/>
          </a:xfrm>
        </p:grpSpPr>
        <p:sp>
          <p:nvSpPr>
            <p:cNvPr name="Freeform 25" id="25"/>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26" id="26"/>
          <p:cNvGrpSpPr/>
          <p:nvPr/>
        </p:nvGrpSpPr>
        <p:grpSpPr>
          <a:xfrm rot="0">
            <a:off x="960120" y="2285086"/>
            <a:ext cx="411480" cy="411480"/>
            <a:chOff x="0" y="0"/>
            <a:chExt cx="548640" cy="548640"/>
          </a:xfrm>
        </p:grpSpPr>
        <p:sp>
          <p:nvSpPr>
            <p:cNvPr name="Freeform 27" id="27" descr="Lightbulb 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6"/>
              <a:stretch>
                <a:fillRect l="0" t="0" r="0" b="0"/>
              </a:stretch>
            </a:blipFill>
          </p:spPr>
        </p:sp>
      </p:grpSp>
      <p:grpSp>
        <p:nvGrpSpPr>
          <p:cNvPr name="Group 28" id="28"/>
          <p:cNvGrpSpPr/>
          <p:nvPr/>
        </p:nvGrpSpPr>
        <p:grpSpPr>
          <a:xfrm rot="0">
            <a:off x="1736598" y="2145030"/>
            <a:ext cx="14401800" cy="754380"/>
            <a:chOff x="0" y="0"/>
            <a:chExt cx="19202400" cy="1005840"/>
          </a:xfrm>
        </p:grpSpPr>
        <p:sp>
          <p:nvSpPr>
            <p:cNvPr name="Freeform 29" id="29"/>
            <p:cNvSpPr/>
            <p:nvPr/>
          </p:nvSpPr>
          <p:spPr>
            <a:xfrm flipH="false" flipV="false" rot="0">
              <a:off x="0" y="0"/>
              <a:ext cx="19202400" cy="1005840"/>
            </a:xfrm>
            <a:custGeom>
              <a:avLst/>
              <a:gdLst/>
              <a:ahLst/>
              <a:cxnLst/>
              <a:rect r="r" b="b" t="t" l="l"/>
              <a:pathLst>
                <a:path h="1005840" w="19202400">
                  <a:moveTo>
                    <a:pt x="0" y="0"/>
                  </a:moveTo>
                  <a:lnTo>
                    <a:pt x="19202400" y="0"/>
                  </a:lnTo>
                  <a:lnTo>
                    <a:pt x="19202400" y="1005840"/>
                  </a:lnTo>
                  <a:lnTo>
                    <a:pt x="0" y="1005840"/>
                  </a:lnTo>
                  <a:close/>
                </a:path>
              </a:pathLst>
            </a:custGeom>
            <a:blipFill>
              <a:blip r:embed="rId4">
                <a:alphaModFix amt="0"/>
              </a:blip>
              <a:stretch>
                <a:fillRect l="0" t="-321987" r="0" b="-321987"/>
              </a:stretch>
            </a:blipFill>
          </p:spPr>
        </p:sp>
        <p:sp>
          <p:nvSpPr>
            <p:cNvPr name="TextBox 30" id="30"/>
            <p:cNvSpPr txBox="true"/>
            <p:nvPr/>
          </p:nvSpPr>
          <p:spPr>
            <a:xfrm>
              <a:off x="0" y="-57150"/>
              <a:ext cx="19202400" cy="1062990"/>
            </a:xfrm>
            <a:prstGeom prst="rect">
              <a:avLst/>
            </a:prstGeom>
          </p:spPr>
          <p:txBody>
            <a:bodyPr anchor="ctr" rtlCol="false" tIns="0" lIns="0" bIns="0" rIns="0"/>
            <a:lstStyle/>
            <a:p>
              <a:pPr algn="l">
                <a:lnSpc>
                  <a:spcPts val="3240"/>
                </a:lnSpc>
              </a:pPr>
              <a:r>
                <a:rPr lang="en-US" sz="2700" b="true">
                  <a:solidFill>
                    <a:srgbClr val="094542"/>
                  </a:solidFill>
                  <a:latin typeface="Calibri (MS) Bold"/>
                  <a:ea typeface="Calibri (MS) Bold"/>
                  <a:cs typeface="Calibri (MS) Bold"/>
                  <a:sym typeface="Calibri (MS) Bold"/>
                </a:rPr>
                <a:t>Wh</a:t>
              </a:r>
              <a:r>
                <a:rPr lang="en-US" sz="2700" b="true">
                  <a:solidFill>
                    <a:srgbClr val="094542"/>
                  </a:solidFill>
                  <a:latin typeface="Calibri (MS) Bold"/>
                  <a:ea typeface="Calibri (MS) Bold"/>
                  <a:cs typeface="Calibri (MS) Bold"/>
                  <a:sym typeface="Calibri (MS) Bold"/>
                </a:rPr>
                <a:t>at exactly needs to be solved?</a:t>
              </a:r>
            </a:p>
          </p:txBody>
        </p:sp>
      </p:grpSp>
      <p:sp>
        <p:nvSpPr>
          <p:cNvPr name="TextBox 31" id="31"/>
          <p:cNvSpPr txBox="true"/>
          <p:nvPr/>
        </p:nvSpPr>
        <p:spPr>
          <a:xfrm rot="0">
            <a:off x="1736598" y="2848047"/>
            <a:ext cx="12244301" cy="2120264"/>
          </a:xfrm>
          <a:prstGeom prst="rect">
            <a:avLst/>
          </a:prstGeom>
        </p:spPr>
        <p:txBody>
          <a:bodyPr anchor="t" rtlCol="false" tIns="0" lIns="0" bIns="0" rIns="0">
            <a:spAutoFit/>
          </a:bodyPr>
          <a:lstStyle/>
          <a:p>
            <a:pPr algn="l">
              <a:lnSpc>
                <a:spcPts val="3360"/>
              </a:lnSpc>
              <a:spcBef>
                <a:spcPct val="0"/>
              </a:spcBef>
            </a:pPr>
            <a:r>
              <a:rPr lang="en-US" sz="2400">
                <a:solidFill>
                  <a:srgbClr val="026855"/>
                </a:solidFill>
                <a:latin typeface="Calibri (MS)"/>
                <a:ea typeface="Calibri (MS)"/>
                <a:cs typeface="Calibri (MS)"/>
                <a:sym typeface="Calibri (MS)"/>
              </a:rPr>
              <a:t>We need a better way to find solutions for main industrial problems such as pressurized air leak and electrical voltage leaks. Our project solve this problem by finding the exact spot of the leak by using acoustic imaging camera that listens to change in frequency, from these leaks the hardware system calculate the specific point of leak by by using the the microphones and converting the audio into a 3D pinpoint location to locate exact co-ordinate of the fault.</a:t>
            </a:r>
          </a:p>
        </p:txBody>
      </p:sp>
      <p:grpSp>
        <p:nvGrpSpPr>
          <p:cNvPr name="Group 32" id="32"/>
          <p:cNvGrpSpPr/>
          <p:nvPr/>
        </p:nvGrpSpPr>
        <p:grpSpPr>
          <a:xfrm rot="0">
            <a:off x="1736598" y="5158812"/>
            <a:ext cx="14401800" cy="754380"/>
            <a:chOff x="0" y="0"/>
            <a:chExt cx="19202400" cy="1005840"/>
          </a:xfrm>
        </p:grpSpPr>
        <p:sp>
          <p:nvSpPr>
            <p:cNvPr name="Freeform 33" id="33"/>
            <p:cNvSpPr/>
            <p:nvPr/>
          </p:nvSpPr>
          <p:spPr>
            <a:xfrm flipH="false" flipV="false" rot="0">
              <a:off x="0" y="0"/>
              <a:ext cx="19202400" cy="1005840"/>
            </a:xfrm>
            <a:custGeom>
              <a:avLst/>
              <a:gdLst/>
              <a:ahLst/>
              <a:cxnLst/>
              <a:rect r="r" b="b" t="t" l="l"/>
              <a:pathLst>
                <a:path h="1005840" w="19202400">
                  <a:moveTo>
                    <a:pt x="0" y="0"/>
                  </a:moveTo>
                  <a:lnTo>
                    <a:pt x="19202400" y="0"/>
                  </a:lnTo>
                  <a:lnTo>
                    <a:pt x="19202400" y="1005840"/>
                  </a:lnTo>
                  <a:lnTo>
                    <a:pt x="0" y="1005840"/>
                  </a:lnTo>
                  <a:close/>
                </a:path>
              </a:pathLst>
            </a:custGeom>
            <a:blipFill>
              <a:blip r:embed="rId4">
                <a:alphaModFix amt="0"/>
              </a:blip>
              <a:stretch>
                <a:fillRect l="0" t="-321987" r="0" b="-321987"/>
              </a:stretch>
            </a:blipFill>
          </p:spPr>
        </p:sp>
        <p:sp>
          <p:nvSpPr>
            <p:cNvPr name="TextBox 34" id="34"/>
            <p:cNvSpPr txBox="true"/>
            <p:nvPr/>
          </p:nvSpPr>
          <p:spPr>
            <a:xfrm>
              <a:off x="0" y="-57150"/>
              <a:ext cx="19202400" cy="1062990"/>
            </a:xfrm>
            <a:prstGeom prst="rect">
              <a:avLst/>
            </a:prstGeom>
          </p:spPr>
          <p:txBody>
            <a:bodyPr anchor="ctr" rtlCol="false" tIns="0" lIns="0" bIns="0" rIns="0"/>
            <a:lstStyle/>
            <a:p>
              <a:pPr algn="l">
                <a:lnSpc>
                  <a:spcPts val="3240"/>
                </a:lnSpc>
              </a:pPr>
              <a:r>
                <a:rPr lang="en-US" sz="2700" b="true">
                  <a:solidFill>
                    <a:srgbClr val="094542"/>
                  </a:solidFill>
                  <a:latin typeface="Calibri (MS) Bold"/>
                  <a:ea typeface="Calibri (MS) Bold"/>
                  <a:cs typeface="Calibri (MS) Bold"/>
                  <a:sym typeface="Calibri (MS) Bold"/>
                </a:rPr>
                <a:t>Wh</a:t>
              </a:r>
              <a:r>
                <a:rPr lang="en-US" sz="2700" b="true">
                  <a:solidFill>
                    <a:srgbClr val="094542"/>
                  </a:solidFill>
                  <a:latin typeface="Calibri (MS) Bold"/>
                  <a:ea typeface="Calibri (MS) Bold"/>
                  <a:cs typeface="Calibri (MS) Bold"/>
                  <a:sym typeface="Calibri (MS) Bold"/>
                </a:rPr>
                <a:t>y is it important right now?</a:t>
              </a:r>
            </a:p>
          </p:txBody>
        </p:sp>
      </p:grpSp>
      <p:grpSp>
        <p:nvGrpSpPr>
          <p:cNvPr name="Group 35" id="35"/>
          <p:cNvGrpSpPr/>
          <p:nvPr/>
        </p:nvGrpSpPr>
        <p:grpSpPr>
          <a:xfrm rot="0">
            <a:off x="822960" y="5239050"/>
            <a:ext cx="685800" cy="593903"/>
            <a:chOff x="0" y="0"/>
            <a:chExt cx="914400" cy="791870"/>
          </a:xfrm>
        </p:grpSpPr>
        <p:sp>
          <p:nvSpPr>
            <p:cNvPr name="Freeform 36" id="36"/>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37" id="37"/>
          <p:cNvGrpSpPr/>
          <p:nvPr/>
        </p:nvGrpSpPr>
        <p:grpSpPr>
          <a:xfrm rot="0">
            <a:off x="960120" y="5329576"/>
            <a:ext cx="411480" cy="411480"/>
            <a:chOff x="0" y="0"/>
            <a:chExt cx="548640" cy="548640"/>
          </a:xfrm>
        </p:grpSpPr>
        <p:sp>
          <p:nvSpPr>
            <p:cNvPr name="Freeform 38" id="38" descr="Lightbulb 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6"/>
              <a:stretch>
                <a:fillRect l="0" t="0" r="0" b="0"/>
              </a:stretch>
            </a:blipFill>
          </p:spPr>
        </p:sp>
      </p:grpSp>
      <p:sp>
        <p:nvSpPr>
          <p:cNvPr name="TextBox 39" id="39"/>
          <p:cNvSpPr txBox="true"/>
          <p:nvPr/>
        </p:nvSpPr>
        <p:spPr>
          <a:xfrm rot="0">
            <a:off x="1685178" y="5808539"/>
            <a:ext cx="12575159" cy="2837179"/>
          </a:xfrm>
          <a:prstGeom prst="rect">
            <a:avLst/>
          </a:prstGeom>
        </p:spPr>
        <p:txBody>
          <a:bodyPr anchor="t" rtlCol="false" tIns="0" lIns="0" bIns="0" rIns="0">
            <a:spAutoFit/>
          </a:bodyPr>
          <a:lstStyle/>
          <a:p>
            <a:pPr algn="l">
              <a:lnSpc>
                <a:spcPts val="3220"/>
              </a:lnSpc>
            </a:pPr>
            <a:r>
              <a:rPr lang="en-US" sz="2300">
                <a:solidFill>
                  <a:srgbClr val="026855"/>
                </a:solidFill>
                <a:latin typeface="Calibri (MS)"/>
                <a:ea typeface="Calibri (MS)"/>
                <a:cs typeface="Calibri (MS)"/>
                <a:sym typeface="Calibri (MS)"/>
              </a:rPr>
              <a:t>These leaks cause two immediate, massive problems for industries:</a:t>
            </a:r>
          </a:p>
          <a:p>
            <a:pPr algn="l">
              <a:lnSpc>
                <a:spcPts val="3220"/>
              </a:lnSpc>
            </a:pPr>
            <a:r>
              <a:rPr lang="en-US" sz="2300" b="true">
                <a:solidFill>
                  <a:srgbClr val="026855"/>
                </a:solidFill>
                <a:latin typeface="Calibri (MS) Bold"/>
                <a:ea typeface="Calibri (MS) Bold"/>
                <a:cs typeface="Calibri (MS) Bold"/>
                <a:sym typeface="Calibri (MS) Bold"/>
              </a:rPr>
              <a:t>Wasted Money and Energy</a:t>
            </a:r>
            <a:r>
              <a:rPr lang="en-US" sz="2300">
                <a:solidFill>
                  <a:srgbClr val="026855"/>
                </a:solidFill>
                <a:latin typeface="Calibri (MS)"/>
                <a:ea typeface="Calibri (MS)"/>
                <a:cs typeface="Calibri (MS)"/>
                <a:sym typeface="Calibri (MS)"/>
              </a:rPr>
              <a:t>: Unnoticed compressed air leaks will push the compressors to work harder so wasting a huge amount of power and increasing the industry's electricity bills.</a:t>
            </a:r>
          </a:p>
          <a:p>
            <a:pPr algn="l">
              <a:lnSpc>
                <a:spcPts val="3220"/>
              </a:lnSpc>
              <a:spcBef>
                <a:spcPct val="0"/>
              </a:spcBef>
            </a:pPr>
            <a:r>
              <a:rPr lang="en-US" sz="2300" b="true">
                <a:solidFill>
                  <a:srgbClr val="026855"/>
                </a:solidFill>
                <a:latin typeface="Calibri (MS) Bold"/>
                <a:ea typeface="Calibri (MS) Bold"/>
                <a:cs typeface="Calibri (MS) Bold"/>
                <a:sym typeface="Calibri (MS) Bold"/>
              </a:rPr>
              <a:t>Safety and Downtime Risks</a:t>
            </a:r>
            <a:r>
              <a:rPr lang="en-US" sz="2300">
                <a:solidFill>
                  <a:srgbClr val="026855"/>
                </a:solidFill>
                <a:latin typeface="Calibri (MS)"/>
                <a:ea typeface="Calibri (MS)"/>
                <a:cs typeface="Calibri (MS)"/>
                <a:sym typeface="Calibri (MS)"/>
              </a:rPr>
              <a:t>: Electrical voltage leaks (like partial discharge) degrade insulation over time. If left unchecked, they lead to sudden, expensive machinery breakdowns or hazardous electrical fires. Providing continuous, automated 3D detection allows industries to fix these issues before they turn into major accidents or financial losses.</a:t>
            </a:r>
          </a:p>
        </p:txBody>
      </p:sp>
      <p:grpSp>
        <p:nvGrpSpPr>
          <p:cNvPr name="Group 40" id="40"/>
          <p:cNvGrpSpPr/>
          <p:nvPr/>
        </p:nvGrpSpPr>
        <p:grpSpPr>
          <a:xfrm rot="0">
            <a:off x="-9525" y="9532620"/>
            <a:ext cx="18287543" cy="754380"/>
            <a:chOff x="0" y="0"/>
            <a:chExt cx="24383390" cy="1005840"/>
          </a:xfrm>
        </p:grpSpPr>
        <p:sp>
          <p:nvSpPr>
            <p:cNvPr name="Freeform 41" id="41"/>
            <p:cNvSpPr/>
            <p:nvPr/>
          </p:nvSpPr>
          <p:spPr>
            <a:xfrm flipH="false" flipV="false" rot="0">
              <a:off x="0" y="0"/>
              <a:ext cx="24383364" cy="1005840"/>
            </a:xfrm>
            <a:custGeom>
              <a:avLst/>
              <a:gdLst/>
              <a:ahLst/>
              <a:cxnLst/>
              <a:rect r="r" b="b" t="t" l="l"/>
              <a:pathLst>
                <a:path h="1005840" w="24383364">
                  <a:moveTo>
                    <a:pt x="0" y="0"/>
                  </a:moveTo>
                  <a:lnTo>
                    <a:pt x="24383364" y="0"/>
                  </a:lnTo>
                  <a:lnTo>
                    <a:pt x="24383364" y="1005840"/>
                  </a:lnTo>
                  <a:lnTo>
                    <a:pt x="0" y="1005840"/>
                  </a:lnTo>
                  <a:close/>
                </a:path>
              </a:pathLst>
            </a:custGeom>
            <a:solidFill>
              <a:srgbClr val="052B35"/>
            </a:solidFill>
          </p:spPr>
        </p:sp>
      </p:grpSp>
      <p:grpSp>
        <p:nvGrpSpPr>
          <p:cNvPr name="Group 42" id="42"/>
          <p:cNvGrpSpPr/>
          <p:nvPr/>
        </p:nvGrpSpPr>
        <p:grpSpPr>
          <a:xfrm rot="0">
            <a:off x="16632093" y="9614916"/>
            <a:ext cx="685800" cy="593903"/>
            <a:chOff x="0" y="0"/>
            <a:chExt cx="914400" cy="791870"/>
          </a:xfrm>
        </p:grpSpPr>
        <p:sp>
          <p:nvSpPr>
            <p:cNvPr name="Freeform 43" id="43"/>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44" id="44"/>
          <p:cNvGrpSpPr/>
          <p:nvPr/>
        </p:nvGrpSpPr>
        <p:grpSpPr>
          <a:xfrm rot="0">
            <a:off x="16632093" y="9614916"/>
            <a:ext cx="685800" cy="593903"/>
            <a:chOff x="0" y="0"/>
            <a:chExt cx="914400" cy="791870"/>
          </a:xfrm>
        </p:grpSpPr>
        <p:sp>
          <p:nvSpPr>
            <p:cNvPr name="Freeform 45" id="45"/>
            <p:cNvSpPr/>
            <p:nvPr/>
          </p:nvSpPr>
          <p:spPr>
            <a:xfrm flipH="false" flipV="false" rot="0">
              <a:off x="0" y="0"/>
              <a:ext cx="914400" cy="791870"/>
            </a:xfrm>
            <a:custGeom>
              <a:avLst/>
              <a:gdLst/>
              <a:ahLst/>
              <a:cxnLst/>
              <a:rect r="r" b="b" t="t" l="l"/>
              <a:pathLst>
                <a:path h="791870" w="914400">
                  <a:moveTo>
                    <a:pt x="0" y="0"/>
                  </a:moveTo>
                  <a:lnTo>
                    <a:pt x="914400" y="0"/>
                  </a:lnTo>
                  <a:lnTo>
                    <a:pt x="914400" y="791870"/>
                  </a:lnTo>
                  <a:lnTo>
                    <a:pt x="0" y="791870"/>
                  </a:lnTo>
                  <a:close/>
                </a:path>
              </a:pathLst>
            </a:custGeom>
            <a:blipFill>
              <a:blip r:embed="rId4">
                <a:alphaModFix amt="0"/>
              </a:blip>
              <a:stretch>
                <a:fillRect l="-61110" t="0" r="-61110" b="0"/>
              </a:stretch>
            </a:blipFill>
          </p:spPr>
        </p:sp>
        <p:sp>
          <p:nvSpPr>
            <p:cNvPr name="TextBox 46" id="46"/>
            <p:cNvSpPr txBox="true"/>
            <p:nvPr/>
          </p:nvSpPr>
          <p:spPr>
            <a:xfrm>
              <a:off x="0" y="-28575"/>
              <a:ext cx="914400" cy="820445"/>
            </a:xfrm>
            <a:prstGeom prst="rect">
              <a:avLst/>
            </a:prstGeom>
          </p:spPr>
          <p:txBody>
            <a:bodyPr anchor="ctr" rtlCol="false" tIns="0" lIns="0" bIns="0" rIns="0"/>
            <a:lstStyle/>
            <a:p>
              <a:pPr algn="ctr">
                <a:lnSpc>
                  <a:spcPts val="1980"/>
                </a:lnSpc>
              </a:pPr>
              <a:r>
                <a:rPr lang="en-US" sz="1650" b="true">
                  <a:solidFill>
                    <a:srgbClr val="052B35"/>
                  </a:solidFill>
                  <a:latin typeface="Calibri (MS) Bold"/>
                  <a:ea typeface="Calibri (MS) Bold"/>
                  <a:cs typeface="Calibri (MS) Bold"/>
                  <a:sym typeface="Calibri (MS) Bold"/>
                </a:rPr>
                <a:t>2</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grpSp>
        <p:nvGrpSpPr>
          <p:cNvPr name="Group 2" id="2"/>
          <p:cNvGrpSpPr/>
          <p:nvPr/>
        </p:nvGrpSpPr>
        <p:grpSpPr>
          <a:xfrm rot="0">
            <a:off x="16360159" y="472916"/>
            <a:ext cx="1248727" cy="1248727"/>
            <a:chOff x="0" y="0"/>
            <a:chExt cx="1664970" cy="1664970"/>
          </a:xfrm>
        </p:grpSpPr>
        <p:sp>
          <p:nvSpPr>
            <p:cNvPr name="Freeform 3" id="3"/>
            <p:cNvSpPr/>
            <p:nvPr/>
          </p:nvSpPr>
          <p:spPr>
            <a:xfrm flipH="false" flipV="false" rot="0">
              <a:off x="0" y="0"/>
              <a:ext cx="1664970" cy="1664970"/>
            </a:xfrm>
            <a:custGeom>
              <a:avLst/>
              <a:gdLst/>
              <a:ahLst/>
              <a:cxnLst/>
              <a:rect r="r" b="b" t="t" l="l"/>
              <a:pathLst>
                <a:path h="1664970" w="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4" id="4"/>
          <p:cNvGrpSpPr/>
          <p:nvPr/>
        </p:nvGrpSpPr>
        <p:grpSpPr>
          <a:xfrm rot="0">
            <a:off x="16583920" y="576072"/>
            <a:ext cx="801195" cy="1042416"/>
            <a:chOff x="0" y="0"/>
            <a:chExt cx="1068260" cy="1389888"/>
          </a:xfrm>
        </p:grpSpPr>
        <p:sp>
          <p:nvSpPr>
            <p:cNvPr name="Freeform 5" id="5" descr="Genesis logo"/>
            <p:cNvSpPr/>
            <p:nvPr/>
          </p:nvSpPr>
          <p:spPr>
            <a:xfrm flipH="false" flipV="false" rot="0">
              <a:off x="0" y="0"/>
              <a:ext cx="1068324" cy="1389888"/>
            </a:xfrm>
            <a:custGeom>
              <a:avLst/>
              <a:gdLst/>
              <a:ahLst/>
              <a:cxnLst/>
              <a:rect r="r" b="b" t="t" l="l"/>
              <a:pathLst>
                <a:path h="1389888" w="1068324">
                  <a:moveTo>
                    <a:pt x="0" y="0"/>
                  </a:moveTo>
                  <a:lnTo>
                    <a:pt x="1068324" y="0"/>
                  </a:lnTo>
                  <a:lnTo>
                    <a:pt x="1068324" y="1389888"/>
                  </a:lnTo>
                  <a:lnTo>
                    <a:pt x="0" y="1389888"/>
                  </a:lnTo>
                  <a:lnTo>
                    <a:pt x="0" y="0"/>
                  </a:lnTo>
                  <a:close/>
                </a:path>
              </a:pathLst>
            </a:custGeom>
            <a:blipFill>
              <a:blip r:embed="rId3"/>
              <a:stretch>
                <a:fillRect l="0" t="0" r="5" b="0"/>
              </a:stretch>
            </a:blipFill>
          </p:spPr>
        </p:sp>
      </p:grpSp>
      <p:grpSp>
        <p:nvGrpSpPr>
          <p:cNvPr name="Group 6" id="6"/>
          <p:cNvGrpSpPr/>
          <p:nvPr/>
        </p:nvGrpSpPr>
        <p:grpSpPr>
          <a:xfrm rot="0">
            <a:off x="0" y="9532620"/>
            <a:ext cx="18287543" cy="754380"/>
            <a:chOff x="0" y="0"/>
            <a:chExt cx="24383390" cy="1005840"/>
          </a:xfrm>
        </p:grpSpPr>
        <p:sp>
          <p:nvSpPr>
            <p:cNvPr name="Freeform 7" id="7"/>
            <p:cNvSpPr/>
            <p:nvPr/>
          </p:nvSpPr>
          <p:spPr>
            <a:xfrm flipH="false" flipV="false" rot="0">
              <a:off x="0" y="0"/>
              <a:ext cx="24383364" cy="1005840"/>
            </a:xfrm>
            <a:custGeom>
              <a:avLst/>
              <a:gdLst/>
              <a:ahLst/>
              <a:cxnLst/>
              <a:rect r="r" b="b" t="t" l="l"/>
              <a:pathLst>
                <a:path h="1005840" w="24383364">
                  <a:moveTo>
                    <a:pt x="0" y="0"/>
                  </a:moveTo>
                  <a:lnTo>
                    <a:pt x="24383364" y="0"/>
                  </a:lnTo>
                  <a:lnTo>
                    <a:pt x="24383364" y="1005840"/>
                  </a:lnTo>
                  <a:lnTo>
                    <a:pt x="0" y="1005840"/>
                  </a:lnTo>
                  <a:close/>
                </a:path>
              </a:pathLst>
            </a:custGeom>
            <a:solidFill>
              <a:srgbClr val="052B35"/>
            </a:solidFill>
          </p:spPr>
        </p:sp>
      </p:grpSp>
      <p:grpSp>
        <p:nvGrpSpPr>
          <p:cNvPr name="Group 8" id="8"/>
          <p:cNvGrpSpPr/>
          <p:nvPr/>
        </p:nvGrpSpPr>
        <p:grpSpPr>
          <a:xfrm rot="0">
            <a:off x="16888511" y="9614916"/>
            <a:ext cx="685800" cy="593903"/>
            <a:chOff x="0" y="0"/>
            <a:chExt cx="914400" cy="791870"/>
          </a:xfrm>
        </p:grpSpPr>
        <p:sp>
          <p:nvSpPr>
            <p:cNvPr name="Freeform 9" id="9"/>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10" id="10"/>
          <p:cNvGrpSpPr/>
          <p:nvPr/>
        </p:nvGrpSpPr>
        <p:grpSpPr>
          <a:xfrm rot="0">
            <a:off x="4869180" y="480060"/>
            <a:ext cx="11247120" cy="1234440"/>
            <a:chOff x="0" y="0"/>
            <a:chExt cx="14996160" cy="1645920"/>
          </a:xfrm>
        </p:grpSpPr>
        <p:sp>
          <p:nvSpPr>
            <p:cNvPr name="Freeform 11" id="11"/>
            <p:cNvSpPr/>
            <p:nvPr/>
          </p:nvSpPr>
          <p:spPr>
            <a:xfrm flipH="false" flipV="false" rot="0">
              <a:off x="0" y="0"/>
              <a:ext cx="14996161" cy="1645920"/>
            </a:xfrm>
            <a:custGeom>
              <a:avLst/>
              <a:gdLst/>
              <a:ahLst/>
              <a:cxnLst/>
              <a:rect r="r" b="b" t="t" l="l"/>
              <a:pathLst>
                <a:path h="1645920" w="14996161">
                  <a:moveTo>
                    <a:pt x="0" y="0"/>
                  </a:moveTo>
                  <a:lnTo>
                    <a:pt x="14996161" y="0"/>
                  </a:lnTo>
                  <a:lnTo>
                    <a:pt x="14996161" y="1645920"/>
                  </a:lnTo>
                  <a:lnTo>
                    <a:pt x="0" y="1645920"/>
                  </a:lnTo>
                  <a:close/>
                </a:path>
              </a:pathLst>
            </a:custGeom>
            <a:blipFill>
              <a:blip r:embed="rId4">
                <a:alphaModFix amt="0"/>
              </a:blip>
              <a:stretch>
                <a:fillRect l="0" t="-127530" r="0" b="-127530"/>
              </a:stretch>
            </a:blipFill>
          </p:spPr>
        </p:sp>
        <p:sp>
          <p:nvSpPr>
            <p:cNvPr name="TextBox 12" id="12"/>
            <p:cNvSpPr txBox="true"/>
            <p:nvPr/>
          </p:nvSpPr>
          <p:spPr>
            <a:xfrm>
              <a:off x="0" y="-19050"/>
              <a:ext cx="14996160" cy="1664970"/>
            </a:xfrm>
            <a:prstGeom prst="rect">
              <a:avLst/>
            </a:prstGeom>
          </p:spPr>
          <p:txBody>
            <a:bodyPr anchor="ctr" rtlCol="false" tIns="0" lIns="0" bIns="0" rIns="0"/>
            <a:lstStyle/>
            <a:p>
              <a:pPr algn="ctr">
                <a:lnSpc>
                  <a:spcPts val="4320"/>
                </a:lnSpc>
              </a:pPr>
              <a:r>
                <a:rPr lang="en-US" b="true" sz="3600" spc="150">
                  <a:solidFill>
                    <a:srgbClr val="052B35"/>
                  </a:solidFill>
                  <a:latin typeface="Cambria Bold"/>
                  <a:ea typeface="Cambria Bold"/>
                  <a:cs typeface="Cambria Bold"/>
                  <a:sym typeface="Cambria Bold"/>
                </a:rPr>
                <a:t>WHO IS AFFECTED?</a:t>
              </a:r>
            </a:p>
          </p:txBody>
        </p:sp>
      </p:grpSp>
      <p:grpSp>
        <p:nvGrpSpPr>
          <p:cNvPr name="Group 13" id="13"/>
          <p:cNvGrpSpPr/>
          <p:nvPr/>
        </p:nvGrpSpPr>
        <p:grpSpPr>
          <a:xfrm rot="0">
            <a:off x="678656" y="472916"/>
            <a:ext cx="3923347" cy="1248727"/>
            <a:chOff x="0" y="0"/>
            <a:chExt cx="5231130" cy="1664970"/>
          </a:xfrm>
        </p:grpSpPr>
        <p:sp>
          <p:nvSpPr>
            <p:cNvPr name="Freeform 14" id="14"/>
            <p:cNvSpPr/>
            <p:nvPr/>
          </p:nvSpPr>
          <p:spPr>
            <a:xfrm flipH="false" flipV="false" rot="0">
              <a:off x="0" y="0"/>
              <a:ext cx="5231130" cy="1664970"/>
            </a:xfrm>
            <a:custGeom>
              <a:avLst/>
              <a:gdLst/>
              <a:ahLst/>
              <a:cxnLst/>
              <a:rect r="r" b="b" t="t" l="l"/>
              <a:pathLst>
                <a:path h="1664970" w="523113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15" id="15"/>
          <p:cNvGrpSpPr/>
          <p:nvPr/>
        </p:nvGrpSpPr>
        <p:grpSpPr>
          <a:xfrm rot="0">
            <a:off x="898112" y="678656"/>
            <a:ext cx="960692" cy="837248"/>
            <a:chOff x="0" y="0"/>
            <a:chExt cx="1280922" cy="1116330"/>
          </a:xfrm>
        </p:grpSpPr>
        <p:sp>
          <p:nvSpPr>
            <p:cNvPr name="Freeform 16" id="16"/>
            <p:cNvSpPr/>
            <p:nvPr/>
          </p:nvSpPr>
          <p:spPr>
            <a:xfrm flipH="false" flipV="false" rot="0">
              <a:off x="0" y="0"/>
              <a:ext cx="1280922" cy="1116330"/>
            </a:xfrm>
            <a:custGeom>
              <a:avLst/>
              <a:gdLst/>
              <a:ahLst/>
              <a:cxnLst/>
              <a:rect r="r" b="b" t="t" l="l"/>
              <a:pathLst>
                <a:path h="1116330" w="1280922">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name="Group 17" id="17"/>
          <p:cNvGrpSpPr/>
          <p:nvPr/>
        </p:nvGrpSpPr>
        <p:grpSpPr>
          <a:xfrm rot="0">
            <a:off x="1104138" y="822960"/>
            <a:ext cx="548640" cy="548640"/>
            <a:chOff x="0" y="0"/>
            <a:chExt cx="731520" cy="731520"/>
          </a:xfrm>
        </p:grpSpPr>
        <p:sp>
          <p:nvSpPr>
            <p:cNvPr name="Freeform 18" id="18" descr="Team icon"/>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5"/>
              <a:stretch>
                <a:fillRect l="0" t="0" r="0" b="0"/>
              </a:stretch>
            </a:blipFill>
          </p:spPr>
        </p:sp>
      </p:grpSp>
      <p:grpSp>
        <p:nvGrpSpPr>
          <p:cNvPr name="Group 19" id="19"/>
          <p:cNvGrpSpPr/>
          <p:nvPr/>
        </p:nvGrpSpPr>
        <p:grpSpPr>
          <a:xfrm rot="0">
            <a:off x="2057400" y="576072"/>
            <a:ext cx="2441448" cy="1042416"/>
            <a:chOff x="0" y="0"/>
            <a:chExt cx="3255264" cy="1389888"/>
          </a:xfrm>
        </p:grpSpPr>
        <p:sp>
          <p:nvSpPr>
            <p:cNvPr name="Freeform 20" id="20"/>
            <p:cNvSpPr/>
            <p:nvPr/>
          </p:nvSpPr>
          <p:spPr>
            <a:xfrm flipH="false" flipV="false" rot="0">
              <a:off x="0" y="0"/>
              <a:ext cx="3255264" cy="1389888"/>
            </a:xfrm>
            <a:custGeom>
              <a:avLst/>
              <a:gdLst/>
              <a:ahLst/>
              <a:cxnLst/>
              <a:rect r="r" b="b" t="t" l="l"/>
              <a:pathLst>
                <a:path h="1389888" w="3255264">
                  <a:moveTo>
                    <a:pt x="0" y="0"/>
                  </a:moveTo>
                  <a:lnTo>
                    <a:pt x="3255264" y="0"/>
                  </a:lnTo>
                  <a:lnTo>
                    <a:pt x="3255264" y="1389888"/>
                  </a:lnTo>
                  <a:lnTo>
                    <a:pt x="0" y="1389888"/>
                  </a:lnTo>
                  <a:close/>
                </a:path>
              </a:pathLst>
            </a:custGeom>
            <a:blipFill>
              <a:blip r:embed="rId4">
                <a:alphaModFix amt="0"/>
              </a:blip>
              <a:stretch>
                <a:fillRect l="-4781" t="0" r="-4781" b="0"/>
              </a:stretch>
            </a:blipFill>
          </p:spPr>
        </p:sp>
        <p:sp>
          <p:nvSpPr>
            <p:cNvPr name="TextBox 21" id="21"/>
            <p:cNvSpPr txBox="true"/>
            <p:nvPr/>
          </p:nvSpPr>
          <p:spPr>
            <a:xfrm>
              <a:off x="0" y="-28575"/>
              <a:ext cx="3255264" cy="1418463"/>
            </a:xfrm>
            <a:prstGeom prst="rect">
              <a:avLst/>
            </a:prstGeom>
          </p:spPr>
          <p:txBody>
            <a:bodyPr anchor="ctr" rtlCol="false" tIns="0" lIns="0" bIns="0" rIns="0"/>
            <a:lstStyle/>
            <a:p>
              <a:pPr algn="l">
                <a:lnSpc>
                  <a:spcPts val="1620"/>
                </a:lnSpc>
              </a:pPr>
              <a:r>
                <a:rPr lang="en-US" b="true" sz="1350" spc="449">
                  <a:solidFill>
                    <a:srgbClr val="5B6F6B"/>
                  </a:solidFill>
                  <a:latin typeface="Calibri (MS) Bold"/>
                  <a:ea typeface="Calibri (MS) Bold"/>
                  <a:cs typeface="Calibri (MS) Bold"/>
                  <a:sym typeface="Calibri (MS) Bold"/>
                </a:rPr>
                <a:t>TEAM</a:t>
              </a:r>
            </a:p>
            <a:p>
              <a:pPr algn="l">
                <a:lnSpc>
                  <a:spcPts val="2700"/>
                </a:lnSpc>
              </a:pPr>
              <a:r>
                <a:rPr lang="en-US" b="true" sz="2250" spc="749">
                  <a:solidFill>
                    <a:srgbClr val="026855"/>
                  </a:solidFill>
                  <a:latin typeface="Calibri (MS) Bold"/>
                  <a:ea typeface="Calibri (MS) Bold"/>
                  <a:cs typeface="Calibri (MS) Bold"/>
                  <a:sym typeface="Calibri (MS) Bold"/>
                </a:rPr>
                <a:t>SIX-SEVE</a:t>
              </a:r>
              <a:r>
                <a:rPr lang="en-US" b="true" sz="2250" spc="749">
                  <a:solidFill>
                    <a:srgbClr val="026855"/>
                  </a:solidFill>
                  <a:latin typeface="Calibri (MS) Bold"/>
                  <a:ea typeface="Calibri (MS) Bold"/>
                  <a:cs typeface="Calibri (MS) Bold"/>
                  <a:sym typeface="Calibri (MS) Bold"/>
                </a:rPr>
                <a:t>N</a:t>
              </a:r>
            </a:p>
          </p:txBody>
        </p:sp>
      </p:grpSp>
      <p:grpSp>
        <p:nvGrpSpPr>
          <p:cNvPr name="Group 22" id="22"/>
          <p:cNvGrpSpPr/>
          <p:nvPr/>
        </p:nvGrpSpPr>
        <p:grpSpPr>
          <a:xfrm rot="0">
            <a:off x="16888511" y="9614916"/>
            <a:ext cx="685800" cy="593903"/>
            <a:chOff x="0" y="0"/>
            <a:chExt cx="914400" cy="791870"/>
          </a:xfrm>
        </p:grpSpPr>
        <p:sp>
          <p:nvSpPr>
            <p:cNvPr name="Freeform 23" id="23"/>
            <p:cNvSpPr/>
            <p:nvPr/>
          </p:nvSpPr>
          <p:spPr>
            <a:xfrm flipH="false" flipV="false" rot="0">
              <a:off x="0" y="0"/>
              <a:ext cx="914400" cy="791870"/>
            </a:xfrm>
            <a:custGeom>
              <a:avLst/>
              <a:gdLst/>
              <a:ahLst/>
              <a:cxnLst/>
              <a:rect r="r" b="b" t="t" l="l"/>
              <a:pathLst>
                <a:path h="791870" w="914400">
                  <a:moveTo>
                    <a:pt x="0" y="0"/>
                  </a:moveTo>
                  <a:lnTo>
                    <a:pt x="914400" y="0"/>
                  </a:lnTo>
                  <a:lnTo>
                    <a:pt x="914400" y="791870"/>
                  </a:lnTo>
                  <a:lnTo>
                    <a:pt x="0" y="791870"/>
                  </a:lnTo>
                  <a:close/>
                </a:path>
              </a:pathLst>
            </a:custGeom>
            <a:blipFill>
              <a:blip r:embed="rId4">
                <a:alphaModFix amt="0"/>
              </a:blip>
              <a:stretch>
                <a:fillRect l="-61110" t="0" r="-61110" b="0"/>
              </a:stretch>
            </a:blipFill>
          </p:spPr>
        </p:sp>
        <p:sp>
          <p:nvSpPr>
            <p:cNvPr name="TextBox 24" id="24"/>
            <p:cNvSpPr txBox="true"/>
            <p:nvPr/>
          </p:nvSpPr>
          <p:spPr>
            <a:xfrm>
              <a:off x="0" y="-28575"/>
              <a:ext cx="914400" cy="820445"/>
            </a:xfrm>
            <a:prstGeom prst="rect">
              <a:avLst/>
            </a:prstGeom>
          </p:spPr>
          <p:txBody>
            <a:bodyPr anchor="ctr" rtlCol="false" tIns="0" lIns="0" bIns="0" rIns="0"/>
            <a:lstStyle/>
            <a:p>
              <a:pPr algn="ctr">
                <a:lnSpc>
                  <a:spcPts val="1980"/>
                </a:lnSpc>
              </a:pPr>
              <a:r>
                <a:rPr lang="en-US" sz="1650" b="true">
                  <a:solidFill>
                    <a:srgbClr val="052B35"/>
                  </a:solidFill>
                  <a:latin typeface="Calibri (MS) Bold"/>
                  <a:ea typeface="Calibri (MS) Bold"/>
                  <a:cs typeface="Calibri (MS) Bold"/>
                  <a:sym typeface="Calibri (MS) Bold"/>
                </a:rPr>
                <a:t>3</a:t>
              </a:r>
            </a:p>
          </p:txBody>
        </p:sp>
      </p:grpSp>
      <p:grpSp>
        <p:nvGrpSpPr>
          <p:cNvPr name="Group 25" id="25"/>
          <p:cNvGrpSpPr/>
          <p:nvPr/>
        </p:nvGrpSpPr>
        <p:grpSpPr>
          <a:xfrm rot="0">
            <a:off x="235947" y="2840797"/>
            <a:ext cx="5982801" cy="5452846"/>
            <a:chOff x="0" y="0"/>
            <a:chExt cx="4499844" cy="4101249"/>
          </a:xfrm>
        </p:grpSpPr>
        <p:sp>
          <p:nvSpPr>
            <p:cNvPr name="Freeform 26" id="26"/>
            <p:cNvSpPr/>
            <p:nvPr/>
          </p:nvSpPr>
          <p:spPr>
            <a:xfrm flipH="false" flipV="false" rot="0">
              <a:off x="0" y="0"/>
              <a:ext cx="4499808" cy="4101211"/>
            </a:xfrm>
            <a:custGeom>
              <a:avLst/>
              <a:gdLst/>
              <a:ahLst/>
              <a:cxnLst/>
              <a:rect r="r" b="b" t="t" l="l"/>
              <a:pathLst>
                <a:path h="4101211" w="4499808">
                  <a:moveTo>
                    <a:pt x="0" y="97917"/>
                  </a:moveTo>
                  <a:cubicBezTo>
                    <a:pt x="0" y="43815"/>
                    <a:pt x="41852" y="0"/>
                    <a:pt x="93531" y="0"/>
                  </a:cubicBezTo>
                  <a:lnTo>
                    <a:pt x="4406276" y="0"/>
                  </a:lnTo>
                  <a:cubicBezTo>
                    <a:pt x="4457955" y="0"/>
                    <a:pt x="4499808" y="43815"/>
                    <a:pt x="4499808" y="97917"/>
                  </a:cubicBezTo>
                  <a:lnTo>
                    <a:pt x="4499808" y="4003294"/>
                  </a:lnTo>
                  <a:cubicBezTo>
                    <a:pt x="4499808" y="4057396"/>
                    <a:pt x="4457955" y="4101211"/>
                    <a:pt x="4406276" y="4101211"/>
                  </a:cubicBezTo>
                  <a:lnTo>
                    <a:pt x="93531" y="4101211"/>
                  </a:lnTo>
                  <a:cubicBezTo>
                    <a:pt x="41852" y="4101211"/>
                    <a:pt x="0" y="4057396"/>
                    <a:pt x="0" y="4003294"/>
                  </a:cubicBezTo>
                  <a:close/>
                </a:path>
              </a:pathLst>
            </a:custGeom>
            <a:solidFill>
              <a:srgbClr val="FFFFFF"/>
            </a:solidFill>
            <a:ln w="12700" cap="sq">
              <a:solidFill>
                <a:srgbClr val="BFE0CC"/>
              </a:solidFill>
              <a:prstDash val="solid"/>
              <a:miter/>
            </a:ln>
          </p:spPr>
        </p:sp>
      </p:grpSp>
      <p:grpSp>
        <p:nvGrpSpPr>
          <p:cNvPr name="Group 27" id="27"/>
          <p:cNvGrpSpPr/>
          <p:nvPr/>
        </p:nvGrpSpPr>
        <p:grpSpPr>
          <a:xfrm rot="0">
            <a:off x="247209" y="2852059"/>
            <a:ext cx="5981477" cy="842918"/>
            <a:chOff x="0" y="0"/>
            <a:chExt cx="4498848" cy="633984"/>
          </a:xfrm>
        </p:grpSpPr>
        <p:sp>
          <p:nvSpPr>
            <p:cNvPr name="Freeform 28" id="28"/>
            <p:cNvSpPr/>
            <p:nvPr/>
          </p:nvSpPr>
          <p:spPr>
            <a:xfrm flipH="false" flipV="false" rot="0">
              <a:off x="0" y="0"/>
              <a:ext cx="4498848" cy="633984"/>
            </a:xfrm>
            <a:custGeom>
              <a:avLst/>
              <a:gdLst/>
              <a:ahLst/>
              <a:cxnLst/>
              <a:rect r="r" b="b" t="t" l="l"/>
              <a:pathLst>
                <a:path h="633984" w="4498848">
                  <a:moveTo>
                    <a:pt x="101273" y="0"/>
                  </a:moveTo>
                  <a:lnTo>
                    <a:pt x="4397575" y="0"/>
                  </a:lnTo>
                  <a:cubicBezTo>
                    <a:pt x="4453567" y="0"/>
                    <a:pt x="4498848" y="47371"/>
                    <a:pt x="4498848" y="105664"/>
                  </a:cubicBezTo>
                  <a:lnTo>
                    <a:pt x="4498848" y="633984"/>
                  </a:lnTo>
                  <a:lnTo>
                    <a:pt x="0" y="633984"/>
                  </a:lnTo>
                  <a:lnTo>
                    <a:pt x="0" y="105664"/>
                  </a:lnTo>
                  <a:cubicBezTo>
                    <a:pt x="0" y="47371"/>
                    <a:pt x="45402" y="0"/>
                    <a:pt x="101273" y="0"/>
                  </a:cubicBezTo>
                  <a:close/>
                </a:path>
              </a:pathLst>
            </a:custGeom>
            <a:solidFill>
              <a:srgbClr val="0B6B52"/>
            </a:solidFill>
          </p:spPr>
        </p:sp>
      </p:grpSp>
      <p:grpSp>
        <p:nvGrpSpPr>
          <p:cNvPr name="Group 29" id="29"/>
          <p:cNvGrpSpPr/>
          <p:nvPr/>
        </p:nvGrpSpPr>
        <p:grpSpPr>
          <a:xfrm rot="0">
            <a:off x="441729" y="2981739"/>
            <a:ext cx="583559" cy="583559"/>
            <a:chOff x="0" y="0"/>
            <a:chExt cx="438912" cy="438912"/>
          </a:xfrm>
        </p:grpSpPr>
        <p:sp>
          <p:nvSpPr>
            <p:cNvPr name="Freeform 30" id="30"/>
            <p:cNvSpPr/>
            <p:nvPr/>
          </p:nvSpPr>
          <p:spPr>
            <a:xfrm flipH="false" flipV="false" rot="0">
              <a:off x="0" y="0"/>
              <a:ext cx="438912" cy="438912"/>
            </a:xfrm>
            <a:custGeom>
              <a:avLst/>
              <a:gdLst/>
              <a:ahLst/>
              <a:cxnLst/>
              <a:rect r="r" b="b" t="t" l="l"/>
              <a:pathLst>
                <a:path h="438912" w="438912">
                  <a:moveTo>
                    <a:pt x="0" y="219456"/>
                  </a:moveTo>
                  <a:lnTo>
                    <a:pt x="109728" y="0"/>
                  </a:lnTo>
                  <a:lnTo>
                    <a:pt x="329184" y="0"/>
                  </a:lnTo>
                  <a:lnTo>
                    <a:pt x="438912" y="219456"/>
                  </a:lnTo>
                  <a:lnTo>
                    <a:pt x="329184" y="438912"/>
                  </a:lnTo>
                  <a:lnTo>
                    <a:pt x="109728" y="438912"/>
                  </a:lnTo>
                  <a:close/>
                </a:path>
              </a:pathLst>
            </a:custGeom>
            <a:solidFill>
              <a:srgbClr val="7DC242"/>
            </a:solidFill>
          </p:spPr>
        </p:sp>
      </p:grpSp>
      <p:grpSp>
        <p:nvGrpSpPr>
          <p:cNvPr name="Group 31" id="31"/>
          <p:cNvGrpSpPr/>
          <p:nvPr/>
        </p:nvGrpSpPr>
        <p:grpSpPr>
          <a:xfrm rot="0">
            <a:off x="441729" y="2981739"/>
            <a:ext cx="583559" cy="583559"/>
            <a:chOff x="0" y="0"/>
            <a:chExt cx="438912" cy="438912"/>
          </a:xfrm>
        </p:grpSpPr>
        <p:sp>
          <p:nvSpPr>
            <p:cNvPr name="Freeform 32" id="32"/>
            <p:cNvSpPr/>
            <p:nvPr/>
          </p:nvSpPr>
          <p:spPr>
            <a:xfrm flipH="false" flipV="false" rot="0">
              <a:off x="0" y="0"/>
              <a:ext cx="438912" cy="438912"/>
            </a:xfrm>
            <a:custGeom>
              <a:avLst/>
              <a:gdLst/>
              <a:ahLst/>
              <a:cxnLst/>
              <a:rect r="r" b="b" t="t" l="l"/>
              <a:pathLst>
                <a:path h="438912" w="438912">
                  <a:moveTo>
                    <a:pt x="0" y="0"/>
                  </a:moveTo>
                  <a:lnTo>
                    <a:pt x="438912" y="0"/>
                  </a:lnTo>
                  <a:lnTo>
                    <a:pt x="438912" y="438912"/>
                  </a:lnTo>
                  <a:lnTo>
                    <a:pt x="0" y="438912"/>
                  </a:lnTo>
                  <a:close/>
                </a:path>
              </a:pathLst>
            </a:custGeom>
            <a:blipFill>
              <a:blip r:embed="rId4">
                <a:alphaModFix amt="0"/>
              </a:blip>
              <a:stretch>
                <a:fillRect l="-78303" t="0" r="-78303" b="0"/>
              </a:stretch>
            </a:blipFill>
          </p:spPr>
        </p:sp>
        <p:sp>
          <p:nvSpPr>
            <p:cNvPr name="TextBox 33" id="33"/>
            <p:cNvSpPr txBox="true"/>
            <p:nvPr/>
          </p:nvSpPr>
          <p:spPr>
            <a:xfrm>
              <a:off x="0" y="-28575"/>
              <a:ext cx="438912" cy="467487"/>
            </a:xfrm>
            <a:prstGeom prst="rect">
              <a:avLst/>
            </a:prstGeom>
          </p:spPr>
          <p:txBody>
            <a:bodyPr anchor="ctr" rtlCol="false" tIns="0" lIns="0" bIns="0" rIns="0"/>
            <a:lstStyle/>
            <a:p>
              <a:pPr algn="ctr">
                <a:lnSpc>
                  <a:spcPts val="1559"/>
                </a:lnSpc>
              </a:pPr>
              <a:r>
                <a:rPr lang="en-US" sz="1299" b="true">
                  <a:solidFill>
                    <a:srgbClr val="072C35"/>
                  </a:solidFill>
                  <a:latin typeface="Calibri (MS) Bold"/>
                  <a:ea typeface="Calibri (MS) Bold"/>
                  <a:cs typeface="Calibri (MS) Bold"/>
                  <a:sym typeface="Calibri (MS) Bold"/>
                </a:rPr>
                <a:t>1</a:t>
              </a:r>
            </a:p>
          </p:txBody>
        </p:sp>
      </p:grpSp>
      <p:grpSp>
        <p:nvGrpSpPr>
          <p:cNvPr name="Group 34" id="34"/>
          <p:cNvGrpSpPr/>
          <p:nvPr/>
        </p:nvGrpSpPr>
        <p:grpSpPr>
          <a:xfrm rot="0">
            <a:off x="1204792" y="2215990"/>
            <a:ext cx="5138559" cy="2136806"/>
            <a:chOff x="0" y="0"/>
            <a:chExt cx="3864864" cy="1607156"/>
          </a:xfrm>
        </p:grpSpPr>
        <p:sp>
          <p:nvSpPr>
            <p:cNvPr name="Freeform 35" id="35"/>
            <p:cNvSpPr/>
            <p:nvPr/>
          </p:nvSpPr>
          <p:spPr>
            <a:xfrm flipH="false" flipV="false" rot="0">
              <a:off x="0" y="0"/>
              <a:ext cx="3864864" cy="1607156"/>
            </a:xfrm>
            <a:custGeom>
              <a:avLst/>
              <a:gdLst/>
              <a:ahLst/>
              <a:cxnLst/>
              <a:rect r="r" b="b" t="t" l="l"/>
              <a:pathLst>
                <a:path h="1607156" w="3864864">
                  <a:moveTo>
                    <a:pt x="0" y="0"/>
                  </a:moveTo>
                  <a:lnTo>
                    <a:pt x="3864864" y="0"/>
                  </a:lnTo>
                  <a:lnTo>
                    <a:pt x="3864864" y="1607156"/>
                  </a:lnTo>
                  <a:lnTo>
                    <a:pt x="0" y="1607156"/>
                  </a:lnTo>
                  <a:close/>
                </a:path>
              </a:pathLst>
            </a:custGeom>
            <a:blipFill>
              <a:blip r:embed="rId4">
                <a:alphaModFix amt="0"/>
              </a:blip>
              <a:stretch>
                <a:fillRect l="0" t="-36995" r="0" b="43280"/>
              </a:stretch>
            </a:blipFill>
          </p:spPr>
        </p:sp>
        <p:sp>
          <p:nvSpPr>
            <p:cNvPr name="TextBox 36" id="36"/>
            <p:cNvSpPr txBox="true"/>
            <p:nvPr/>
          </p:nvSpPr>
          <p:spPr>
            <a:xfrm>
              <a:off x="0" y="-9525"/>
              <a:ext cx="3864864" cy="1616681"/>
            </a:xfrm>
            <a:prstGeom prst="rect">
              <a:avLst/>
            </a:prstGeom>
          </p:spPr>
          <p:txBody>
            <a:bodyPr anchor="ctr" rtlCol="false" tIns="0" lIns="0" bIns="0" rIns="0"/>
            <a:lstStyle/>
            <a:p>
              <a:pPr algn="l">
                <a:lnSpc>
                  <a:spcPts val="3359"/>
                </a:lnSpc>
              </a:pPr>
              <a:r>
                <a:rPr lang="en-US" sz="2799" b="true">
                  <a:solidFill>
                    <a:srgbClr val="FFFFFF"/>
                  </a:solidFill>
                  <a:latin typeface="Cambria Bold"/>
                  <a:ea typeface="Cambria Bold"/>
                  <a:cs typeface="Cambria Bold"/>
                  <a:sym typeface="Cambria Bold"/>
                </a:rPr>
                <a:t>Primary users</a:t>
              </a:r>
            </a:p>
          </p:txBody>
        </p:sp>
      </p:grpSp>
      <p:grpSp>
        <p:nvGrpSpPr>
          <p:cNvPr name="Group 37" id="37"/>
          <p:cNvGrpSpPr/>
          <p:nvPr/>
        </p:nvGrpSpPr>
        <p:grpSpPr>
          <a:xfrm rot="0">
            <a:off x="441729" y="3970547"/>
            <a:ext cx="145890" cy="145890"/>
            <a:chOff x="0" y="0"/>
            <a:chExt cx="109728" cy="109728"/>
          </a:xfrm>
        </p:grpSpPr>
        <p:sp>
          <p:nvSpPr>
            <p:cNvPr name="Freeform 38" id="38"/>
            <p:cNvSpPr/>
            <p:nvPr/>
          </p:nvSpPr>
          <p:spPr>
            <a:xfrm flipH="false" flipV="false" rot="0">
              <a:off x="0" y="0"/>
              <a:ext cx="109728" cy="109728"/>
            </a:xfrm>
            <a:custGeom>
              <a:avLst/>
              <a:gdLst/>
              <a:ahLst/>
              <a:cxnLst/>
              <a:rect r="r" b="b" t="t" l="l"/>
              <a:pathLst>
                <a:path h="109728" w="109728">
                  <a:moveTo>
                    <a:pt x="0" y="54864"/>
                  </a:moveTo>
                  <a:cubicBezTo>
                    <a:pt x="0" y="24511"/>
                    <a:pt x="24511" y="0"/>
                    <a:pt x="54864" y="0"/>
                  </a:cubicBezTo>
                  <a:cubicBezTo>
                    <a:pt x="85217" y="0"/>
                    <a:pt x="109728" y="24511"/>
                    <a:pt x="109728" y="54864"/>
                  </a:cubicBezTo>
                  <a:cubicBezTo>
                    <a:pt x="109728" y="85217"/>
                    <a:pt x="85217" y="109728"/>
                    <a:pt x="54864" y="109728"/>
                  </a:cubicBezTo>
                  <a:cubicBezTo>
                    <a:pt x="24511" y="109728"/>
                    <a:pt x="0" y="85217"/>
                    <a:pt x="0" y="54864"/>
                  </a:cubicBezTo>
                  <a:close/>
                </a:path>
              </a:pathLst>
            </a:custGeom>
            <a:solidFill>
              <a:srgbClr val="7DC242"/>
            </a:solidFill>
          </p:spPr>
        </p:sp>
      </p:grpSp>
      <p:grpSp>
        <p:nvGrpSpPr>
          <p:cNvPr name="Group 39" id="39"/>
          <p:cNvGrpSpPr/>
          <p:nvPr/>
        </p:nvGrpSpPr>
        <p:grpSpPr>
          <a:xfrm rot="0">
            <a:off x="733508" y="3546005"/>
            <a:ext cx="5430338" cy="1015534"/>
            <a:chOff x="0" y="0"/>
            <a:chExt cx="4084320" cy="763813"/>
          </a:xfrm>
        </p:grpSpPr>
        <p:sp>
          <p:nvSpPr>
            <p:cNvPr name="Freeform 40" id="40"/>
            <p:cNvSpPr/>
            <p:nvPr/>
          </p:nvSpPr>
          <p:spPr>
            <a:xfrm flipH="false" flipV="false" rot="0">
              <a:off x="0" y="0"/>
              <a:ext cx="4084320" cy="763813"/>
            </a:xfrm>
            <a:custGeom>
              <a:avLst/>
              <a:gdLst/>
              <a:ahLst/>
              <a:cxnLst/>
              <a:rect r="r" b="b" t="t" l="l"/>
              <a:pathLst>
                <a:path h="763813" w="4084320">
                  <a:moveTo>
                    <a:pt x="0" y="0"/>
                  </a:moveTo>
                  <a:lnTo>
                    <a:pt x="4084320" y="0"/>
                  </a:lnTo>
                  <a:lnTo>
                    <a:pt x="4084320" y="763813"/>
                  </a:lnTo>
                  <a:lnTo>
                    <a:pt x="0" y="763813"/>
                  </a:lnTo>
                  <a:close/>
                </a:path>
              </a:pathLst>
            </a:custGeom>
            <a:blipFill>
              <a:blip r:embed="rId4">
                <a:alphaModFix amt="0"/>
              </a:blip>
              <a:stretch>
                <a:fillRect l="0" t="-88229" r="0" b="-20153"/>
              </a:stretch>
            </a:blipFill>
          </p:spPr>
        </p:sp>
        <p:sp>
          <p:nvSpPr>
            <p:cNvPr name="TextBox 41" id="41"/>
            <p:cNvSpPr txBox="true"/>
            <p:nvPr/>
          </p:nvSpPr>
          <p:spPr>
            <a:xfrm>
              <a:off x="0" y="-38100"/>
              <a:ext cx="4084320" cy="801913"/>
            </a:xfrm>
            <a:prstGeom prst="rect">
              <a:avLst/>
            </a:prstGeom>
          </p:spPr>
          <p:txBody>
            <a:bodyPr anchor="ctr" rtlCol="false" tIns="0" lIns="0" bIns="0" rIns="0"/>
            <a:lstStyle/>
            <a:p>
              <a:pPr algn="l">
                <a:lnSpc>
                  <a:spcPts val="2459"/>
                </a:lnSpc>
              </a:pPr>
              <a:r>
                <a:rPr lang="en-US" sz="2049" b="true">
                  <a:solidFill>
                    <a:srgbClr val="0B2E3C"/>
                  </a:solidFill>
                  <a:latin typeface="Calibri (MS) Bold"/>
                  <a:ea typeface="Calibri (MS) Bold"/>
                  <a:cs typeface="Calibri (MS) Bold"/>
                  <a:sym typeface="Calibri (MS) Bold"/>
                </a:rPr>
                <a:t>Maintenance technicians</a:t>
              </a:r>
            </a:p>
          </p:txBody>
        </p:sp>
      </p:grpSp>
      <p:sp>
        <p:nvSpPr>
          <p:cNvPr name="TextBox 42" id="42"/>
          <p:cNvSpPr txBox="true"/>
          <p:nvPr/>
        </p:nvSpPr>
        <p:spPr>
          <a:xfrm rot="0">
            <a:off x="752633" y="4220384"/>
            <a:ext cx="5430338" cy="1118764"/>
          </a:xfrm>
          <a:prstGeom prst="rect">
            <a:avLst/>
          </a:prstGeom>
        </p:spPr>
        <p:txBody>
          <a:bodyPr anchor="t" rtlCol="false" tIns="0" lIns="0" bIns="0" rIns="0">
            <a:spAutoFit/>
          </a:bodyPr>
          <a:lstStyle/>
          <a:p>
            <a:pPr algn="l">
              <a:lnSpc>
                <a:spcPts val="2233"/>
              </a:lnSpc>
            </a:pPr>
            <a:r>
              <a:rPr lang="en-US" sz="1861">
                <a:solidFill>
                  <a:srgbClr val="35575C"/>
                </a:solidFill>
                <a:latin typeface="Calibri (MS)"/>
                <a:ea typeface="Calibri (MS)"/>
                <a:cs typeface="Calibri (MS)"/>
                <a:sym typeface="Calibri (MS)"/>
              </a:rPr>
              <a:t> Using the current device they walk around listening for leaks but our device shows them the exact spot on screen, so they dont have to inspect each and every machines regularly.</a:t>
            </a:r>
          </a:p>
        </p:txBody>
      </p:sp>
      <p:grpSp>
        <p:nvGrpSpPr>
          <p:cNvPr name="Group 43" id="43"/>
          <p:cNvGrpSpPr/>
          <p:nvPr/>
        </p:nvGrpSpPr>
        <p:grpSpPr>
          <a:xfrm rot="0">
            <a:off x="463836" y="5444583"/>
            <a:ext cx="145890" cy="145890"/>
            <a:chOff x="0" y="0"/>
            <a:chExt cx="109728" cy="109728"/>
          </a:xfrm>
        </p:grpSpPr>
        <p:sp>
          <p:nvSpPr>
            <p:cNvPr name="Freeform 44" id="44"/>
            <p:cNvSpPr/>
            <p:nvPr/>
          </p:nvSpPr>
          <p:spPr>
            <a:xfrm flipH="false" flipV="false" rot="0">
              <a:off x="0" y="0"/>
              <a:ext cx="109728" cy="109728"/>
            </a:xfrm>
            <a:custGeom>
              <a:avLst/>
              <a:gdLst/>
              <a:ahLst/>
              <a:cxnLst/>
              <a:rect r="r" b="b" t="t" l="l"/>
              <a:pathLst>
                <a:path h="109728" w="109728">
                  <a:moveTo>
                    <a:pt x="0" y="54864"/>
                  </a:moveTo>
                  <a:cubicBezTo>
                    <a:pt x="0" y="24511"/>
                    <a:pt x="24511" y="0"/>
                    <a:pt x="54864" y="0"/>
                  </a:cubicBezTo>
                  <a:cubicBezTo>
                    <a:pt x="85217" y="0"/>
                    <a:pt x="109728" y="24511"/>
                    <a:pt x="109728" y="54864"/>
                  </a:cubicBezTo>
                  <a:cubicBezTo>
                    <a:pt x="109728" y="85217"/>
                    <a:pt x="85217" y="109728"/>
                    <a:pt x="54864" y="109728"/>
                  </a:cubicBezTo>
                  <a:cubicBezTo>
                    <a:pt x="24511" y="109728"/>
                    <a:pt x="0" y="85217"/>
                    <a:pt x="0" y="54864"/>
                  </a:cubicBezTo>
                  <a:close/>
                </a:path>
              </a:pathLst>
            </a:custGeom>
            <a:solidFill>
              <a:srgbClr val="7DC242"/>
            </a:solidFill>
          </p:spPr>
        </p:sp>
      </p:grpSp>
      <p:grpSp>
        <p:nvGrpSpPr>
          <p:cNvPr name="Group 45" id="45"/>
          <p:cNvGrpSpPr/>
          <p:nvPr/>
        </p:nvGrpSpPr>
        <p:grpSpPr>
          <a:xfrm rot="0">
            <a:off x="733508" y="5184168"/>
            <a:ext cx="5430338" cy="666720"/>
            <a:chOff x="0" y="0"/>
            <a:chExt cx="4084320" cy="501460"/>
          </a:xfrm>
        </p:grpSpPr>
        <p:sp>
          <p:nvSpPr>
            <p:cNvPr name="Freeform 46" id="46"/>
            <p:cNvSpPr/>
            <p:nvPr/>
          </p:nvSpPr>
          <p:spPr>
            <a:xfrm flipH="false" flipV="false" rot="0">
              <a:off x="0" y="0"/>
              <a:ext cx="4084320" cy="501460"/>
            </a:xfrm>
            <a:custGeom>
              <a:avLst/>
              <a:gdLst/>
              <a:ahLst/>
              <a:cxnLst/>
              <a:rect r="r" b="b" t="t" l="l"/>
              <a:pathLst>
                <a:path h="501460" w="4084320">
                  <a:moveTo>
                    <a:pt x="0" y="0"/>
                  </a:moveTo>
                  <a:lnTo>
                    <a:pt x="4084320" y="0"/>
                  </a:lnTo>
                  <a:lnTo>
                    <a:pt x="4084320" y="501460"/>
                  </a:lnTo>
                  <a:lnTo>
                    <a:pt x="0" y="501460"/>
                  </a:lnTo>
                  <a:close/>
                </a:path>
              </a:pathLst>
            </a:custGeom>
            <a:blipFill>
              <a:blip r:embed="rId4">
                <a:alphaModFix amt="0"/>
              </a:blip>
              <a:stretch>
                <a:fillRect l="0" t="-134389" r="0" b="-83015"/>
              </a:stretch>
            </a:blipFill>
          </p:spPr>
        </p:sp>
        <p:sp>
          <p:nvSpPr>
            <p:cNvPr name="TextBox 47" id="47"/>
            <p:cNvSpPr txBox="true"/>
            <p:nvPr/>
          </p:nvSpPr>
          <p:spPr>
            <a:xfrm>
              <a:off x="0" y="-38100"/>
              <a:ext cx="4084320" cy="539560"/>
            </a:xfrm>
            <a:prstGeom prst="rect">
              <a:avLst/>
            </a:prstGeom>
          </p:spPr>
          <p:txBody>
            <a:bodyPr anchor="ctr" rtlCol="false" tIns="0" lIns="0" bIns="0" rIns="0"/>
            <a:lstStyle/>
            <a:p>
              <a:pPr algn="l">
                <a:lnSpc>
                  <a:spcPts val="2459"/>
                </a:lnSpc>
              </a:pPr>
              <a:r>
                <a:rPr lang="en-US" sz="2049" b="true">
                  <a:solidFill>
                    <a:srgbClr val="0B2E3C"/>
                  </a:solidFill>
                  <a:latin typeface="Calibri (MS) Bold"/>
                  <a:ea typeface="Calibri (MS) Bold"/>
                  <a:cs typeface="Calibri (MS) Bold"/>
                  <a:sym typeface="Calibri (MS) Bold"/>
                </a:rPr>
                <a:t>Energy &amp; utility engineers</a:t>
              </a:r>
            </a:p>
          </p:txBody>
        </p:sp>
      </p:grpSp>
      <p:sp>
        <p:nvSpPr>
          <p:cNvPr name="TextBox 48" id="48"/>
          <p:cNvSpPr txBox="true"/>
          <p:nvPr/>
        </p:nvSpPr>
        <p:spPr>
          <a:xfrm rot="0">
            <a:off x="752633" y="5766152"/>
            <a:ext cx="5430338" cy="578432"/>
          </a:xfrm>
          <a:prstGeom prst="rect">
            <a:avLst/>
          </a:prstGeom>
        </p:spPr>
        <p:txBody>
          <a:bodyPr anchor="t" rtlCol="false" tIns="0" lIns="0" bIns="0" rIns="0">
            <a:spAutoFit/>
          </a:bodyPr>
          <a:lstStyle/>
          <a:p>
            <a:pPr algn="l">
              <a:lnSpc>
                <a:spcPts val="2233"/>
              </a:lnSpc>
            </a:pPr>
            <a:r>
              <a:rPr lang="en-US" sz="1861">
                <a:solidFill>
                  <a:srgbClr val="35575C"/>
                </a:solidFill>
                <a:latin typeface="Calibri (MS)"/>
                <a:ea typeface="Calibri (MS)"/>
                <a:cs typeface="Calibri (MS)"/>
                <a:sym typeface="Calibri (MS)"/>
              </a:rPr>
              <a:t>TThe device shows how much each leak costs, so they know which ones to fix first.</a:t>
            </a:r>
          </a:p>
        </p:txBody>
      </p:sp>
      <p:grpSp>
        <p:nvGrpSpPr>
          <p:cNvPr name="Group 49" id="49"/>
          <p:cNvGrpSpPr/>
          <p:nvPr/>
        </p:nvGrpSpPr>
        <p:grpSpPr>
          <a:xfrm rot="0">
            <a:off x="463836" y="6688032"/>
            <a:ext cx="145890" cy="145890"/>
            <a:chOff x="0" y="0"/>
            <a:chExt cx="109728" cy="109728"/>
          </a:xfrm>
        </p:grpSpPr>
        <p:sp>
          <p:nvSpPr>
            <p:cNvPr name="Freeform 50" id="50"/>
            <p:cNvSpPr/>
            <p:nvPr/>
          </p:nvSpPr>
          <p:spPr>
            <a:xfrm flipH="false" flipV="false" rot="0">
              <a:off x="0" y="0"/>
              <a:ext cx="109728" cy="109728"/>
            </a:xfrm>
            <a:custGeom>
              <a:avLst/>
              <a:gdLst/>
              <a:ahLst/>
              <a:cxnLst/>
              <a:rect r="r" b="b" t="t" l="l"/>
              <a:pathLst>
                <a:path h="109728" w="109728">
                  <a:moveTo>
                    <a:pt x="0" y="54864"/>
                  </a:moveTo>
                  <a:cubicBezTo>
                    <a:pt x="0" y="24511"/>
                    <a:pt x="24511" y="0"/>
                    <a:pt x="54864" y="0"/>
                  </a:cubicBezTo>
                  <a:cubicBezTo>
                    <a:pt x="85217" y="0"/>
                    <a:pt x="109728" y="24511"/>
                    <a:pt x="109728" y="54864"/>
                  </a:cubicBezTo>
                  <a:cubicBezTo>
                    <a:pt x="109728" y="85217"/>
                    <a:pt x="85217" y="109728"/>
                    <a:pt x="54864" y="109728"/>
                  </a:cubicBezTo>
                  <a:cubicBezTo>
                    <a:pt x="24511" y="109728"/>
                    <a:pt x="0" y="85217"/>
                    <a:pt x="0" y="54864"/>
                  </a:cubicBezTo>
                  <a:close/>
                </a:path>
              </a:pathLst>
            </a:custGeom>
            <a:solidFill>
              <a:srgbClr val="7DC242"/>
            </a:solidFill>
          </p:spPr>
        </p:sp>
      </p:grpSp>
      <p:grpSp>
        <p:nvGrpSpPr>
          <p:cNvPr name="Group 51" id="51"/>
          <p:cNvGrpSpPr/>
          <p:nvPr/>
        </p:nvGrpSpPr>
        <p:grpSpPr>
          <a:xfrm rot="0">
            <a:off x="733508" y="6437252"/>
            <a:ext cx="5430338" cy="647451"/>
            <a:chOff x="0" y="0"/>
            <a:chExt cx="4084320" cy="486967"/>
          </a:xfrm>
        </p:grpSpPr>
        <p:sp>
          <p:nvSpPr>
            <p:cNvPr name="Freeform 52" id="52"/>
            <p:cNvSpPr/>
            <p:nvPr/>
          </p:nvSpPr>
          <p:spPr>
            <a:xfrm flipH="false" flipV="false" rot="0">
              <a:off x="0" y="0"/>
              <a:ext cx="4084320" cy="486967"/>
            </a:xfrm>
            <a:custGeom>
              <a:avLst/>
              <a:gdLst/>
              <a:ahLst/>
              <a:cxnLst/>
              <a:rect r="r" b="b" t="t" l="l"/>
              <a:pathLst>
                <a:path h="486967" w="4084320">
                  <a:moveTo>
                    <a:pt x="0" y="0"/>
                  </a:moveTo>
                  <a:lnTo>
                    <a:pt x="4084320" y="0"/>
                  </a:lnTo>
                  <a:lnTo>
                    <a:pt x="4084320" y="486967"/>
                  </a:lnTo>
                  <a:lnTo>
                    <a:pt x="0" y="486967"/>
                  </a:lnTo>
                  <a:close/>
                </a:path>
              </a:pathLst>
            </a:custGeom>
            <a:blipFill>
              <a:blip r:embed="rId4">
                <a:alphaModFix amt="0"/>
              </a:blip>
              <a:stretch>
                <a:fillRect l="0" t="-138389" r="0" b="-88462"/>
              </a:stretch>
            </a:blipFill>
          </p:spPr>
        </p:sp>
        <p:sp>
          <p:nvSpPr>
            <p:cNvPr name="TextBox 53" id="53"/>
            <p:cNvSpPr txBox="true"/>
            <p:nvPr/>
          </p:nvSpPr>
          <p:spPr>
            <a:xfrm>
              <a:off x="0" y="-38100"/>
              <a:ext cx="4084320" cy="525067"/>
            </a:xfrm>
            <a:prstGeom prst="rect">
              <a:avLst/>
            </a:prstGeom>
          </p:spPr>
          <p:txBody>
            <a:bodyPr anchor="ctr" rtlCol="false" tIns="0" lIns="0" bIns="0" rIns="0"/>
            <a:lstStyle/>
            <a:p>
              <a:pPr algn="l">
                <a:lnSpc>
                  <a:spcPts val="2459"/>
                </a:lnSpc>
              </a:pPr>
              <a:r>
                <a:rPr lang="en-US" sz="2049" b="true">
                  <a:solidFill>
                    <a:srgbClr val="0B2E3C"/>
                  </a:solidFill>
                  <a:latin typeface="Calibri (MS) Bold"/>
                  <a:ea typeface="Calibri (MS) Bold"/>
                  <a:cs typeface="Calibri (MS) Bold"/>
                  <a:sym typeface="Calibri (MS) Bold"/>
                </a:rPr>
                <a:t>Electrical inspection teams</a:t>
              </a:r>
            </a:p>
          </p:txBody>
        </p:sp>
      </p:grpSp>
      <p:sp>
        <p:nvSpPr>
          <p:cNvPr name="TextBox 54" id="54"/>
          <p:cNvSpPr txBox="true"/>
          <p:nvPr/>
        </p:nvSpPr>
        <p:spPr>
          <a:xfrm rot="0">
            <a:off x="733508" y="6959418"/>
            <a:ext cx="5240618" cy="1118764"/>
          </a:xfrm>
          <a:prstGeom prst="rect">
            <a:avLst/>
          </a:prstGeom>
        </p:spPr>
        <p:txBody>
          <a:bodyPr anchor="t" rtlCol="false" tIns="0" lIns="0" bIns="0" rIns="0">
            <a:spAutoFit/>
          </a:bodyPr>
          <a:lstStyle/>
          <a:p>
            <a:pPr algn="l">
              <a:lnSpc>
                <a:spcPts val="2233"/>
              </a:lnSpc>
            </a:pPr>
            <a:r>
              <a:rPr lang="en-US" sz="1861">
                <a:solidFill>
                  <a:srgbClr val="35575C"/>
                </a:solidFill>
                <a:latin typeface="Calibri (MS)"/>
                <a:ea typeface="Calibri (MS)"/>
                <a:cs typeface="Calibri (MS)"/>
                <a:sym typeface="Calibri (MS)"/>
              </a:rPr>
              <a:t>They </a:t>
            </a:r>
            <a:r>
              <a:rPr lang="en-US" sz="1861">
                <a:solidFill>
                  <a:srgbClr val="35575C"/>
                </a:solidFill>
                <a:latin typeface="Calibri (MS)"/>
                <a:ea typeface="Calibri (MS)"/>
                <a:cs typeface="Calibri (MS)"/>
                <a:sym typeface="Calibri (MS)"/>
              </a:rPr>
              <a:t>check panels and high-voltage equipment for early damage. our device can detect it from a distance, so they don't have to get close to live equipment.</a:t>
            </a:r>
          </a:p>
        </p:txBody>
      </p:sp>
      <p:grpSp>
        <p:nvGrpSpPr>
          <p:cNvPr name="Group 55" id="55"/>
          <p:cNvGrpSpPr/>
          <p:nvPr/>
        </p:nvGrpSpPr>
        <p:grpSpPr>
          <a:xfrm rot="0">
            <a:off x="6476701" y="2815925"/>
            <a:ext cx="5967733" cy="5477718"/>
            <a:chOff x="0" y="0"/>
            <a:chExt cx="4468131" cy="4101249"/>
          </a:xfrm>
        </p:grpSpPr>
        <p:sp>
          <p:nvSpPr>
            <p:cNvPr name="Freeform 56" id="56"/>
            <p:cNvSpPr/>
            <p:nvPr/>
          </p:nvSpPr>
          <p:spPr>
            <a:xfrm flipH="false" flipV="false" rot="0">
              <a:off x="0" y="0"/>
              <a:ext cx="4468095" cy="4101211"/>
            </a:xfrm>
            <a:custGeom>
              <a:avLst/>
              <a:gdLst/>
              <a:ahLst/>
              <a:cxnLst/>
              <a:rect r="r" b="b" t="t" l="l"/>
              <a:pathLst>
                <a:path h="4101211" w="4468095">
                  <a:moveTo>
                    <a:pt x="0" y="97917"/>
                  </a:moveTo>
                  <a:cubicBezTo>
                    <a:pt x="0" y="43815"/>
                    <a:pt x="41558" y="0"/>
                    <a:pt x="92872" y="0"/>
                  </a:cubicBezTo>
                  <a:lnTo>
                    <a:pt x="4375223" y="0"/>
                  </a:lnTo>
                  <a:cubicBezTo>
                    <a:pt x="4426537" y="0"/>
                    <a:pt x="4468095" y="43815"/>
                    <a:pt x="4468095" y="97917"/>
                  </a:cubicBezTo>
                  <a:lnTo>
                    <a:pt x="4468095" y="4003294"/>
                  </a:lnTo>
                  <a:cubicBezTo>
                    <a:pt x="4468095" y="4057396"/>
                    <a:pt x="4426537" y="4101211"/>
                    <a:pt x="4375223" y="4101211"/>
                  </a:cubicBezTo>
                  <a:lnTo>
                    <a:pt x="92872" y="4101211"/>
                  </a:lnTo>
                  <a:cubicBezTo>
                    <a:pt x="41558" y="4101211"/>
                    <a:pt x="0" y="4057396"/>
                    <a:pt x="0" y="4003294"/>
                  </a:cubicBezTo>
                  <a:close/>
                </a:path>
              </a:pathLst>
            </a:custGeom>
            <a:solidFill>
              <a:srgbClr val="FFFFFF"/>
            </a:solidFill>
            <a:ln w="12700" cap="sq">
              <a:solidFill>
                <a:srgbClr val="BFE0CC"/>
              </a:solidFill>
              <a:prstDash val="solid"/>
              <a:miter/>
            </a:ln>
          </p:spPr>
        </p:sp>
      </p:grpSp>
      <p:grpSp>
        <p:nvGrpSpPr>
          <p:cNvPr name="Group 57" id="57"/>
          <p:cNvGrpSpPr/>
          <p:nvPr/>
        </p:nvGrpSpPr>
        <p:grpSpPr>
          <a:xfrm rot="0">
            <a:off x="6487916" y="2827141"/>
            <a:ext cx="5956518" cy="839401"/>
            <a:chOff x="0" y="0"/>
            <a:chExt cx="4498848" cy="633984"/>
          </a:xfrm>
        </p:grpSpPr>
        <p:sp>
          <p:nvSpPr>
            <p:cNvPr name="Freeform 58" id="58"/>
            <p:cNvSpPr/>
            <p:nvPr/>
          </p:nvSpPr>
          <p:spPr>
            <a:xfrm flipH="false" flipV="false" rot="0">
              <a:off x="0" y="0"/>
              <a:ext cx="4498848" cy="633984"/>
            </a:xfrm>
            <a:custGeom>
              <a:avLst/>
              <a:gdLst/>
              <a:ahLst/>
              <a:cxnLst/>
              <a:rect r="r" b="b" t="t" l="l"/>
              <a:pathLst>
                <a:path h="633984" w="4498848">
                  <a:moveTo>
                    <a:pt x="101273" y="0"/>
                  </a:moveTo>
                  <a:lnTo>
                    <a:pt x="4397575" y="0"/>
                  </a:lnTo>
                  <a:cubicBezTo>
                    <a:pt x="4453567" y="0"/>
                    <a:pt x="4498848" y="47371"/>
                    <a:pt x="4498848" y="105664"/>
                  </a:cubicBezTo>
                  <a:lnTo>
                    <a:pt x="4498848" y="633984"/>
                  </a:lnTo>
                  <a:lnTo>
                    <a:pt x="0" y="633984"/>
                  </a:lnTo>
                  <a:lnTo>
                    <a:pt x="0" y="105664"/>
                  </a:lnTo>
                  <a:cubicBezTo>
                    <a:pt x="0" y="47371"/>
                    <a:pt x="45402" y="0"/>
                    <a:pt x="101273" y="0"/>
                  </a:cubicBezTo>
                  <a:close/>
                </a:path>
              </a:pathLst>
            </a:custGeom>
            <a:solidFill>
              <a:srgbClr val="0E8A6B"/>
            </a:solidFill>
          </p:spPr>
        </p:sp>
      </p:grpSp>
      <p:grpSp>
        <p:nvGrpSpPr>
          <p:cNvPr name="Group 59" id="59"/>
          <p:cNvGrpSpPr/>
          <p:nvPr/>
        </p:nvGrpSpPr>
        <p:grpSpPr>
          <a:xfrm rot="0">
            <a:off x="6681624" y="2956279"/>
            <a:ext cx="581124" cy="581124"/>
            <a:chOff x="0" y="0"/>
            <a:chExt cx="438912" cy="438912"/>
          </a:xfrm>
        </p:grpSpPr>
        <p:sp>
          <p:nvSpPr>
            <p:cNvPr name="Freeform 60" id="60"/>
            <p:cNvSpPr/>
            <p:nvPr/>
          </p:nvSpPr>
          <p:spPr>
            <a:xfrm flipH="false" flipV="false" rot="0">
              <a:off x="0" y="0"/>
              <a:ext cx="438912" cy="438912"/>
            </a:xfrm>
            <a:custGeom>
              <a:avLst/>
              <a:gdLst/>
              <a:ahLst/>
              <a:cxnLst/>
              <a:rect r="r" b="b" t="t" l="l"/>
              <a:pathLst>
                <a:path h="438912" w="438912">
                  <a:moveTo>
                    <a:pt x="0" y="219456"/>
                  </a:moveTo>
                  <a:lnTo>
                    <a:pt x="109728" y="0"/>
                  </a:lnTo>
                  <a:lnTo>
                    <a:pt x="329184" y="0"/>
                  </a:lnTo>
                  <a:lnTo>
                    <a:pt x="438912" y="219456"/>
                  </a:lnTo>
                  <a:lnTo>
                    <a:pt x="329184" y="438912"/>
                  </a:lnTo>
                  <a:lnTo>
                    <a:pt x="109728" y="438912"/>
                  </a:lnTo>
                  <a:close/>
                </a:path>
              </a:pathLst>
            </a:custGeom>
            <a:solidFill>
              <a:srgbClr val="7DC242"/>
            </a:solidFill>
          </p:spPr>
        </p:sp>
      </p:grpSp>
      <p:grpSp>
        <p:nvGrpSpPr>
          <p:cNvPr name="Group 61" id="61"/>
          <p:cNvGrpSpPr/>
          <p:nvPr/>
        </p:nvGrpSpPr>
        <p:grpSpPr>
          <a:xfrm rot="0">
            <a:off x="6681624" y="2956279"/>
            <a:ext cx="581124" cy="581124"/>
            <a:chOff x="0" y="0"/>
            <a:chExt cx="438912" cy="438912"/>
          </a:xfrm>
        </p:grpSpPr>
        <p:sp>
          <p:nvSpPr>
            <p:cNvPr name="Freeform 62" id="62"/>
            <p:cNvSpPr/>
            <p:nvPr/>
          </p:nvSpPr>
          <p:spPr>
            <a:xfrm flipH="false" flipV="false" rot="0">
              <a:off x="0" y="0"/>
              <a:ext cx="438912" cy="438912"/>
            </a:xfrm>
            <a:custGeom>
              <a:avLst/>
              <a:gdLst/>
              <a:ahLst/>
              <a:cxnLst/>
              <a:rect r="r" b="b" t="t" l="l"/>
              <a:pathLst>
                <a:path h="438912" w="438912">
                  <a:moveTo>
                    <a:pt x="0" y="0"/>
                  </a:moveTo>
                  <a:lnTo>
                    <a:pt x="438912" y="0"/>
                  </a:lnTo>
                  <a:lnTo>
                    <a:pt x="438912" y="438912"/>
                  </a:lnTo>
                  <a:lnTo>
                    <a:pt x="0" y="438912"/>
                  </a:lnTo>
                  <a:close/>
                </a:path>
              </a:pathLst>
            </a:custGeom>
            <a:blipFill>
              <a:blip r:embed="rId4">
                <a:alphaModFix amt="0"/>
              </a:blip>
              <a:stretch>
                <a:fillRect l="-78303" t="0" r="-78303" b="0"/>
              </a:stretch>
            </a:blipFill>
          </p:spPr>
        </p:sp>
        <p:sp>
          <p:nvSpPr>
            <p:cNvPr name="TextBox 63" id="63"/>
            <p:cNvSpPr txBox="true"/>
            <p:nvPr/>
          </p:nvSpPr>
          <p:spPr>
            <a:xfrm>
              <a:off x="0" y="-28575"/>
              <a:ext cx="438912" cy="467487"/>
            </a:xfrm>
            <a:prstGeom prst="rect">
              <a:avLst/>
            </a:prstGeom>
          </p:spPr>
          <p:txBody>
            <a:bodyPr anchor="ctr" rtlCol="false" tIns="0" lIns="0" bIns="0" rIns="0"/>
            <a:lstStyle/>
            <a:p>
              <a:pPr algn="ctr">
                <a:lnSpc>
                  <a:spcPts val="1559"/>
                </a:lnSpc>
              </a:pPr>
              <a:r>
                <a:rPr lang="en-US" sz="1299" b="true">
                  <a:solidFill>
                    <a:srgbClr val="072C35"/>
                  </a:solidFill>
                  <a:latin typeface="Calibri (MS) Bold"/>
                  <a:ea typeface="Calibri (MS) Bold"/>
                  <a:cs typeface="Calibri (MS) Bold"/>
                  <a:sym typeface="Calibri (MS) Bold"/>
                </a:rPr>
                <a:t>2</a:t>
              </a:r>
            </a:p>
          </p:txBody>
        </p:sp>
      </p:grpSp>
      <p:grpSp>
        <p:nvGrpSpPr>
          <p:cNvPr name="Group 64" id="64"/>
          <p:cNvGrpSpPr/>
          <p:nvPr/>
        </p:nvGrpSpPr>
        <p:grpSpPr>
          <a:xfrm rot="0">
            <a:off x="7415271" y="2222962"/>
            <a:ext cx="5117117" cy="2049580"/>
            <a:chOff x="0" y="0"/>
            <a:chExt cx="3864864" cy="1548010"/>
          </a:xfrm>
        </p:grpSpPr>
        <p:sp>
          <p:nvSpPr>
            <p:cNvPr name="Freeform 65" id="65"/>
            <p:cNvSpPr/>
            <p:nvPr/>
          </p:nvSpPr>
          <p:spPr>
            <a:xfrm flipH="false" flipV="false" rot="0">
              <a:off x="0" y="0"/>
              <a:ext cx="3864864" cy="1548010"/>
            </a:xfrm>
            <a:custGeom>
              <a:avLst/>
              <a:gdLst/>
              <a:ahLst/>
              <a:cxnLst/>
              <a:rect r="r" b="b" t="t" l="l"/>
              <a:pathLst>
                <a:path h="1548010" w="3864864">
                  <a:moveTo>
                    <a:pt x="0" y="0"/>
                  </a:moveTo>
                  <a:lnTo>
                    <a:pt x="3864864" y="0"/>
                  </a:lnTo>
                  <a:lnTo>
                    <a:pt x="3864864" y="1548010"/>
                  </a:lnTo>
                  <a:lnTo>
                    <a:pt x="0" y="1548010"/>
                  </a:lnTo>
                  <a:close/>
                </a:path>
              </a:pathLst>
            </a:custGeom>
            <a:blipFill>
              <a:blip r:embed="rId4">
                <a:alphaModFix amt="0"/>
              </a:blip>
              <a:stretch>
                <a:fillRect l="0" t="-38408" r="0" b="41113"/>
              </a:stretch>
            </a:blipFill>
          </p:spPr>
        </p:sp>
        <p:sp>
          <p:nvSpPr>
            <p:cNvPr name="TextBox 66" id="66"/>
            <p:cNvSpPr txBox="true"/>
            <p:nvPr/>
          </p:nvSpPr>
          <p:spPr>
            <a:xfrm>
              <a:off x="0" y="-9525"/>
              <a:ext cx="3864864" cy="1557535"/>
            </a:xfrm>
            <a:prstGeom prst="rect">
              <a:avLst/>
            </a:prstGeom>
          </p:spPr>
          <p:txBody>
            <a:bodyPr anchor="ctr" rtlCol="false" tIns="0" lIns="0" bIns="0" rIns="0"/>
            <a:lstStyle/>
            <a:p>
              <a:pPr algn="l">
                <a:lnSpc>
                  <a:spcPts val="3359"/>
                </a:lnSpc>
              </a:pPr>
              <a:r>
                <a:rPr lang="en-US" sz="2799" b="true">
                  <a:solidFill>
                    <a:srgbClr val="FFFFFF"/>
                  </a:solidFill>
                  <a:latin typeface="Cambria Bold"/>
                  <a:ea typeface="Cambria Bold"/>
                  <a:cs typeface="Cambria Bold"/>
                  <a:sym typeface="Cambria Bold"/>
                </a:rPr>
                <a:t>Secondary stakeholders</a:t>
              </a:r>
            </a:p>
          </p:txBody>
        </p:sp>
      </p:grpSp>
      <p:grpSp>
        <p:nvGrpSpPr>
          <p:cNvPr name="Group 67" id="67"/>
          <p:cNvGrpSpPr/>
          <p:nvPr/>
        </p:nvGrpSpPr>
        <p:grpSpPr>
          <a:xfrm rot="0">
            <a:off x="6746194" y="3940961"/>
            <a:ext cx="145281" cy="145281"/>
            <a:chOff x="0" y="0"/>
            <a:chExt cx="109728" cy="109728"/>
          </a:xfrm>
        </p:grpSpPr>
        <p:sp>
          <p:nvSpPr>
            <p:cNvPr name="Freeform 68" id="68"/>
            <p:cNvSpPr/>
            <p:nvPr/>
          </p:nvSpPr>
          <p:spPr>
            <a:xfrm flipH="false" flipV="false" rot="0">
              <a:off x="0" y="0"/>
              <a:ext cx="109728" cy="109728"/>
            </a:xfrm>
            <a:custGeom>
              <a:avLst/>
              <a:gdLst/>
              <a:ahLst/>
              <a:cxnLst/>
              <a:rect r="r" b="b" t="t" l="l"/>
              <a:pathLst>
                <a:path h="109728" w="109728">
                  <a:moveTo>
                    <a:pt x="0" y="54864"/>
                  </a:moveTo>
                  <a:cubicBezTo>
                    <a:pt x="0" y="24511"/>
                    <a:pt x="24511" y="0"/>
                    <a:pt x="54864" y="0"/>
                  </a:cubicBezTo>
                  <a:cubicBezTo>
                    <a:pt x="85217" y="0"/>
                    <a:pt x="109728" y="24511"/>
                    <a:pt x="109728" y="54864"/>
                  </a:cubicBezTo>
                  <a:cubicBezTo>
                    <a:pt x="109728" y="85217"/>
                    <a:pt x="85217" y="109728"/>
                    <a:pt x="54864" y="109728"/>
                  </a:cubicBezTo>
                  <a:cubicBezTo>
                    <a:pt x="24511" y="109728"/>
                    <a:pt x="0" y="85217"/>
                    <a:pt x="0" y="54864"/>
                  </a:cubicBezTo>
                  <a:close/>
                </a:path>
              </a:pathLst>
            </a:custGeom>
            <a:solidFill>
              <a:srgbClr val="7DC242"/>
            </a:solidFill>
          </p:spPr>
        </p:sp>
      </p:grpSp>
      <p:grpSp>
        <p:nvGrpSpPr>
          <p:cNvPr name="Group 69" id="69"/>
          <p:cNvGrpSpPr/>
          <p:nvPr/>
        </p:nvGrpSpPr>
        <p:grpSpPr>
          <a:xfrm rot="0">
            <a:off x="7036755" y="3860249"/>
            <a:ext cx="5407679" cy="406190"/>
            <a:chOff x="0" y="0"/>
            <a:chExt cx="4084320" cy="306787"/>
          </a:xfrm>
        </p:grpSpPr>
        <p:sp>
          <p:nvSpPr>
            <p:cNvPr name="Freeform 70" id="70"/>
            <p:cNvSpPr/>
            <p:nvPr/>
          </p:nvSpPr>
          <p:spPr>
            <a:xfrm flipH="false" flipV="false" rot="0">
              <a:off x="0" y="0"/>
              <a:ext cx="4084320" cy="306787"/>
            </a:xfrm>
            <a:custGeom>
              <a:avLst/>
              <a:gdLst/>
              <a:ahLst/>
              <a:cxnLst/>
              <a:rect r="r" b="b" t="t" l="l"/>
              <a:pathLst>
                <a:path h="306787" w="4084320">
                  <a:moveTo>
                    <a:pt x="0" y="0"/>
                  </a:moveTo>
                  <a:lnTo>
                    <a:pt x="4084320" y="0"/>
                  </a:lnTo>
                  <a:lnTo>
                    <a:pt x="4084320" y="306787"/>
                  </a:lnTo>
                  <a:lnTo>
                    <a:pt x="0" y="306787"/>
                  </a:lnTo>
                  <a:close/>
                </a:path>
              </a:pathLst>
            </a:custGeom>
            <a:blipFill>
              <a:blip r:embed="rId4">
                <a:alphaModFix amt="0"/>
              </a:blip>
              <a:stretch>
                <a:fillRect l="0" t="-219667" r="0" b="-199148"/>
              </a:stretch>
            </a:blipFill>
          </p:spPr>
        </p:sp>
        <p:sp>
          <p:nvSpPr>
            <p:cNvPr name="TextBox 71" id="71"/>
            <p:cNvSpPr txBox="true"/>
            <p:nvPr/>
          </p:nvSpPr>
          <p:spPr>
            <a:xfrm>
              <a:off x="0" y="-38100"/>
              <a:ext cx="4084320" cy="344887"/>
            </a:xfrm>
            <a:prstGeom prst="rect">
              <a:avLst/>
            </a:prstGeom>
          </p:spPr>
          <p:txBody>
            <a:bodyPr anchor="ctr" rtlCol="false" tIns="0" lIns="0" bIns="0" rIns="0"/>
            <a:lstStyle/>
            <a:p>
              <a:pPr algn="l">
                <a:lnSpc>
                  <a:spcPts val="2459"/>
                </a:lnSpc>
              </a:pPr>
              <a:r>
                <a:rPr lang="en-US" sz="2049" b="true">
                  <a:solidFill>
                    <a:srgbClr val="0B2E3C"/>
                  </a:solidFill>
                  <a:latin typeface="Calibri (MS) Bold"/>
                  <a:ea typeface="Calibri (MS) Bold"/>
                  <a:cs typeface="Calibri (MS) Bold"/>
                  <a:sym typeface="Calibri (MS) Bold"/>
                </a:rPr>
                <a:t>Plant &amp; operations managers</a:t>
              </a:r>
            </a:p>
          </p:txBody>
        </p:sp>
      </p:grpSp>
      <p:sp>
        <p:nvSpPr>
          <p:cNvPr name="TextBox 72" id="72"/>
          <p:cNvSpPr txBox="true"/>
          <p:nvPr/>
        </p:nvSpPr>
        <p:spPr>
          <a:xfrm rot="0">
            <a:off x="7036755" y="4259411"/>
            <a:ext cx="5407679" cy="576177"/>
          </a:xfrm>
          <a:prstGeom prst="rect">
            <a:avLst/>
          </a:prstGeom>
        </p:spPr>
        <p:txBody>
          <a:bodyPr anchor="t" rtlCol="false" tIns="0" lIns="0" bIns="0" rIns="0">
            <a:spAutoFit/>
          </a:bodyPr>
          <a:lstStyle/>
          <a:p>
            <a:pPr algn="l">
              <a:lnSpc>
                <a:spcPts val="2224"/>
              </a:lnSpc>
            </a:pPr>
            <a:r>
              <a:rPr lang="en-US" sz="1853">
                <a:solidFill>
                  <a:srgbClr val="35575C"/>
                </a:solidFill>
                <a:latin typeface="Calibri (MS)"/>
                <a:ea typeface="Calibri (MS)"/>
                <a:cs typeface="Calibri (MS)"/>
                <a:sym typeface="Calibri (MS)"/>
              </a:rPr>
              <a:t>They approve the budget and want f</a:t>
            </a:r>
            <a:r>
              <a:rPr lang="en-US" sz="1853">
                <a:solidFill>
                  <a:srgbClr val="35575C"/>
                </a:solidFill>
                <a:latin typeface="Calibri (MS)"/>
                <a:ea typeface="Calibri (MS)"/>
                <a:cs typeface="Calibri (MS)"/>
                <a:sym typeface="Calibri (MS)"/>
              </a:rPr>
              <a:t>ewer breakdowns and fewer surprises.</a:t>
            </a:r>
          </a:p>
        </p:txBody>
      </p:sp>
      <p:grpSp>
        <p:nvGrpSpPr>
          <p:cNvPr name="Group 73" id="73"/>
          <p:cNvGrpSpPr/>
          <p:nvPr/>
        </p:nvGrpSpPr>
        <p:grpSpPr>
          <a:xfrm rot="0">
            <a:off x="6746194" y="5110510"/>
            <a:ext cx="145281" cy="145281"/>
            <a:chOff x="0" y="0"/>
            <a:chExt cx="109728" cy="109728"/>
          </a:xfrm>
        </p:grpSpPr>
        <p:sp>
          <p:nvSpPr>
            <p:cNvPr name="Freeform 74" id="74"/>
            <p:cNvSpPr/>
            <p:nvPr/>
          </p:nvSpPr>
          <p:spPr>
            <a:xfrm flipH="false" flipV="false" rot="0">
              <a:off x="0" y="0"/>
              <a:ext cx="109728" cy="109728"/>
            </a:xfrm>
            <a:custGeom>
              <a:avLst/>
              <a:gdLst/>
              <a:ahLst/>
              <a:cxnLst/>
              <a:rect r="r" b="b" t="t" l="l"/>
              <a:pathLst>
                <a:path h="109728" w="109728">
                  <a:moveTo>
                    <a:pt x="0" y="54864"/>
                  </a:moveTo>
                  <a:cubicBezTo>
                    <a:pt x="0" y="24511"/>
                    <a:pt x="24511" y="0"/>
                    <a:pt x="54864" y="0"/>
                  </a:cubicBezTo>
                  <a:cubicBezTo>
                    <a:pt x="85217" y="0"/>
                    <a:pt x="109728" y="24511"/>
                    <a:pt x="109728" y="54864"/>
                  </a:cubicBezTo>
                  <a:cubicBezTo>
                    <a:pt x="109728" y="85217"/>
                    <a:pt x="85217" y="109728"/>
                    <a:pt x="54864" y="109728"/>
                  </a:cubicBezTo>
                  <a:cubicBezTo>
                    <a:pt x="24511" y="109728"/>
                    <a:pt x="0" y="85217"/>
                    <a:pt x="0" y="54864"/>
                  </a:cubicBezTo>
                  <a:close/>
                </a:path>
              </a:pathLst>
            </a:custGeom>
            <a:solidFill>
              <a:srgbClr val="7DC242"/>
            </a:solidFill>
          </p:spPr>
        </p:sp>
      </p:grpSp>
      <p:grpSp>
        <p:nvGrpSpPr>
          <p:cNvPr name="Group 75" id="75"/>
          <p:cNvGrpSpPr/>
          <p:nvPr/>
        </p:nvGrpSpPr>
        <p:grpSpPr>
          <a:xfrm rot="0">
            <a:off x="7036755" y="5006354"/>
            <a:ext cx="5407679" cy="391723"/>
            <a:chOff x="0" y="0"/>
            <a:chExt cx="4084320" cy="295861"/>
          </a:xfrm>
        </p:grpSpPr>
        <p:sp>
          <p:nvSpPr>
            <p:cNvPr name="Freeform 76" id="76"/>
            <p:cNvSpPr/>
            <p:nvPr/>
          </p:nvSpPr>
          <p:spPr>
            <a:xfrm flipH="false" flipV="false" rot="0">
              <a:off x="0" y="0"/>
              <a:ext cx="4084320" cy="295861"/>
            </a:xfrm>
            <a:custGeom>
              <a:avLst/>
              <a:gdLst/>
              <a:ahLst/>
              <a:cxnLst/>
              <a:rect r="r" b="b" t="t" l="l"/>
              <a:pathLst>
                <a:path h="295861" w="4084320">
                  <a:moveTo>
                    <a:pt x="0" y="0"/>
                  </a:moveTo>
                  <a:lnTo>
                    <a:pt x="4084320" y="0"/>
                  </a:lnTo>
                  <a:lnTo>
                    <a:pt x="4084320" y="295861"/>
                  </a:lnTo>
                  <a:lnTo>
                    <a:pt x="0" y="295861"/>
                  </a:lnTo>
                  <a:close/>
                </a:path>
              </a:pathLst>
            </a:custGeom>
            <a:blipFill>
              <a:blip r:embed="rId4">
                <a:alphaModFix amt="0"/>
              </a:blip>
              <a:stretch>
                <a:fillRect l="0" t="-227779" r="0" b="-210196"/>
              </a:stretch>
            </a:blipFill>
          </p:spPr>
        </p:sp>
        <p:sp>
          <p:nvSpPr>
            <p:cNvPr name="TextBox 77" id="77"/>
            <p:cNvSpPr txBox="true"/>
            <p:nvPr/>
          </p:nvSpPr>
          <p:spPr>
            <a:xfrm>
              <a:off x="0" y="-47625"/>
              <a:ext cx="4084320" cy="343486"/>
            </a:xfrm>
            <a:prstGeom prst="rect">
              <a:avLst/>
            </a:prstGeom>
          </p:spPr>
          <p:txBody>
            <a:bodyPr anchor="ctr" rtlCol="false" tIns="0" lIns="0" bIns="0" rIns="0"/>
            <a:lstStyle/>
            <a:p>
              <a:pPr algn="l">
                <a:lnSpc>
                  <a:spcPts val="2339"/>
                </a:lnSpc>
              </a:pPr>
              <a:r>
                <a:rPr lang="en-US" sz="1949" b="true">
                  <a:solidFill>
                    <a:srgbClr val="0B2E3C"/>
                  </a:solidFill>
                  <a:latin typeface="Calibri (MS) Bold"/>
                  <a:ea typeface="Calibri (MS) Bold"/>
                  <a:cs typeface="Calibri (MS) Bold"/>
                  <a:sym typeface="Calibri (MS) Bold"/>
                </a:rPr>
                <a:t>Safety (EHS) officers</a:t>
              </a:r>
            </a:p>
          </p:txBody>
        </p:sp>
      </p:grpSp>
      <p:sp>
        <p:nvSpPr>
          <p:cNvPr name="TextBox 78" id="78"/>
          <p:cNvSpPr txBox="true"/>
          <p:nvPr/>
        </p:nvSpPr>
        <p:spPr>
          <a:xfrm rot="0">
            <a:off x="7036755" y="5368784"/>
            <a:ext cx="5407679" cy="576177"/>
          </a:xfrm>
          <a:prstGeom prst="rect">
            <a:avLst/>
          </a:prstGeom>
        </p:spPr>
        <p:txBody>
          <a:bodyPr anchor="t" rtlCol="false" tIns="0" lIns="0" bIns="0" rIns="0">
            <a:spAutoFit/>
          </a:bodyPr>
          <a:lstStyle/>
          <a:p>
            <a:pPr algn="l">
              <a:lnSpc>
                <a:spcPts val="2224"/>
              </a:lnSpc>
            </a:pPr>
            <a:r>
              <a:rPr lang="en-US" sz="1853">
                <a:solidFill>
                  <a:srgbClr val="35575C"/>
                </a:solidFill>
                <a:latin typeface="Calibri (MS)"/>
                <a:ea typeface="Calibri (MS)"/>
                <a:cs typeface="Calibri (MS)"/>
                <a:sym typeface="Calibri (MS)"/>
              </a:rPr>
              <a:t>Th</a:t>
            </a:r>
            <a:r>
              <a:rPr lang="en-US" sz="1853">
                <a:solidFill>
                  <a:srgbClr val="35575C"/>
                </a:solidFill>
                <a:latin typeface="Calibri (MS)"/>
                <a:ea typeface="Calibri (MS)"/>
                <a:cs typeface="Calibri (MS)"/>
                <a:sym typeface="Calibri (MS)"/>
              </a:rPr>
              <a:t>ey worry about fires and electrical accidents, and our early warnings help them prevent those</a:t>
            </a:r>
          </a:p>
        </p:txBody>
      </p:sp>
      <p:grpSp>
        <p:nvGrpSpPr>
          <p:cNvPr name="Group 79" id="79"/>
          <p:cNvGrpSpPr/>
          <p:nvPr/>
        </p:nvGrpSpPr>
        <p:grpSpPr>
          <a:xfrm rot="0">
            <a:off x="6746194" y="6106684"/>
            <a:ext cx="145281" cy="145281"/>
            <a:chOff x="0" y="0"/>
            <a:chExt cx="109728" cy="109728"/>
          </a:xfrm>
        </p:grpSpPr>
        <p:sp>
          <p:nvSpPr>
            <p:cNvPr name="Freeform 80" id="80"/>
            <p:cNvSpPr/>
            <p:nvPr/>
          </p:nvSpPr>
          <p:spPr>
            <a:xfrm flipH="false" flipV="false" rot="0">
              <a:off x="0" y="0"/>
              <a:ext cx="109728" cy="109728"/>
            </a:xfrm>
            <a:custGeom>
              <a:avLst/>
              <a:gdLst/>
              <a:ahLst/>
              <a:cxnLst/>
              <a:rect r="r" b="b" t="t" l="l"/>
              <a:pathLst>
                <a:path h="109728" w="109728">
                  <a:moveTo>
                    <a:pt x="0" y="54864"/>
                  </a:moveTo>
                  <a:cubicBezTo>
                    <a:pt x="0" y="24511"/>
                    <a:pt x="24511" y="0"/>
                    <a:pt x="54864" y="0"/>
                  </a:cubicBezTo>
                  <a:cubicBezTo>
                    <a:pt x="85217" y="0"/>
                    <a:pt x="109728" y="24511"/>
                    <a:pt x="109728" y="54864"/>
                  </a:cubicBezTo>
                  <a:cubicBezTo>
                    <a:pt x="109728" y="85217"/>
                    <a:pt x="85217" y="109728"/>
                    <a:pt x="54864" y="109728"/>
                  </a:cubicBezTo>
                  <a:cubicBezTo>
                    <a:pt x="24511" y="109728"/>
                    <a:pt x="0" y="85217"/>
                    <a:pt x="0" y="54864"/>
                  </a:cubicBezTo>
                  <a:close/>
                </a:path>
              </a:pathLst>
            </a:custGeom>
            <a:solidFill>
              <a:srgbClr val="7DC242"/>
            </a:solidFill>
          </p:spPr>
        </p:sp>
      </p:grpSp>
      <p:grpSp>
        <p:nvGrpSpPr>
          <p:cNvPr name="Group 81" id="81"/>
          <p:cNvGrpSpPr/>
          <p:nvPr/>
        </p:nvGrpSpPr>
        <p:grpSpPr>
          <a:xfrm rot="0">
            <a:off x="7036755" y="5991036"/>
            <a:ext cx="5407679" cy="406190"/>
            <a:chOff x="0" y="0"/>
            <a:chExt cx="4084320" cy="306787"/>
          </a:xfrm>
        </p:grpSpPr>
        <p:sp>
          <p:nvSpPr>
            <p:cNvPr name="Freeform 82" id="82"/>
            <p:cNvSpPr/>
            <p:nvPr/>
          </p:nvSpPr>
          <p:spPr>
            <a:xfrm flipH="false" flipV="false" rot="0">
              <a:off x="0" y="0"/>
              <a:ext cx="4084320" cy="306787"/>
            </a:xfrm>
            <a:custGeom>
              <a:avLst/>
              <a:gdLst/>
              <a:ahLst/>
              <a:cxnLst/>
              <a:rect r="r" b="b" t="t" l="l"/>
              <a:pathLst>
                <a:path h="306787" w="4084320">
                  <a:moveTo>
                    <a:pt x="0" y="0"/>
                  </a:moveTo>
                  <a:lnTo>
                    <a:pt x="4084320" y="0"/>
                  </a:lnTo>
                  <a:lnTo>
                    <a:pt x="4084320" y="306787"/>
                  </a:lnTo>
                  <a:lnTo>
                    <a:pt x="0" y="306787"/>
                  </a:lnTo>
                  <a:close/>
                </a:path>
              </a:pathLst>
            </a:custGeom>
            <a:blipFill>
              <a:blip r:embed="rId4">
                <a:alphaModFix amt="0"/>
              </a:blip>
              <a:stretch>
                <a:fillRect l="0" t="-219667" r="0" b="-199148"/>
              </a:stretch>
            </a:blipFill>
          </p:spPr>
        </p:sp>
        <p:sp>
          <p:nvSpPr>
            <p:cNvPr name="TextBox 83" id="83"/>
            <p:cNvSpPr txBox="true"/>
            <p:nvPr/>
          </p:nvSpPr>
          <p:spPr>
            <a:xfrm>
              <a:off x="0" y="-38100"/>
              <a:ext cx="4084320" cy="344887"/>
            </a:xfrm>
            <a:prstGeom prst="rect">
              <a:avLst/>
            </a:prstGeom>
          </p:spPr>
          <p:txBody>
            <a:bodyPr anchor="ctr" rtlCol="false" tIns="0" lIns="0" bIns="0" rIns="0"/>
            <a:lstStyle/>
            <a:p>
              <a:pPr algn="l">
                <a:lnSpc>
                  <a:spcPts val="2459"/>
                </a:lnSpc>
              </a:pPr>
              <a:r>
                <a:rPr lang="en-US" sz="2049" b="true">
                  <a:solidFill>
                    <a:srgbClr val="0B2E3C"/>
                  </a:solidFill>
                  <a:latin typeface="Calibri (MS) Bold"/>
                  <a:ea typeface="Calibri (MS) Bold"/>
                  <a:cs typeface="Calibri (MS) Bold"/>
                  <a:sym typeface="Calibri (MS) Bold"/>
                </a:rPr>
                <a:t>Energy auditors</a:t>
              </a:r>
            </a:p>
          </p:txBody>
        </p:sp>
      </p:grpSp>
      <p:sp>
        <p:nvSpPr>
          <p:cNvPr name="TextBox 84" id="84"/>
          <p:cNvSpPr txBox="true"/>
          <p:nvPr/>
        </p:nvSpPr>
        <p:spPr>
          <a:xfrm rot="0">
            <a:off x="7036755" y="6404921"/>
            <a:ext cx="5407679" cy="576177"/>
          </a:xfrm>
          <a:prstGeom prst="rect">
            <a:avLst/>
          </a:prstGeom>
        </p:spPr>
        <p:txBody>
          <a:bodyPr anchor="t" rtlCol="false" tIns="0" lIns="0" bIns="0" rIns="0">
            <a:spAutoFit/>
          </a:bodyPr>
          <a:lstStyle/>
          <a:p>
            <a:pPr algn="l">
              <a:lnSpc>
                <a:spcPts val="2224"/>
              </a:lnSpc>
            </a:pPr>
            <a:r>
              <a:rPr lang="en-US" sz="1853">
                <a:solidFill>
                  <a:srgbClr val="35575C"/>
                </a:solidFill>
                <a:latin typeface="Calibri (MS)"/>
                <a:ea typeface="Calibri (MS)"/>
                <a:cs typeface="Calibri (MS)"/>
                <a:sym typeface="Calibri (MS)"/>
              </a:rPr>
              <a:t>They check how effic</a:t>
            </a:r>
            <a:r>
              <a:rPr lang="en-US" sz="1853">
                <a:solidFill>
                  <a:srgbClr val="35575C"/>
                </a:solidFill>
                <a:latin typeface="Calibri (MS)"/>
                <a:ea typeface="Calibri (MS)"/>
                <a:cs typeface="Calibri (MS)"/>
                <a:sym typeface="Calibri (MS)"/>
              </a:rPr>
              <a:t>iently a factory uses power, and your leak data gives them proof for their reports.</a:t>
            </a:r>
          </a:p>
        </p:txBody>
      </p:sp>
      <p:grpSp>
        <p:nvGrpSpPr>
          <p:cNvPr name="Group 85" id="85"/>
          <p:cNvGrpSpPr/>
          <p:nvPr/>
        </p:nvGrpSpPr>
        <p:grpSpPr>
          <a:xfrm rot="0">
            <a:off x="6748557" y="7175041"/>
            <a:ext cx="146555" cy="146555"/>
            <a:chOff x="0" y="0"/>
            <a:chExt cx="109728" cy="109728"/>
          </a:xfrm>
        </p:grpSpPr>
        <p:sp>
          <p:nvSpPr>
            <p:cNvPr name="Freeform 86" id="86"/>
            <p:cNvSpPr/>
            <p:nvPr/>
          </p:nvSpPr>
          <p:spPr>
            <a:xfrm flipH="false" flipV="false" rot="0">
              <a:off x="0" y="0"/>
              <a:ext cx="109728" cy="109728"/>
            </a:xfrm>
            <a:custGeom>
              <a:avLst/>
              <a:gdLst/>
              <a:ahLst/>
              <a:cxnLst/>
              <a:rect r="r" b="b" t="t" l="l"/>
              <a:pathLst>
                <a:path h="109728" w="109728">
                  <a:moveTo>
                    <a:pt x="0" y="54864"/>
                  </a:moveTo>
                  <a:cubicBezTo>
                    <a:pt x="0" y="24511"/>
                    <a:pt x="24511" y="0"/>
                    <a:pt x="54864" y="0"/>
                  </a:cubicBezTo>
                  <a:cubicBezTo>
                    <a:pt x="85217" y="0"/>
                    <a:pt x="109728" y="24511"/>
                    <a:pt x="109728" y="54864"/>
                  </a:cubicBezTo>
                  <a:cubicBezTo>
                    <a:pt x="109728" y="85217"/>
                    <a:pt x="85217" y="109728"/>
                    <a:pt x="54864" y="109728"/>
                  </a:cubicBezTo>
                  <a:cubicBezTo>
                    <a:pt x="24511" y="109728"/>
                    <a:pt x="0" y="85217"/>
                    <a:pt x="0" y="54864"/>
                  </a:cubicBezTo>
                  <a:close/>
                </a:path>
              </a:pathLst>
            </a:custGeom>
            <a:solidFill>
              <a:srgbClr val="7DC242"/>
            </a:solidFill>
          </p:spPr>
        </p:sp>
      </p:grpSp>
      <p:grpSp>
        <p:nvGrpSpPr>
          <p:cNvPr name="Group 87" id="87"/>
          <p:cNvGrpSpPr/>
          <p:nvPr/>
        </p:nvGrpSpPr>
        <p:grpSpPr>
          <a:xfrm rot="0">
            <a:off x="7036755" y="6981099"/>
            <a:ext cx="5407679" cy="492398"/>
            <a:chOff x="0" y="0"/>
            <a:chExt cx="4084320" cy="371899"/>
          </a:xfrm>
        </p:grpSpPr>
        <p:sp>
          <p:nvSpPr>
            <p:cNvPr name="Freeform 88" id="88"/>
            <p:cNvSpPr/>
            <p:nvPr/>
          </p:nvSpPr>
          <p:spPr>
            <a:xfrm flipH="false" flipV="false" rot="0">
              <a:off x="0" y="0"/>
              <a:ext cx="4084320" cy="371899"/>
            </a:xfrm>
            <a:custGeom>
              <a:avLst/>
              <a:gdLst/>
              <a:ahLst/>
              <a:cxnLst/>
              <a:rect r="r" b="b" t="t" l="l"/>
              <a:pathLst>
                <a:path h="371899" w="4084320">
                  <a:moveTo>
                    <a:pt x="0" y="0"/>
                  </a:moveTo>
                  <a:lnTo>
                    <a:pt x="4084320" y="0"/>
                  </a:lnTo>
                  <a:lnTo>
                    <a:pt x="4084320" y="371899"/>
                  </a:lnTo>
                  <a:lnTo>
                    <a:pt x="0" y="371899"/>
                  </a:lnTo>
                  <a:close/>
                </a:path>
              </a:pathLst>
            </a:custGeom>
            <a:blipFill>
              <a:blip r:embed="rId4">
                <a:alphaModFix amt="0"/>
              </a:blip>
              <a:stretch>
                <a:fillRect l="0" t="-181208" r="0" b="-146774"/>
              </a:stretch>
            </a:blipFill>
          </p:spPr>
        </p:sp>
        <p:sp>
          <p:nvSpPr>
            <p:cNvPr name="TextBox 89" id="89"/>
            <p:cNvSpPr txBox="true"/>
            <p:nvPr/>
          </p:nvSpPr>
          <p:spPr>
            <a:xfrm>
              <a:off x="0" y="-47625"/>
              <a:ext cx="4084320" cy="419524"/>
            </a:xfrm>
            <a:prstGeom prst="rect">
              <a:avLst/>
            </a:prstGeom>
          </p:spPr>
          <p:txBody>
            <a:bodyPr anchor="ctr" rtlCol="false" tIns="0" lIns="0" bIns="0" rIns="0"/>
            <a:lstStyle/>
            <a:p>
              <a:pPr algn="l">
                <a:lnSpc>
                  <a:spcPts val="2219"/>
                </a:lnSpc>
              </a:pPr>
              <a:r>
                <a:rPr lang="en-US" sz="1849" b="true">
                  <a:solidFill>
                    <a:srgbClr val="0B2E3C"/>
                  </a:solidFill>
                  <a:latin typeface="Calibri (MS) Bold"/>
                  <a:ea typeface="Calibri (MS) Bold"/>
                  <a:cs typeface="Calibri (MS) Bold"/>
                  <a:sym typeface="Calibri (MS) Bold"/>
                </a:rPr>
                <a:t>Equipment service vendors</a:t>
              </a:r>
            </a:p>
          </p:txBody>
        </p:sp>
      </p:grpSp>
      <p:sp>
        <p:nvSpPr>
          <p:cNvPr name="TextBox 90" id="90"/>
          <p:cNvSpPr txBox="true"/>
          <p:nvPr/>
        </p:nvSpPr>
        <p:spPr>
          <a:xfrm rot="0">
            <a:off x="7027223" y="7350941"/>
            <a:ext cx="5211607" cy="815952"/>
          </a:xfrm>
          <a:prstGeom prst="rect">
            <a:avLst/>
          </a:prstGeom>
        </p:spPr>
        <p:txBody>
          <a:bodyPr anchor="t" rtlCol="false" tIns="0" lIns="0" bIns="0" rIns="0">
            <a:spAutoFit/>
          </a:bodyPr>
          <a:lstStyle/>
          <a:p>
            <a:pPr algn="l">
              <a:lnSpc>
                <a:spcPts val="2143"/>
              </a:lnSpc>
            </a:pPr>
            <a:r>
              <a:rPr lang="en-US" sz="1786">
                <a:solidFill>
                  <a:srgbClr val="35575C"/>
                </a:solidFill>
                <a:latin typeface="Calibri (MS)"/>
                <a:ea typeface="Calibri (MS)"/>
                <a:cs typeface="Calibri (MS)"/>
                <a:sym typeface="Calibri (MS)"/>
              </a:rPr>
              <a:t>These </a:t>
            </a:r>
            <a:r>
              <a:rPr lang="en-US" sz="1786">
                <a:solidFill>
                  <a:srgbClr val="35575C"/>
                </a:solidFill>
                <a:latin typeface="Calibri (MS)"/>
                <a:ea typeface="Calibri (MS)"/>
                <a:cs typeface="Calibri (MS)"/>
                <a:sym typeface="Calibri (MS)"/>
              </a:rPr>
              <a:t>are the companies that service compressors and electrical panels. Your data helps them plan visits properly.</a:t>
            </a:r>
          </a:p>
        </p:txBody>
      </p:sp>
      <p:grpSp>
        <p:nvGrpSpPr>
          <p:cNvPr name="Group 91" id="91"/>
          <p:cNvGrpSpPr/>
          <p:nvPr/>
        </p:nvGrpSpPr>
        <p:grpSpPr>
          <a:xfrm rot="0">
            <a:off x="12722888" y="2869025"/>
            <a:ext cx="5220732" cy="5424618"/>
            <a:chOff x="0" y="0"/>
            <a:chExt cx="3947102" cy="4101249"/>
          </a:xfrm>
        </p:grpSpPr>
        <p:sp>
          <p:nvSpPr>
            <p:cNvPr name="Freeform 92" id="92"/>
            <p:cNvSpPr/>
            <p:nvPr/>
          </p:nvSpPr>
          <p:spPr>
            <a:xfrm flipH="false" flipV="false" rot="0">
              <a:off x="0" y="0"/>
              <a:ext cx="3947070" cy="4101211"/>
            </a:xfrm>
            <a:custGeom>
              <a:avLst/>
              <a:gdLst/>
              <a:ahLst/>
              <a:cxnLst/>
              <a:rect r="r" b="b" t="t" l="l"/>
              <a:pathLst>
                <a:path h="4101211" w="3947070">
                  <a:moveTo>
                    <a:pt x="0" y="97917"/>
                  </a:moveTo>
                  <a:cubicBezTo>
                    <a:pt x="0" y="43815"/>
                    <a:pt x="36711" y="0"/>
                    <a:pt x="82042" y="0"/>
                  </a:cubicBezTo>
                  <a:lnTo>
                    <a:pt x="3865028" y="0"/>
                  </a:lnTo>
                  <a:cubicBezTo>
                    <a:pt x="3910359" y="0"/>
                    <a:pt x="3947070" y="43815"/>
                    <a:pt x="3947070" y="97917"/>
                  </a:cubicBezTo>
                  <a:lnTo>
                    <a:pt x="3947070" y="4003294"/>
                  </a:lnTo>
                  <a:cubicBezTo>
                    <a:pt x="3947070" y="4057396"/>
                    <a:pt x="3910359" y="4101211"/>
                    <a:pt x="3865028" y="4101211"/>
                  </a:cubicBezTo>
                  <a:lnTo>
                    <a:pt x="82042" y="4101211"/>
                  </a:lnTo>
                  <a:cubicBezTo>
                    <a:pt x="36711" y="4101211"/>
                    <a:pt x="0" y="4057396"/>
                    <a:pt x="0" y="4003294"/>
                  </a:cubicBezTo>
                  <a:close/>
                </a:path>
              </a:pathLst>
            </a:custGeom>
            <a:solidFill>
              <a:srgbClr val="FFFFFF"/>
            </a:solidFill>
            <a:ln w="12700" cap="sq">
              <a:solidFill>
                <a:srgbClr val="BFE0CC"/>
              </a:solidFill>
              <a:prstDash val="solid"/>
              <a:miter/>
            </a:ln>
          </p:spPr>
        </p:sp>
      </p:grpSp>
      <p:grpSp>
        <p:nvGrpSpPr>
          <p:cNvPr name="Group 93" id="93"/>
          <p:cNvGrpSpPr/>
          <p:nvPr/>
        </p:nvGrpSpPr>
        <p:grpSpPr>
          <a:xfrm rot="0">
            <a:off x="12734092" y="2880229"/>
            <a:ext cx="5209527" cy="838555"/>
            <a:chOff x="0" y="0"/>
            <a:chExt cx="3938631" cy="633984"/>
          </a:xfrm>
        </p:grpSpPr>
        <p:sp>
          <p:nvSpPr>
            <p:cNvPr name="Freeform 94" id="94"/>
            <p:cNvSpPr/>
            <p:nvPr/>
          </p:nvSpPr>
          <p:spPr>
            <a:xfrm flipH="false" flipV="false" rot="0">
              <a:off x="0" y="0"/>
              <a:ext cx="3938631" cy="633984"/>
            </a:xfrm>
            <a:custGeom>
              <a:avLst/>
              <a:gdLst/>
              <a:ahLst/>
              <a:cxnLst/>
              <a:rect r="r" b="b" t="t" l="l"/>
              <a:pathLst>
                <a:path h="633984" w="3938631">
                  <a:moveTo>
                    <a:pt x="88662" y="0"/>
                  </a:moveTo>
                  <a:lnTo>
                    <a:pt x="3849969" y="0"/>
                  </a:lnTo>
                  <a:cubicBezTo>
                    <a:pt x="3898989" y="0"/>
                    <a:pt x="3938631" y="47371"/>
                    <a:pt x="3938631" y="105664"/>
                  </a:cubicBezTo>
                  <a:lnTo>
                    <a:pt x="3938631" y="633984"/>
                  </a:lnTo>
                  <a:lnTo>
                    <a:pt x="0" y="633984"/>
                  </a:lnTo>
                  <a:lnTo>
                    <a:pt x="0" y="105664"/>
                  </a:lnTo>
                  <a:cubicBezTo>
                    <a:pt x="0" y="47371"/>
                    <a:pt x="39749" y="0"/>
                    <a:pt x="88662" y="0"/>
                  </a:cubicBezTo>
                  <a:close/>
                </a:path>
              </a:pathLst>
            </a:custGeom>
            <a:solidFill>
              <a:srgbClr val="3F9A3A"/>
            </a:solidFill>
          </p:spPr>
        </p:sp>
      </p:grpSp>
      <p:grpSp>
        <p:nvGrpSpPr>
          <p:cNvPr name="Group 95" id="95"/>
          <p:cNvGrpSpPr/>
          <p:nvPr/>
        </p:nvGrpSpPr>
        <p:grpSpPr>
          <a:xfrm rot="0">
            <a:off x="12927605" y="3009238"/>
            <a:ext cx="580538" cy="580538"/>
            <a:chOff x="0" y="0"/>
            <a:chExt cx="438912" cy="438912"/>
          </a:xfrm>
        </p:grpSpPr>
        <p:sp>
          <p:nvSpPr>
            <p:cNvPr name="Freeform 96" id="96"/>
            <p:cNvSpPr/>
            <p:nvPr/>
          </p:nvSpPr>
          <p:spPr>
            <a:xfrm flipH="false" flipV="false" rot="0">
              <a:off x="0" y="0"/>
              <a:ext cx="438912" cy="438912"/>
            </a:xfrm>
            <a:custGeom>
              <a:avLst/>
              <a:gdLst/>
              <a:ahLst/>
              <a:cxnLst/>
              <a:rect r="r" b="b" t="t" l="l"/>
              <a:pathLst>
                <a:path h="438912" w="438912">
                  <a:moveTo>
                    <a:pt x="0" y="219456"/>
                  </a:moveTo>
                  <a:lnTo>
                    <a:pt x="109728" y="0"/>
                  </a:lnTo>
                  <a:lnTo>
                    <a:pt x="329184" y="0"/>
                  </a:lnTo>
                  <a:lnTo>
                    <a:pt x="438912" y="219456"/>
                  </a:lnTo>
                  <a:lnTo>
                    <a:pt x="329184" y="438912"/>
                  </a:lnTo>
                  <a:lnTo>
                    <a:pt x="109728" y="438912"/>
                  </a:lnTo>
                  <a:close/>
                </a:path>
              </a:pathLst>
            </a:custGeom>
            <a:solidFill>
              <a:srgbClr val="7DC242"/>
            </a:solidFill>
          </p:spPr>
        </p:sp>
      </p:grpSp>
      <p:grpSp>
        <p:nvGrpSpPr>
          <p:cNvPr name="Group 97" id="97"/>
          <p:cNvGrpSpPr/>
          <p:nvPr/>
        </p:nvGrpSpPr>
        <p:grpSpPr>
          <a:xfrm rot="0">
            <a:off x="12927605" y="3009238"/>
            <a:ext cx="580538" cy="580538"/>
            <a:chOff x="0" y="0"/>
            <a:chExt cx="438912" cy="438912"/>
          </a:xfrm>
        </p:grpSpPr>
        <p:sp>
          <p:nvSpPr>
            <p:cNvPr name="Freeform 98" id="98"/>
            <p:cNvSpPr/>
            <p:nvPr/>
          </p:nvSpPr>
          <p:spPr>
            <a:xfrm flipH="false" flipV="false" rot="0">
              <a:off x="0" y="0"/>
              <a:ext cx="438912" cy="438912"/>
            </a:xfrm>
            <a:custGeom>
              <a:avLst/>
              <a:gdLst/>
              <a:ahLst/>
              <a:cxnLst/>
              <a:rect r="r" b="b" t="t" l="l"/>
              <a:pathLst>
                <a:path h="438912" w="438912">
                  <a:moveTo>
                    <a:pt x="0" y="0"/>
                  </a:moveTo>
                  <a:lnTo>
                    <a:pt x="438912" y="0"/>
                  </a:lnTo>
                  <a:lnTo>
                    <a:pt x="438912" y="438912"/>
                  </a:lnTo>
                  <a:lnTo>
                    <a:pt x="0" y="438912"/>
                  </a:lnTo>
                  <a:close/>
                </a:path>
              </a:pathLst>
            </a:custGeom>
            <a:blipFill>
              <a:blip r:embed="rId4">
                <a:alphaModFix amt="0"/>
              </a:blip>
              <a:stretch>
                <a:fillRect l="-78303" t="0" r="-78303" b="0"/>
              </a:stretch>
            </a:blipFill>
          </p:spPr>
        </p:sp>
        <p:sp>
          <p:nvSpPr>
            <p:cNvPr name="TextBox 99" id="99"/>
            <p:cNvSpPr txBox="true"/>
            <p:nvPr/>
          </p:nvSpPr>
          <p:spPr>
            <a:xfrm>
              <a:off x="0" y="-28575"/>
              <a:ext cx="438912" cy="467487"/>
            </a:xfrm>
            <a:prstGeom prst="rect">
              <a:avLst/>
            </a:prstGeom>
          </p:spPr>
          <p:txBody>
            <a:bodyPr anchor="ctr" rtlCol="false" tIns="0" lIns="0" bIns="0" rIns="0"/>
            <a:lstStyle/>
            <a:p>
              <a:pPr algn="ctr">
                <a:lnSpc>
                  <a:spcPts val="1559"/>
                </a:lnSpc>
              </a:pPr>
              <a:r>
                <a:rPr lang="en-US" sz="1299" b="true">
                  <a:solidFill>
                    <a:srgbClr val="072C35"/>
                  </a:solidFill>
                  <a:latin typeface="Calibri (MS) Bold"/>
                  <a:ea typeface="Calibri (MS) Bold"/>
                  <a:cs typeface="Calibri (MS) Bold"/>
                  <a:sym typeface="Calibri (MS) Bold"/>
                </a:rPr>
                <a:t>3</a:t>
              </a:r>
            </a:p>
          </p:txBody>
        </p:sp>
      </p:grpSp>
      <p:grpSp>
        <p:nvGrpSpPr>
          <p:cNvPr name="Group 100" id="100"/>
          <p:cNvGrpSpPr/>
          <p:nvPr/>
        </p:nvGrpSpPr>
        <p:grpSpPr>
          <a:xfrm rot="0">
            <a:off x="13660542" y="2294276"/>
            <a:ext cx="5111958" cy="1980234"/>
            <a:chOff x="0" y="0"/>
            <a:chExt cx="3864864" cy="1497143"/>
          </a:xfrm>
        </p:grpSpPr>
        <p:sp>
          <p:nvSpPr>
            <p:cNvPr name="Freeform 101" id="101"/>
            <p:cNvSpPr/>
            <p:nvPr/>
          </p:nvSpPr>
          <p:spPr>
            <a:xfrm flipH="false" flipV="false" rot="0">
              <a:off x="0" y="0"/>
              <a:ext cx="3864864" cy="1497143"/>
            </a:xfrm>
            <a:custGeom>
              <a:avLst/>
              <a:gdLst/>
              <a:ahLst/>
              <a:cxnLst/>
              <a:rect r="r" b="b" t="t" l="l"/>
              <a:pathLst>
                <a:path h="1497143" w="3864864">
                  <a:moveTo>
                    <a:pt x="0" y="0"/>
                  </a:moveTo>
                  <a:lnTo>
                    <a:pt x="3864864" y="0"/>
                  </a:lnTo>
                  <a:lnTo>
                    <a:pt x="3864864" y="1497143"/>
                  </a:lnTo>
                  <a:lnTo>
                    <a:pt x="0" y="1497143"/>
                  </a:lnTo>
                  <a:close/>
                </a:path>
              </a:pathLst>
            </a:custGeom>
            <a:blipFill>
              <a:blip r:embed="rId4">
                <a:alphaModFix amt="0"/>
              </a:blip>
              <a:stretch>
                <a:fillRect l="0" t="-39713" r="0" b="39112"/>
              </a:stretch>
            </a:blipFill>
          </p:spPr>
        </p:sp>
        <p:sp>
          <p:nvSpPr>
            <p:cNvPr name="TextBox 102" id="102"/>
            <p:cNvSpPr txBox="true"/>
            <p:nvPr/>
          </p:nvSpPr>
          <p:spPr>
            <a:xfrm>
              <a:off x="0" y="-19050"/>
              <a:ext cx="3864864" cy="1516193"/>
            </a:xfrm>
            <a:prstGeom prst="rect">
              <a:avLst/>
            </a:prstGeom>
          </p:spPr>
          <p:txBody>
            <a:bodyPr anchor="ctr" rtlCol="false" tIns="0" lIns="0" bIns="0" rIns="0"/>
            <a:lstStyle/>
            <a:p>
              <a:pPr algn="l">
                <a:lnSpc>
                  <a:spcPts val="3239"/>
                </a:lnSpc>
              </a:pPr>
              <a:r>
                <a:rPr lang="en-US" sz="2699" b="true">
                  <a:solidFill>
                    <a:srgbClr val="FFFFFF"/>
                  </a:solidFill>
                  <a:latin typeface="Cambria Bold"/>
                  <a:ea typeface="Cambria Bold"/>
                  <a:cs typeface="Cambria Bold"/>
                  <a:sym typeface="Cambria Bold"/>
                </a:rPr>
                <a:t>Who benefits</a:t>
              </a:r>
            </a:p>
          </p:txBody>
        </p:sp>
      </p:grpSp>
      <p:grpSp>
        <p:nvGrpSpPr>
          <p:cNvPr name="Group 103" id="103"/>
          <p:cNvGrpSpPr/>
          <p:nvPr/>
        </p:nvGrpSpPr>
        <p:grpSpPr>
          <a:xfrm rot="0">
            <a:off x="12992109" y="3992927"/>
            <a:ext cx="145134" cy="145134"/>
            <a:chOff x="0" y="0"/>
            <a:chExt cx="109728" cy="109728"/>
          </a:xfrm>
        </p:grpSpPr>
        <p:sp>
          <p:nvSpPr>
            <p:cNvPr name="Freeform 104" id="104"/>
            <p:cNvSpPr/>
            <p:nvPr/>
          </p:nvSpPr>
          <p:spPr>
            <a:xfrm flipH="false" flipV="false" rot="0">
              <a:off x="0" y="0"/>
              <a:ext cx="109728" cy="109728"/>
            </a:xfrm>
            <a:custGeom>
              <a:avLst/>
              <a:gdLst/>
              <a:ahLst/>
              <a:cxnLst/>
              <a:rect r="r" b="b" t="t" l="l"/>
              <a:pathLst>
                <a:path h="109728" w="109728">
                  <a:moveTo>
                    <a:pt x="0" y="54864"/>
                  </a:moveTo>
                  <a:cubicBezTo>
                    <a:pt x="0" y="24511"/>
                    <a:pt x="24511" y="0"/>
                    <a:pt x="54864" y="0"/>
                  </a:cubicBezTo>
                  <a:cubicBezTo>
                    <a:pt x="85217" y="0"/>
                    <a:pt x="109728" y="24511"/>
                    <a:pt x="109728" y="54864"/>
                  </a:cubicBezTo>
                  <a:cubicBezTo>
                    <a:pt x="109728" y="85217"/>
                    <a:pt x="85217" y="109728"/>
                    <a:pt x="54864" y="109728"/>
                  </a:cubicBezTo>
                  <a:cubicBezTo>
                    <a:pt x="24511" y="109728"/>
                    <a:pt x="0" y="85217"/>
                    <a:pt x="0" y="54864"/>
                  </a:cubicBezTo>
                  <a:close/>
                </a:path>
              </a:pathLst>
            </a:custGeom>
            <a:solidFill>
              <a:srgbClr val="7DC242"/>
            </a:solidFill>
          </p:spPr>
        </p:sp>
      </p:grpSp>
      <p:grpSp>
        <p:nvGrpSpPr>
          <p:cNvPr name="Group 105" id="105"/>
          <p:cNvGrpSpPr/>
          <p:nvPr/>
        </p:nvGrpSpPr>
        <p:grpSpPr>
          <a:xfrm rot="0">
            <a:off x="13282378" y="3912296"/>
            <a:ext cx="5402227" cy="405863"/>
            <a:chOff x="0" y="0"/>
            <a:chExt cx="4084320" cy="306850"/>
          </a:xfrm>
        </p:grpSpPr>
        <p:sp>
          <p:nvSpPr>
            <p:cNvPr name="Freeform 106" id="106"/>
            <p:cNvSpPr/>
            <p:nvPr/>
          </p:nvSpPr>
          <p:spPr>
            <a:xfrm flipH="false" flipV="false" rot="0">
              <a:off x="0" y="0"/>
              <a:ext cx="4084320" cy="306850"/>
            </a:xfrm>
            <a:custGeom>
              <a:avLst/>
              <a:gdLst/>
              <a:ahLst/>
              <a:cxnLst/>
              <a:rect r="r" b="b" t="t" l="l"/>
              <a:pathLst>
                <a:path h="306850" w="4084320">
                  <a:moveTo>
                    <a:pt x="0" y="0"/>
                  </a:moveTo>
                  <a:lnTo>
                    <a:pt x="4084320" y="0"/>
                  </a:lnTo>
                  <a:lnTo>
                    <a:pt x="4084320" y="306850"/>
                  </a:lnTo>
                  <a:lnTo>
                    <a:pt x="0" y="306850"/>
                  </a:lnTo>
                  <a:close/>
                </a:path>
              </a:pathLst>
            </a:custGeom>
            <a:blipFill>
              <a:blip r:embed="rId4">
                <a:alphaModFix amt="0"/>
              </a:blip>
              <a:stretch>
                <a:fillRect l="0" t="-219622" r="0" b="-199087"/>
              </a:stretch>
            </a:blipFill>
          </p:spPr>
        </p:sp>
        <p:sp>
          <p:nvSpPr>
            <p:cNvPr name="TextBox 107" id="107"/>
            <p:cNvSpPr txBox="true"/>
            <p:nvPr/>
          </p:nvSpPr>
          <p:spPr>
            <a:xfrm>
              <a:off x="0" y="-38100"/>
              <a:ext cx="4084320" cy="344950"/>
            </a:xfrm>
            <a:prstGeom prst="rect">
              <a:avLst/>
            </a:prstGeom>
          </p:spPr>
          <p:txBody>
            <a:bodyPr anchor="ctr" rtlCol="false" tIns="0" lIns="0" bIns="0" rIns="0"/>
            <a:lstStyle/>
            <a:p>
              <a:pPr algn="l">
                <a:lnSpc>
                  <a:spcPts val="2459"/>
                </a:lnSpc>
              </a:pPr>
              <a:r>
                <a:rPr lang="en-US" sz="2049" b="true">
                  <a:solidFill>
                    <a:srgbClr val="0B2E3C"/>
                  </a:solidFill>
                  <a:latin typeface="Calibri (MS) Bold"/>
                  <a:ea typeface="Calibri (MS) Bold"/>
                  <a:cs typeface="Calibri (MS) Bold"/>
                  <a:sym typeface="Calibri (MS) Bold"/>
                </a:rPr>
                <a:t>Factory owners &amp; SMEs</a:t>
              </a:r>
            </a:p>
          </p:txBody>
        </p:sp>
      </p:grpSp>
      <p:sp>
        <p:nvSpPr>
          <p:cNvPr name="TextBox 108" id="108"/>
          <p:cNvSpPr txBox="true"/>
          <p:nvPr/>
        </p:nvSpPr>
        <p:spPr>
          <a:xfrm rot="0">
            <a:off x="13282378" y="4443760"/>
            <a:ext cx="5402227" cy="342900"/>
          </a:xfrm>
          <a:prstGeom prst="rect">
            <a:avLst/>
          </a:prstGeom>
        </p:spPr>
        <p:txBody>
          <a:bodyPr anchor="t" rtlCol="false" tIns="0" lIns="0" bIns="0" rIns="0">
            <a:spAutoFit/>
          </a:bodyPr>
          <a:lstStyle/>
          <a:p>
            <a:pPr algn="l">
              <a:lnSpc>
                <a:spcPts val="2462"/>
              </a:lnSpc>
            </a:pPr>
            <a:r>
              <a:rPr lang="en-US" sz="2051">
                <a:solidFill>
                  <a:srgbClr val="35575C"/>
                </a:solidFill>
                <a:latin typeface="Calibri (MS)"/>
                <a:ea typeface="Calibri (MS)"/>
                <a:cs typeface="Calibri (MS)"/>
                <a:sym typeface="Calibri (MS)"/>
              </a:rPr>
              <a:t>Lower power bills and longer machine life</a:t>
            </a:r>
          </a:p>
        </p:txBody>
      </p:sp>
      <p:grpSp>
        <p:nvGrpSpPr>
          <p:cNvPr name="Group 109" id="109"/>
          <p:cNvGrpSpPr/>
          <p:nvPr/>
        </p:nvGrpSpPr>
        <p:grpSpPr>
          <a:xfrm rot="0">
            <a:off x="12992109" y="5230791"/>
            <a:ext cx="145134" cy="145134"/>
            <a:chOff x="0" y="0"/>
            <a:chExt cx="109728" cy="109728"/>
          </a:xfrm>
        </p:grpSpPr>
        <p:sp>
          <p:nvSpPr>
            <p:cNvPr name="Freeform 110" id="110"/>
            <p:cNvSpPr/>
            <p:nvPr/>
          </p:nvSpPr>
          <p:spPr>
            <a:xfrm flipH="false" flipV="false" rot="0">
              <a:off x="0" y="0"/>
              <a:ext cx="109728" cy="109728"/>
            </a:xfrm>
            <a:custGeom>
              <a:avLst/>
              <a:gdLst/>
              <a:ahLst/>
              <a:cxnLst/>
              <a:rect r="r" b="b" t="t" l="l"/>
              <a:pathLst>
                <a:path h="109728" w="109728">
                  <a:moveTo>
                    <a:pt x="0" y="54864"/>
                  </a:moveTo>
                  <a:cubicBezTo>
                    <a:pt x="0" y="24511"/>
                    <a:pt x="24511" y="0"/>
                    <a:pt x="54864" y="0"/>
                  </a:cubicBezTo>
                  <a:cubicBezTo>
                    <a:pt x="85217" y="0"/>
                    <a:pt x="109728" y="24511"/>
                    <a:pt x="109728" y="54864"/>
                  </a:cubicBezTo>
                  <a:cubicBezTo>
                    <a:pt x="109728" y="85217"/>
                    <a:pt x="85217" y="109728"/>
                    <a:pt x="54864" y="109728"/>
                  </a:cubicBezTo>
                  <a:cubicBezTo>
                    <a:pt x="24511" y="109728"/>
                    <a:pt x="0" y="85217"/>
                    <a:pt x="0" y="54864"/>
                  </a:cubicBezTo>
                  <a:close/>
                </a:path>
              </a:pathLst>
            </a:custGeom>
            <a:solidFill>
              <a:srgbClr val="7DC242"/>
            </a:solidFill>
          </p:spPr>
        </p:sp>
      </p:grpSp>
      <p:grpSp>
        <p:nvGrpSpPr>
          <p:cNvPr name="Group 111" id="111"/>
          <p:cNvGrpSpPr/>
          <p:nvPr/>
        </p:nvGrpSpPr>
        <p:grpSpPr>
          <a:xfrm rot="0">
            <a:off x="13282378" y="5110510"/>
            <a:ext cx="5402227" cy="405863"/>
            <a:chOff x="0" y="0"/>
            <a:chExt cx="4084320" cy="306850"/>
          </a:xfrm>
        </p:grpSpPr>
        <p:sp>
          <p:nvSpPr>
            <p:cNvPr name="Freeform 112" id="112"/>
            <p:cNvSpPr/>
            <p:nvPr/>
          </p:nvSpPr>
          <p:spPr>
            <a:xfrm flipH="false" flipV="false" rot="0">
              <a:off x="0" y="0"/>
              <a:ext cx="4084320" cy="306850"/>
            </a:xfrm>
            <a:custGeom>
              <a:avLst/>
              <a:gdLst/>
              <a:ahLst/>
              <a:cxnLst/>
              <a:rect r="r" b="b" t="t" l="l"/>
              <a:pathLst>
                <a:path h="306850" w="4084320">
                  <a:moveTo>
                    <a:pt x="0" y="0"/>
                  </a:moveTo>
                  <a:lnTo>
                    <a:pt x="4084320" y="0"/>
                  </a:lnTo>
                  <a:lnTo>
                    <a:pt x="4084320" y="306850"/>
                  </a:lnTo>
                  <a:lnTo>
                    <a:pt x="0" y="306850"/>
                  </a:lnTo>
                  <a:close/>
                </a:path>
              </a:pathLst>
            </a:custGeom>
            <a:blipFill>
              <a:blip r:embed="rId4">
                <a:alphaModFix amt="0"/>
              </a:blip>
              <a:stretch>
                <a:fillRect l="0" t="-219622" r="0" b="-199087"/>
              </a:stretch>
            </a:blipFill>
          </p:spPr>
        </p:sp>
        <p:sp>
          <p:nvSpPr>
            <p:cNvPr name="TextBox 113" id="113"/>
            <p:cNvSpPr txBox="true"/>
            <p:nvPr/>
          </p:nvSpPr>
          <p:spPr>
            <a:xfrm>
              <a:off x="0" y="-38100"/>
              <a:ext cx="4084320" cy="344950"/>
            </a:xfrm>
            <a:prstGeom prst="rect">
              <a:avLst/>
            </a:prstGeom>
          </p:spPr>
          <p:txBody>
            <a:bodyPr anchor="ctr" rtlCol="false" tIns="0" lIns="0" bIns="0" rIns="0"/>
            <a:lstStyle/>
            <a:p>
              <a:pPr algn="l">
                <a:lnSpc>
                  <a:spcPts val="2459"/>
                </a:lnSpc>
              </a:pPr>
              <a:r>
                <a:rPr lang="en-US" sz="2049" b="true">
                  <a:solidFill>
                    <a:srgbClr val="0B2E3C"/>
                  </a:solidFill>
                  <a:latin typeface="Calibri (MS) Bold"/>
                  <a:ea typeface="Calibri (MS) Bold"/>
                  <a:cs typeface="Calibri (MS) Bold"/>
                  <a:sym typeface="Calibri (MS) Bold"/>
                </a:rPr>
                <a:t>Workers on the floor</a:t>
              </a:r>
            </a:p>
          </p:txBody>
        </p:sp>
      </p:grpSp>
      <p:sp>
        <p:nvSpPr>
          <p:cNvPr name="TextBox 114" id="114"/>
          <p:cNvSpPr txBox="true"/>
          <p:nvPr/>
        </p:nvSpPr>
        <p:spPr>
          <a:xfrm rot="0">
            <a:off x="13282378" y="5668773"/>
            <a:ext cx="4102738" cy="685800"/>
          </a:xfrm>
          <a:prstGeom prst="rect">
            <a:avLst/>
          </a:prstGeom>
        </p:spPr>
        <p:txBody>
          <a:bodyPr anchor="t" rtlCol="false" tIns="0" lIns="0" bIns="0" rIns="0">
            <a:spAutoFit/>
          </a:bodyPr>
          <a:lstStyle/>
          <a:p>
            <a:pPr algn="l">
              <a:lnSpc>
                <a:spcPts val="2582"/>
              </a:lnSpc>
            </a:pPr>
            <a:r>
              <a:rPr lang="en-US" sz="2151">
                <a:solidFill>
                  <a:srgbClr val="35575C"/>
                </a:solidFill>
                <a:latin typeface="Calibri (MS)"/>
                <a:ea typeface="Calibri (MS)"/>
                <a:cs typeface="Calibri (MS)"/>
                <a:sym typeface="Calibri (MS)"/>
              </a:rPr>
              <a:t>Safer plants with fewer electrical hazards</a:t>
            </a:r>
          </a:p>
        </p:txBody>
      </p:sp>
      <p:grpSp>
        <p:nvGrpSpPr>
          <p:cNvPr name="Group 115" id="115"/>
          <p:cNvGrpSpPr/>
          <p:nvPr/>
        </p:nvGrpSpPr>
        <p:grpSpPr>
          <a:xfrm rot="0">
            <a:off x="12992109" y="6833922"/>
            <a:ext cx="145134" cy="145134"/>
            <a:chOff x="0" y="0"/>
            <a:chExt cx="109728" cy="109728"/>
          </a:xfrm>
        </p:grpSpPr>
        <p:sp>
          <p:nvSpPr>
            <p:cNvPr name="Freeform 116" id="116"/>
            <p:cNvSpPr/>
            <p:nvPr/>
          </p:nvSpPr>
          <p:spPr>
            <a:xfrm flipH="false" flipV="false" rot="0">
              <a:off x="0" y="0"/>
              <a:ext cx="109728" cy="109728"/>
            </a:xfrm>
            <a:custGeom>
              <a:avLst/>
              <a:gdLst/>
              <a:ahLst/>
              <a:cxnLst/>
              <a:rect r="r" b="b" t="t" l="l"/>
              <a:pathLst>
                <a:path h="109728" w="109728">
                  <a:moveTo>
                    <a:pt x="0" y="54864"/>
                  </a:moveTo>
                  <a:cubicBezTo>
                    <a:pt x="0" y="24511"/>
                    <a:pt x="24511" y="0"/>
                    <a:pt x="54864" y="0"/>
                  </a:cubicBezTo>
                  <a:cubicBezTo>
                    <a:pt x="85217" y="0"/>
                    <a:pt x="109728" y="24511"/>
                    <a:pt x="109728" y="54864"/>
                  </a:cubicBezTo>
                  <a:cubicBezTo>
                    <a:pt x="109728" y="85217"/>
                    <a:pt x="85217" y="109728"/>
                    <a:pt x="54864" y="109728"/>
                  </a:cubicBezTo>
                  <a:cubicBezTo>
                    <a:pt x="24511" y="109728"/>
                    <a:pt x="0" y="85217"/>
                    <a:pt x="0" y="54864"/>
                  </a:cubicBezTo>
                  <a:close/>
                </a:path>
              </a:pathLst>
            </a:custGeom>
            <a:solidFill>
              <a:srgbClr val="7DC242"/>
            </a:solidFill>
          </p:spPr>
        </p:sp>
      </p:grpSp>
      <p:grpSp>
        <p:nvGrpSpPr>
          <p:cNvPr name="Group 117" id="117"/>
          <p:cNvGrpSpPr/>
          <p:nvPr/>
        </p:nvGrpSpPr>
        <p:grpSpPr>
          <a:xfrm rot="0">
            <a:off x="13263584" y="6688032"/>
            <a:ext cx="5402227" cy="405863"/>
            <a:chOff x="0" y="0"/>
            <a:chExt cx="4084320" cy="306850"/>
          </a:xfrm>
        </p:grpSpPr>
        <p:sp>
          <p:nvSpPr>
            <p:cNvPr name="Freeform 118" id="118"/>
            <p:cNvSpPr/>
            <p:nvPr/>
          </p:nvSpPr>
          <p:spPr>
            <a:xfrm flipH="false" flipV="false" rot="0">
              <a:off x="0" y="0"/>
              <a:ext cx="4084320" cy="306850"/>
            </a:xfrm>
            <a:custGeom>
              <a:avLst/>
              <a:gdLst/>
              <a:ahLst/>
              <a:cxnLst/>
              <a:rect r="r" b="b" t="t" l="l"/>
              <a:pathLst>
                <a:path h="306850" w="4084320">
                  <a:moveTo>
                    <a:pt x="0" y="0"/>
                  </a:moveTo>
                  <a:lnTo>
                    <a:pt x="4084320" y="0"/>
                  </a:lnTo>
                  <a:lnTo>
                    <a:pt x="4084320" y="306850"/>
                  </a:lnTo>
                  <a:lnTo>
                    <a:pt x="0" y="306850"/>
                  </a:lnTo>
                  <a:close/>
                </a:path>
              </a:pathLst>
            </a:custGeom>
            <a:blipFill>
              <a:blip r:embed="rId4">
                <a:alphaModFix amt="0"/>
              </a:blip>
              <a:stretch>
                <a:fillRect l="0" t="-219622" r="0" b="-199087"/>
              </a:stretch>
            </a:blipFill>
          </p:spPr>
        </p:sp>
        <p:sp>
          <p:nvSpPr>
            <p:cNvPr name="TextBox 119" id="119"/>
            <p:cNvSpPr txBox="true"/>
            <p:nvPr/>
          </p:nvSpPr>
          <p:spPr>
            <a:xfrm>
              <a:off x="0" y="-38100"/>
              <a:ext cx="4084320" cy="344950"/>
            </a:xfrm>
            <a:prstGeom prst="rect">
              <a:avLst/>
            </a:prstGeom>
          </p:spPr>
          <p:txBody>
            <a:bodyPr anchor="ctr" rtlCol="false" tIns="0" lIns="0" bIns="0" rIns="0"/>
            <a:lstStyle/>
            <a:p>
              <a:pPr algn="l">
                <a:lnSpc>
                  <a:spcPts val="2459"/>
                </a:lnSpc>
              </a:pPr>
              <a:r>
                <a:rPr lang="en-US" sz="2049" b="true">
                  <a:solidFill>
                    <a:srgbClr val="0B2E3C"/>
                  </a:solidFill>
                  <a:latin typeface="Calibri (MS) Bold"/>
                  <a:ea typeface="Calibri (MS) Bold"/>
                  <a:cs typeface="Calibri (MS) Bold"/>
                  <a:sym typeface="Calibri (MS) Bold"/>
                </a:rPr>
                <a:t>Environment &amp; power grid</a:t>
              </a:r>
            </a:p>
          </p:txBody>
        </p:sp>
      </p:grpSp>
      <p:sp>
        <p:nvSpPr>
          <p:cNvPr name="TextBox 120" id="120"/>
          <p:cNvSpPr txBox="true"/>
          <p:nvPr/>
        </p:nvSpPr>
        <p:spPr>
          <a:xfrm rot="0">
            <a:off x="13248705" y="7283496"/>
            <a:ext cx="4360182" cy="647700"/>
          </a:xfrm>
          <a:prstGeom prst="rect">
            <a:avLst/>
          </a:prstGeom>
        </p:spPr>
        <p:txBody>
          <a:bodyPr anchor="t" rtlCol="false" tIns="0" lIns="0" bIns="0" rIns="0">
            <a:spAutoFit/>
          </a:bodyPr>
          <a:lstStyle/>
          <a:p>
            <a:pPr algn="l">
              <a:lnSpc>
                <a:spcPts val="2462"/>
              </a:lnSpc>
            </a:pPr>
            <a:r>
              <a:rPr lang="en-US" sz="2051">
                <a:solidFill>
                  <a:srgbClr val="35575C"/>
                </a:solidFill>
                <a:latin typeface="Calibri (MS)"/>
                <a:ea typeface="Calibri (MS)"/>
                <a:cs typeface="Calibri (MS)"/>
                <a:sym typeface="Calibri (MS)"/>
              </a:rPr>
              <a:t>Less wasted energy and lower CO2 emissions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grpSp>
        <p:nvGrpSpPr>
          <p:cNvPr name="Group 2" id="2"/>
          <p:cNvGrpSpPr/>
          <p:nvPr/>
        </p:nvGrpSpPr>
        <p:grpSpPr>
          <a:xfrm rot="0">
            <a:off x="16360159" y="472916"/>
            <a:ext cx="1248727" cy="1248727"/>
            <a:chOff x="0" y="0"/>
            <a:chExt cx="1664970" cy="1664970"/>
          </a:xfrm>
        </p:grpSpPr>
        <p:sp>
          <p:nvSpPr>
            <p:cNvPr name="Freeform 3" id="3"/>
            <p:cNvSpPr/>
            <p:nvPr/>
          </p:nvSpPr>
          <p:spPr>
            <a:xfrm flipH="false" flipV="false" rot="0">
              <a:off x="0" y="0"/>
              <a:ext cx="1664970" cy="1664970"/>
            </a:xfrm>
            <a:custGeom>
              <a:avLst/>
              <a:gdLst/>
              <a:ahLst/>
              <a:cxnLst/>
              <a:rect r="r" b="b" t="t" l="l"/>
              <a:pathLst>
                <a:path h="1664970" w="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4" id="4"/>
          <p:cNvGrpSpPr/>
          <p:nvPr/>
        </p:nvGrpSpPr>
        <p:grpSpPr>
          <a:xfrm rot="0">
            <a:off x="16583920" y="576072"/>
            <a:ext cx="801195" cy="1042416"/>
            <a:chOff x="0" y="0"/>
            <a:chExt cx="1068260" cy="1389888"/>
          </a:xfrm>
        </p:grpSpPr>
        <p:sp>
          <p:nvSpPr>
            <p:cNvPr name="Freeform 5" id="5" descr="Genesis logo"/>
            <p:cNvSpPr/>
            <p:nvPr/>
          </p:nvSpPr>
          <p:spPr>
            <a:xfrm flipH="false" flipV="false" rot="0">
              <a:off x="0" y="0"/>
              <a:ext cx="1068324" cy="1389888"/>
            </a:xfrm>
            <a:custGeom>
              <a:avLst/>
              <a:gdLst/>
              <a:ahLst/>
              <a:cxnLst/>
              <a:rect r="r" b="b" t="t" l="l"/>
              <a:pathLst>
                <a:path h="1389888" w="1068324">
                  <a:moveTo>
                    <a:pt x="0" y="0"/>
                  </a:moveTo>
                  <a:lnTo>
                    <a:pt x="1068324" y="0"/>
                  </a:lnTo>
                  <a:lnTo>
                    <a:pt x="1068324" y="1389888"/>
                  </a:lnTo>
                  <a:lnTo>
                    <a:pt x="0" y="1389888"/>
                  </a:lnTo>
                  <a:lnTo>
                    <a:pt x="0" y="0"/>
                  </a:lnTo>
                  <a:close/>
                </a:path>
              </a:pathLst>
            </a:custGeom>
            <a:blipFill>
              <a:blip r:embed="rId3"/>
              <a:stretch>
                <a:fillRect l="0" t="0" r="5" b="0"/>
              </a:stretch>
            </a:blipFill>
          </p:spPr>
        </p:sp>
      </p:grpSp>
      <p:grpSp>
        <p:nvGrpSpPr>
          <p:cNvPr name="Group 6" id="6"/>
          <p:cNvGrpSpPr/>
          <p:nvPr/>
        </p:nvGrpSpPr>
        <p:grpSpPr>
          <a:xfrm rot="0">
            <a:off x="0" y="9532620"/>
            <a:ext cx="18287543" cy="754380"/>
            <a:chOff x="0" y="0"/>
            <a:chExt cx="24383390" cy="1005840"/>
          </a:xfrm>
        </p:grpSpPr>
        <p:sp>
          <p:nvSpPr>
            <p:cNvPr name="Freeform 7" id="7"/>
            <p:cNvSpPr/>
            <p:nvPr/>
          </p:nvSpPr>
          <p:spPr>
            <a:xfrm flipH="false" flipV="false" rot="0">
              <a:off x="0" y="0"/>
              <a:ext cx="24383364" cy="1005840"/>
            </a:xfrm>
            <a:custGeom>
              <a:avLst/>
              <a:gdLst/>
              <a:ahLst/>
              <a:cxnLst/>
              <a:rect r="r" b="b" t="t" l="l"/>
              <a:pathLst>
                <a:path h="1005840" w="24383364">
                  <a:moveTo>
                    <a:pt x="0" y="0"/>
                  </a:moveTo>
                  <a:lnTo>
                    <a:pt x="24383364" y="0"/>
                  </a:lnTo>
                  <a:lnTo>
                    <a:pt x="24383364" y="1005840"/>
                  </a:lnTo>
                  <a:lnTo>
                    <a:pt x="0" y="1005840"/>
                  </a:lnTo>
                  <a:close/>
                </a:path>
              </a:pathLst>
            </a:custGeom>
            <a:solidFill>
              <a:srgbClr val="052B35"/>
            </a:solidFill>
          </p:spPr>
        </p:sp>
      </p:grpSp>
      <p:grpSp>
        <p:nvGrpSpPr>
          <p:cNvPr name="Group 8" id="8"/>
          <p:cNvGrpSpPr/>
          <p:nvPr/>
        </p:nvGrpSpPr>
        <p:grpSpPr>
          <a:xfrm rot="0">
            <a:off x="16888511" y="9614916"/>
            <a:ext cx="685800" cy="593903"/>
            <a:chOff x="0" y="0"/>
            <a:chExt cx="914400" cy="791870"/>
          </a:xfrm>
        </p:grpSpPr>
        <p:sp>
          <p:nvSpPr>
            <p:cNvPr name="Freeform 9" id="9"/>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10" id="10"/>
          <p:cNvGrpSpPr/>
          <p:nvPr/>
        </p:nvGrpSpPr>
        <p:grpSpPr>
          <a:xfrm rot="0">
            <a:off x="4869180" y="480060"/>
            <a:ext cx="11247120" cy="1234440"/>
            <a:chOff x="0" y="0"/>
            <a:chExt cx="14996160" cy="1645920"/>
          </a:xfrm>
        </p:grpSpPr>
        <p:sp>
          <p:nvSpPr>
            <p:cNvPr name="Freeform 11" id="11"/>
            <p:cNvSpPr/>
            <p:nvPr/>
          </p:nvSpPr>
          <p:spPr>
            <a:xfrm flipH="false" flipV="false" rot="0">
              <a:off x="0" y="0"/>
              <a:ext cx="14996161" cy="1645920"/>
            </a:xfrm>
            <a:custGeom>
              <a:avLst/>
              <a:gdLst/>
              <a:ahLst/>
              <a:cxnLst/>
              <a:rect r="r" b="b" t="t" l="l"/>
              <a:pathLst>
                <a:path h="1645920" w="14996161">
                  <a:moveTo>
                    <a:pt x="0" y="0"/>
                  </a:moveTo>
                  <a:lnTo>
                    <a:pt x="14996161" y="0"/>
                  </a:lnTo>
                  <a:lnTo>
                    <a:pt x="14996161" y="1645920"/>
                  </a:lnTo>
                  <a:lnTo>
                    <a:pt x="0" y="1645920"/>
                  </a:lnTo>
                  <a:close/>
                </a:path>
              </a:pathLst>
            </a:custGeom>
            <a:blipFill>
              <a:blip r:embed="rId4">
                <a:alphaModFix amt="0"/>
              </a:blip>
              <a:stretch>
                <a:fillRect l="0" t="-127530" r="0" b="-127530"/>
              </a:stretch>
            </a:blipFill>
          </p:spPr>
        </p:sp>
        <p:sp>
          <p:nvSpPr>
            <p:cNvPr name="TextBox 12" id="12"/>
            <p:cNvSpPr txBox="true"/>
            <p:nvPr/>
          </p:nvSpPr>
          <p:spPr>
            <a:xfrm>
              <a:off x="0" y="-19050"/>
              <a:ext cx="14996160" cy="1664970"/>
            </a:xfrm>
            <a:prstGeom prst="rect">
              <a:avLst/>
            </a:prstGeom>
          </p:spPr>
          <p:txBody>
            <a:bodyPr anchor="ctr" rtlCol="false" tIns="0" lIns="0" bIns="0" rIns="0"/>
            <a:lstStyle/>
            <a:p>
              <a:pPr algn="ctr">
                <a:lnSpc>
                  <a:spcPts val="4320"/>
                </a:lnSpc>
              </a:pPr>
              <a:r>
                <a:rPr lang="en-US" b="true" sz="3600" spc="150">
                  <a:solidFill>
                    <a:srgbClr val="052B35"/>
                  </a:solidFill>
                  <a:latin typeface="Cambria Bold"/>
                  <a:ea typeface="Cambria Bold"/>
                  <a:cs typeface="Cambria Bold"/>
                  <a:sym typeface="Cambria Bold"/>
                </a:rPr>
                <a:t>CURRENT SITUATION &amp; CONTEXT</a:t>
              </a:r>
            </a:p>
          </p:txBody>
        </p:sp>
      </p:grpSp>
      <p:grpSp>
        <p:nvGrpSpPr>
          <p:cNvPr name="Group 13" id="13"/>
          <p:cNvGrpSpPr/>
          <p:nvPr/>
        </p:nvGrpSpPr>
        <p:grpSpPr>
          <a:xfrm rot="0">
            <a:off x="678656" y="472916"/>
            <a:ext cx="3923347" cy="1248727"/>
            <a:chOff x="0" y="0"/>
            <a:chExt cx="5231130" cy="1664970"/>
          </a:xfrm>
        </p:grpSpPr>
        <p:sp>
          <p:nvSpPr>
            <p:cNvPr name="Freeform 14" id="14"/>
            <p:cNvSpPr/>
            <p:nvPr/>
          </p:nvSpPr>
          <p:spPr>
            <a:xfrm flipH="false" flipV="false" rot="0">
              <a:off x="0" y="0"/>
              <a:ext cx="5231130" cy="1664970"/>
            </a:xfrm>
            <a:custGeom>
              <a:avLst/>
              <a:gdLst/>
              <a:ahLst/>
              <a:cxnLst/>
              <a:rect r="r" b="b" t="t" l="l"/>
              <a:pathLst>
                <a:path h="1664970" w="523113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15" id="15"/>
          <p:cNvGrpSpPr/>
          <p:nvPr/>
        </p:nvGrpSpPr>
        <p:grpSpPr>
          <a:xfrm rot="0">
            <a:off x="898112" y="678656"/>
            <a:ext cx="960692" cy="837248"/>
            <a:chOff x="0" y="0"/>
            <a:chExt cx="1280922" cy="1116330"/>
          </a:xfrm>
        </p:grpSpPr>
        <p:sp>
          <p:nvSpPr>
            <p:cNvPr name="Freeform 16" id="16"/>
            <p:cNvSpPr/>
            <p:nvPr/>
          </p:nvSpPr>
          <p:spPr>
            <a:xfrm flipH="false" flipV="false" rot="0">
              <a:off x="0" y="0"/>
              <a:ext cx="1280922" cy="1116330"/>
            </a:xfrm>
            <a:custGeom>
              <a:avLst/>
              <a:gdLst/>
              <a:ahLst/>
              <a:cxnLst/>
              <a:rect r="r" b="b" t="t" l="l"/>
              <a:pathLst>
                <a:path h="1116330" w="1280922">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name="Group 17" id="17"/>
          <p:cNvGrpSpPr/>
          <p:nvPr/>
        </p:nvGrpSpPr>
        <p:grpSpPr>
          <a:xfrm rot="0">
            <a:off x="1104138" y="822960"/>
            <a:ext cx="548640" cy="548640"/>
            <a:chOff x="0" y="0"/>
            <a:chExt cx="731520" cy="731520"/>
          </a:xfrm>
        </p:grpSpPr>
        <p:sp>
          <p:nvSpPr>
            <p:cNvPr name="Freeform 18" id="18" descr="Team icon"/>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5"/>
              <a:stretch>
                <a:fillRect l="0" t="0" r="0" b="0"/>
              </a:stretch>
            </a:blipFill>
          </p:spPr>
        </p:sp>
      </p:grpSp>
      <p:grpSp>
        <p:nvGrpSpPr>
          <p:cNvPr name="Group 19" id="19"/>
          <p:cNvGrpSpPr/>
          <p:nvPr/>
        </p:nvGrpSpPr>
        <p:grpSpPr>
          <a:xfrm rot="0">
            <a:off x="2057400" y="576072"/>
            <a:ext cx="2441448" cy="1042416"/>
            <a:chOff x="0" y="0"/>
            <a:chExt cx="3255264" cy="1389888"/>
          </a:xfrm>
        </p:grpSpPr>
        <p:sp>
          <p:nvSpPr>
            <p:cNvPr name="Freeform 20" id="20"/>
            <p:cNvSpPr/>
            <p:nvPr/>
          </p:nvSpPr>
          <p:spPr>
            <a:xfrm flipH="false" flipV="false" rot="0">
              <a:off x="0" y="0"/>
              <a:ext cx="3255264" cy="1389888"/>
            </a:xfrm>
            <a:custGeom>
              <a:avLst/>
              <a:gdLst/>
              <a:ahLst/>
              <a:cxnLst/>
              <a:rect r="r" b="b" t="t" l="l"/>
              <a:pathLst>
                <a:path h="1389888" w="3255264">
                  <a:moveTo>
                    <a:pt x="0" y="0"/>
                  </a:moveTo>
                  <a:lnTo>
                    <a:pt x="3255264" y="0"/>
                  </a:lnTo>
                  <a:lnTo>
                    <a:pt x="3255264" y="1389888"/>
                  </a:lnTo>
                  <a:lnTo>
                    <a:pt x="0" y="1389888"/>
                  </a:lnTo>
                  <a:close/>
                </a:path>
              </a:pathLst>
            </a:custGeom>
            <a:blipFill>
              <a:blip r:embed="rId4">
                <a:alphaModFix amt="0"/>
              </a:blip>
              <a:stretch>
                <a:fillRect l="-4781" t="0" r="-4781" b="0"/>
              </a:stretch>
            </a:blipFill>
          </p:spPr>
        </p:sp>
        <p:sp>
          <p:nvSpPr>
            <p:cNvPr name="TextBox 21" id="21"/>
            <p:cNvSpPr txBox="true"/>
            <p:nvPr/>
          </p:nvSpPr>
          <p:spPr>
            <a:xfrm>
              <a:off x="0" y="-28575"/>
              <a:ext cx="3255264" cy="1418463"/>
            </a:xfrm>
            <a:prstGeom prst="rect">
              <a:avLst/>
            </a:prstGeom>
          </p:spPr>
          <p:txBody>
            <a:bodyPr anchor="ctr" rtlCol="false" tIns="0" lIns="0" bIns="0" rIns="0"/>
            <a:lstStyle/>
            <a:p>
              <a:pPr algn="l">
                <a:lnSpc>
                  <a:spcPts val="1620"/>
                </a:lnSpc>
              </a:pPr>
              <a:r>
                <a:rPr lang="en-US" b="true" sz="1350" spc="449">
                  <a:solidFill>
                    <a:srgbClr val="5B6F6B"/>
                  </a:solidFill>
                  <a:latin typeface="Calibri (MS) Bold"/>
                  <a:ea typeface="Calibri (MS) Bold"/>
                  <a:cs typeface="Calibri (MS) Bold"/>
                  <a:sym typeface="Calibri (MS) Bold"/>
                </a:rPr>
                <a:t>TEAM</a:t>
              </a:r>
            </a:p>
            <a:p>
              <a:pPr algn="l">
                <a:lnSpc>
                  <a:spcPts val="2700"/>
                </a:lnSpc>
              </a:pPr>
              <a:r>
                <a:rPr lang="en-US" b="true" sz="2250" spc="749">
                  <a:solidFill>
                    <a:srgbClr val="026855"/>
                  </a:solidFill>
                  <a:latin typeface="Calibri (MS) Bold"/>
                  <a:ea typeface="Calibri (MS) Bold"/>
                  <a:cs typeface="Calibri (MS) Bold"/>
                  <a:sym typeface="Calibri (MS) Bold"/>
                </a:rPr>
                <a:t>SIX-SEVEN</a:t>
              </a:r>
            </a:p>
          </p:txBody>
        </p:sp>
      </p:grpSp>
      <p:grpSp>
        <p:nvGrpSpPr>
          <p:cNvPr name="Group 22" id="22"/>
          <p:cNvGrpSpPr/>
          <p:nvPr/>
        </p:nvGrpSpPr>
        <p:grpSpPr>
          <a:xfrm rot="0">
            <a:off x="16888511" y="9614916"/>
            <a:ext cx="685800" cy="593903"/>
            <a:chOff x="0" y="0"/>
            <a:chExt cx="914400" cy="791870"/>
          </a:xfrm>
        </p:grpSpPr>
        <p:sp>
          <p:nvSpPr>
            <p:cNvPr name="Freeform 23" id="23"/>
            <p:cNvSpPr/>
            <p:nvPr/>
          </p:nvSpPr>
          <p:spPr>
            <a:xfrm flipH="false" flipV="false" rot="0">
              <a:off x="0" y="0"/>
              <a:ext cx="914400" cy="791870"/>
            </a:xfrm>
            <a:custGeom>
              <a:avLst/>
              <a:gdLst/>
              <a:ahLst/>
              <a:cxnLst/>
              <a:rect r="r" b="b" t="t" l="l"/>
              <a:pathLst>
                <a:path h="791870" w="914400">
                  <a:moveTo>
                    <a:pt x="0" y="0"/>
                  </a:moveTo>
                  <a:lnTo>
                    <a:pt x="914400" y="0"/>
                  </a:lnTo>
                  <a:lnTo>
                    <a:pt x="914400" y="791870"/>
                  </a:lnTo>
                  <a:lnTo>
                    <a:pt x="0" y="791870"/>
                  </a:lnTo>
                  <a:close/>
                </a:path>
              </a:pathLst>
            </a:custGeom>
            <a:blipFill>
              <a:blip r:embed="rId4">
                <a:alphaModFix amt="0"/>
              </a:blip>
              <a:stretch>
                <a:fillRect l="-61110" t="0" r="-61110" b="0"/>
              </a:stretch>
            </a:blipFill>
          </p:spPr>
        </p:sp>
        <p:sp>
          <p:nvSpPr>
            <p:cNvPr name="TextBox 24" id="24"/>
            <p:cNvSpPr txBox="true"/>
            <p:nvPr/>
          </p:nvSpPr>
          <p:spPr>
            <a:xfrm>
              <a:off x="0" y="-28575"/>
              <a:ext cx="914400" cy="820445"/>
            </a:xfrm>
            <a:prstGeom prst="rect">
              <a:avLst/>
            </a:prstGeom>
          </p:spPr>
          <p:txBody>
            <a:bodyPr anchor="ctr" rtlCol="false" tIns="0" lIns="0" bIns="0" rIns="0"/>
            <a:lstStyle/>
            <a:p>
              <a:pPr algn="ctr">
                <a:lnSpc>
                  <a:spcPts val="1980"/>
                </a:lnSpc>
              </a:pPr>
              <a:r>
                <a:rPr lang="en-US" sz="1650" b="true">
                  <a:solidFill>
                    <a:srgbClr val="052B35"/>
                  </a:solidFill>
                  <a:latin typeface="Calibri (MS) Bold"/>
                  <a:ea typeface="Calibri (MS) Bold"/>
                  <a:cs typeface="Calibri (MS) Bold"/>
                  <a:sym typeface="Calibri (MS) Bold"/>
                </a:rPr>
                <a:t>4</a:t>
              </a:r>
            </a:p>
          </p:txBody>
        </p:sp>
      </p:grpSp>
      <p:sp>
        <p:nvSpPr>
          <p:cNvPr name="Freeform 25" id="25"/>
          <p:cNvSpPr/>
          <p:nvPr/>
        </p:nvSpPr>
        <p:spPr>
          <a:xfrm flipH="false" flipV="false" rot="0">
            <a:off x="325531" y="6576100"/>
            <a:ext cx="4952707" cy="2557824"/>
          </a:xfrm>
          <a:custGeom>
            <a:avLst/>
            <a:gdLst/>
            <a:ahLst/>
            <a:cxnLst/>
            <a:rect r="r" b="b" t="t" l="l"/>
            <a:pathLst>
              <a:path h="2557824" w="4952707">
                <a:moveTo>
                  <a:pt x="0" y="0"/>
                </a:moveTo>
                <a:lnTo>
                  <a:pt x="4952707" y="0"/>
                </a:lnTo>
                <a:lnTo>
                  <a:pt x="4952707" y="2557824"/>
                </a:lnTo>
                <a:lnTo>
                  <a:pt x="0" y="2557824"/>
                </a:lnTo>
                <a:lnTo>
                  <a:pt x="0" y="0"/>
                </a:lnTo>
                <a:close/>
              </a:path>
            </a:pathLst>
          </a:custGeom>
          <a:blipFill>
            <a:blip r:embed="rId6"/>
            <a:stretch>
              <a:fillRect l="0" t="-8865" r="0" b="-24453"/>
            </a:stretch>
          </a:blipFill>
        </p:spPr>
      </p:sp>
      <p:sp>
        <p:nvSpPr>
          <p:cNvPr name="Freeform 26" id="26"/>
          <p:cNvSpPr/>
          <p:nvPr/>
        </p:nvSpPr>
        <p:spPr>
          <a:xfrm flipH="false" flipV="false" rot="0">
            <a:off x="9196818" y="6590100"/>
            <a:ext cx="4952707" cy="2630774"/>
          </a:xfrm>
          <a:custGeom>
            <a:avLst/>
            <a:gdLst/>
            <a:ahLst/>
            <a:cxnLst/>
            <a:rect r="r" b="b" t="t" l="l"/>
            <a:pathLst>
              <a:path h="2630774" w="4952707">
                <a:moveTo>
                  <a:pt x="0" y="0"/>
                </a:moveTo>
                <a:lnTo>
                  <a:pt x="4952708" y="0"/>
                </a:lnTo>
                <a:lnTo>
                  <a:pt x="4952708" y="2630774"/>
                </a:lnTo>
                <a:lnTo>
                  <a:pt x="0" y="2630774"/>
                </a:lnTo>
                <a:lnTo>
                  <a:pt x="0" y="0"/>
                </a:lnTo>
                <a:close/>
              </a:path>
            </a:pathLst>
          </a:custGeom>
          <a:blipFill>
            <a:blip r:embed="rId6"/>
            <a:stretch>
              <a:fillRect l="0" t="-8619" r="0" b="-21002"/>
            </a:stretch>
          </a:blipFill>
        </p:spPr>
      </p:sp>
      <p:sp>
        <p:nvSpPr>
          <p:cNvPr name="Freeform 27" id="27"/>
          <p:cNvSpPr/>
          <p:nvPr/>
        </p:nvSpPr>
        <p:spPr>
          <a:xfrm flipH="false" flipV="false" rot="0">
            <a:off x="4745355" y="6590100"/>
            <a:ext cx="4546713" cy="2804885"/>
          </a:xfrm>
          <a:custGeom>
            <a:avLst/>
            <a:gdLst/>
            <a:ahLst/>
            <a:cxnLst/>
            <a:rect r="r" b="b" t="t" l="l"/>
            <a:pathLst>
              <a:path h="2804885" w="4546713">
                <a:moveTo>
                  <a:pt x="0" y="0"/>
                </a:moveTo>
                <a:lnTo>
                  <a:pt x="4546713" y="0"/>
                </a:lnTo>
                <a:lnTo>
                  <a:pt x="4546713" y="2804885"/>
                </a:lnTo>
                <a:lnTo>
                  <a:pt x="0" y="2804885"/>
                </a:lnTo>
                <a:lnTo>
                  <a:pt x="0" y="0"/>
                </a:lnTo>
                <a:close/>
              </a:path>
            </a:pathLst>
          </a:custGeom>
          <a:blipFill>
            <a:blip r:embed="rId6"/>
            <a:stretch>
              <a:fillRect l="0" t="-8084" r="-8929" b="-13490"/>
            </a:stretch>
          </a:blipFill>
        </p:spPr>
      </p:sp>
      <p:sp>
        <p:nvSpPr>
          <p:cNvPr name="Freeform 28" id="28"/>
          <p:cNvSpPr/>
          <p:nvPr/>
        </p:nvSpPr>
        <p:spPr>
          <a:xfrm flipH="false" flipV="false" rot="0">
            <a:off x="13664730" y="6576100"/>
            <a:ext cx="4952707" cy="2512465"/>
          </a:xfrm>
          <a:custGeom>
            <a:avLst/>
            <a:gdLst/>
            <a:ahLst/>
            <a:cxnLst/>
            <a:rect r="r" b="b" t="t" l="l"/>
            <a:pathLst>
              <a:path h="2512465" w="4952707">
                <a:moveTo>
                  <a:pt x="0" y="0"/>
                </a:moveTo>
                <a:lnTo>
                  <a:pt x="4952708" y="0"/>
                </a:lnTo>
                <a:lnTo>
                  <a:pt x="4952708" y="2512465"/>
                </a:lnTo>
                <a:lnTo>
                  <a:pt x="0" y="2512465"/>
                </a:lnTo>
                <a:lnTo>
                  <a:pt x="0" y="0"/>
                </a:lnTo>
                <a:close/>
              </a:path>
            </a:pathLst>
          </a:custGeom>
          <a:blipFill>
            <a:blip r:embed="rId6"/>
            <a:stretch>
              <a:fillRect l="0" t="-9025" r="0" b="-26699"/>
            </a:stretch>
          </a:blipFill>
        </p:spPr>
      </p:sp>
      <p:grpSp>
        <p:nvGrpSpPr>
          <p:cNvPr name="Group 29" id="29"/>
          <p:cNvGrpSpPr/>
          <p:nvPr/>
        </p:nvGrpSpPr>
        <p:grpSpPr>
          <a:xfrm rot="0">
            <a:off x="1081982" y="7063740"/>
            <a:ext cx="366352" cy="366352"/>
            <a:chOff x="0" y="0"/>
            <a:chExt cx="292608" cy="292608"/>
          </a:xfrm>
        </p:grpSpPr>
        <p:sp>
          <p:nvSpPr>
            <p:cNvPr name="Freeform 30" id="30"/>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7DC242"/>
            </a:solidFill>
          </p:spPr>
        </p:sp>
      </p:grpSp>
      <p:grpSp>
        <p:nvGrpSpPr>
          <p:cNvPr name="Group 31" id="31"/>
          <p:cNvGrpSpPr/>
          <p:nvPr/>
        </p:nvGrpSpPr>
        <p:grpSpPr>
          <a:xfrm rot="0">
            <a:off x="982684" y="6987540"/>
            <a:ext cx="564949" cy="564949"/>
            <a:chOff x="0" y="0"/>
            <a:chExt cx="292608" cy="292608"/>
          </a:xfrm>
        </p:grpSpPr>
        <p:sp>
          <p:nvSpPr>
            <p:cNvPr name="Freeform 32" id="32"/>
            <p:cNvSpPr/>
            <p:nvPr/>
          </p:nvSpPr>
          <p:spPr>
            <a:xfrm flipH="false" flipV="false" rot="0">
              <a:off x="0" y="0"/>
              <a:ext cx="292608" cy="292608"/>
            </a:xfrm>
            <a:custGeom>
              <a:avLst/>
              <a:gdLst/>
              <a:ahLst/>
              <a:cxnLst/>
              <a:rect r="r" b="b" t="t" l="l"/>
              <a:pathLst>
                <a:path h="292608" w="292608">
                  <a:moveTo>
                    <a:pt x="0" y="0"/>
                  </a:moveTo>
                  <a:lnTo>
                    <a:pt x="292608" y="0"/>
                  </a:lnTo>
                  <a:lnTo>
                    <a:pt x="292608" y="292608"/>
                  </a:lnTo>
                  <a:lnTo>
                    <a:pt x="0" y="292608"/>
                  </a:lnTo>
                  <a:close/>
                </a:path>
              </a:pathLst>
            </a:custGeom>
            <a:blipFill>
              <a:blip r:embed="rId4">
                <a:alphaModFix amt="0"/>
              </a:blip>
              <a:stretch>
                <a:fillRect l="-78303" t="0" r="-78303" b="0"/>
              </a:stretch>
            </a:blipFill>
          </p:spPr>
        </p:sp>
        <p:sp>
          <p:nvSpPr>
            <p:cNvPr name="TextBox 33" id="33"/>
            <p:cNvSpPr txBox="true"/>
            <p:nvPr/>
          </p:nvSpPr>
          <p:spPr>
            <a:xfrm>
              <a:off x="0" y="-38100"/>
              <a:ext cx="292608" cy="330708"/>
            </a:xfrm>
            <a:prstGeom prst="rect">
              <a:avLst/>
            </a:prstGeom>
          </p:spPr>
          <p:txBody>
            <a:bodyPr anchor="ctr" rtlCol="false" tIns="0" lIns="0" bIns="0" rIns="0"/>
            <a:lstStyle/>
            <a:p>
              <a:pPr algn="ctr">
                <a:lnSpc>
                  <a:spcPts val="2279"/>
                </a:lnSpc>
              </a:pPr>
              <a:r>
                <a:rPr lang="en-US" sz="1899" b="true">
                  <a:solidFill>
                    <a:srgbClr val="072C35"/>
                  </a:solidFill>
                  <a:latin typeface="Calibri (MS) Bold"/>
                  <a:ea typeface="Calibri (MS) Bold"/>
                  <a:cs typeface="Calibri (MS) Bold"/>
                  <a:sym typeface="Calibri (MS) Bold"/>
                </a:rPr>
                <a:t>1</a:t>
              </a:r>
            </a:p>
          </p:txBody>
        </p:sp>
      </p:grpSp>
      <p:grpSp>
        <p:nvGrpSpPr>
          <p:cNvPr name="Group 34" id="34"/>
          <p:cNvGrpSpPr/>
          <p:nvPr/>
        </p:nvGrpSpPr>
        <p:grpSpPr>
          <a:xfrm rot="0">
            <a:off x="5476052" y="7084671"/>
            <a:ext cx="345422" cy="345422"/>
            <a:chOff x="0" y="0"/>
            <a:chExt cx="292608" cy="292608"/>
          </a:xfrm>
        </p:grpSpPr>
        <p:sp>
          <p:nvSpPr>
            <p:cNvPr name="Freeform 35" id="35"/>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7DC242"/>
            </a:solidFill>
          </p:spPr>
        </p:sp>
      </p:grpSp>
      <p:grpSp>
        <p:nvGrpSpPr>
          <p:cNvPr name="Group 36" id="36"/>
          <p:cNvGrpSpPr/>
          <p:nvPr/>
        </p:nvGrpSpPr>
        <p:grpSpPr>
          <a:xfrm rot="0">
            <a:off x="5476052" y="7063740"/>
            <a:ext cx="345422" cy="393873"/>
            <a:chOff x="0" y="0"/>
            <a:chExt cx="292608" cy="333651"/>
          </a:xfrm>
        </p:grpSpPr>
        <p:sp>
          <p:nvSpPr>
            <p:cNvPr name="Freeform 37" id="37"/>
            <p:cNvSpPr/>
            <p:nvPr/>
          </p:nvSpPr>
          <p:spPr>
            <a:xfrm flipH="false" flipV="false" rot="0">
              <a:off x="0" y="0"/>
              <a:ext cx="292608" cy="333651"/>
            </a:xfrm>
            <a:custGeom>
              <a:avLst/>
              <a:gdLst/>
              <a:ahLst/>
              <a:cxnLst/>
              <a:rect r="r" b="b" t="t" l="l"/>
              <a:pathLst>
                <a:path h="333651" w="292608">
                  <a:moveTo>
                    <a:pt x="0" y="0"/>
                  </a:moveTo>
                  <a:lnTo>
                    <a:pt x="292608" y="0"/>
                  </a:lnTo>
                  <a:lnTo>
                    <a:pt x="292608" y="333651"/>
                  </a:lnTo>
                  <a:lnTo>
                    <a:pt x="0" y="333651"/>
                  </a:lnTo>
                  <a:close/>
                </a:path>
              </a:pathLst>
            </a:custGeom>
            <a:blipFill>
              <a:blip r:embed="rId4">
                <a:alphaModFix amt="0"/>
              </a:blip>
              <a:stretch>
                <a:fillRect l="-78303" t="0" r="-78303" b="12301"/>
              </a:stretch>
            </a:blipFill>
          </p:spPr>
        </p:sp>
        <p:sp>
          <p:nvSpPr>
            <p:cNvPr name="TextBox 38" id="38"/>
            <p:cNvSpPr txBox="true"/>
            <p:nvPr/>
          </p:nvSpPr>
          <p:spPr>
            <a:xfrm>
              <a:off x="0" y="-47625"/>
              <a:ext cx="292608" cy="381276"/>
            </a:xfrm>
            <a:prstGeom prst="rect">
              <a:avLst/>
            </a:prstGeom>
          </p:spPr>
          <p:txBody>
            <a:bodyPr anchor="ctr" rtlCol="false" tIns="0" lIns="0" bIns="0" rIns="0"/>
            <a:lstStyle/>
            <a:p>
              <a:pPr algn="ctr">
                <a:lnSpc>
                  <a:spcPts val="2399"/>
                </a:lnSpc>
              </a:pPr>
              <a:r>
                <a:rPr lang="en-US" sz="1999" b="true">
                  <a:solidFill>
                    <a:srgbClr val="072C35"/>
                  </a:solidFill>
                  <a:latin typeface="Calibri (MS) Bold"/>
                  <a:ea typeface="Calibri (MS) Bold"/>
                  <a:cs typeface="Calibri (MS) Bold"/>
                  <a:sym typeface="Calibri (MS) Bold"/>
                </a:rPr>
                <a:t>2</a:t>
              </a:r>
            </a:p>
          </p:txBody>
        </p:sp>
      </p:grpSp>
      <p:grpSp>
        <p:nvGrpSpPr>
          <p:cNvPr name="Group 39" id="39"/>
          <p:cNvGrpSpPr/>
          <p:nvPr/>
        </p:nvGrpSpPr>
        <p:grpSpPr>
          <a:xfrm rot="0">
            <a:off x="9982100" y="7084671"/>
            <a:ext cx="345422" cy="345422"/>
            <a:chOff x="0" y="0"/>
            <a:chExt cx="292608" cy="292608"/>
          </a:xfrm>
        </p:grpSpPr>
        <p:sp>
          <p:nvSpPr>
            <p:cNvPr name="Freeform 40" id="40"/>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7DC242"/>
            </a:solidFill>
          </p:spPr>
        </p:sp>
      </p:grpSp>
      <p:grpSp>
        <p:nvGrpSpPr>
          <p:cNvPr name="Group 41" id="41"/>
          <p:cNvGrpSpPr/>
          <p:nvPr/>
        </p:nvGrpSpPr>
        <p:grpSpPr>
          <a:xfrm rot="0">
            <a:off x="9994918" y="7073078"/>
            <a:ext cx="345422" cy="393873"/>
            <a:chOff x="0" y="0"/>
            <a:chExt cx="292608" cy="333651"/>
          </a:xfrm>
        </p:grpSpPr>
        <p:sp>
          <p:nvSpPr>
            <p:cNvPr name="Freeform 42" id="42"/>
            <p:cNvSpPr/>
            <p:nvPr/>
          </p:nvSpPr>
          <p:spPr>
            <a:xfrm flipH="false" flipV="false" rot="0">
              <a:off x="0" y="0"/>
              <a:ext cx="292608" cy="333651"/>
            </a:xfrm>
            <a:custGeom>
              <a:avLst/>
              <a:gdLst/>
              <a:ahLst/>
              <a:cxnLst/>
              <a:rect r="r" b="b" t="t" l="l"/>
              <a:pathLst>
                <a:path h="333651" w="292608">
                  <a:moveTo>
                    <a:pt x="0" y="0"/>
                  </a:moveTo>
                  <a:lnTo>
                    <a:pt x="292608" y="0"/>
                  </a:lnTo>
                  <a:lnTo>
                    <a:pt x="292608" y="333651"/>
                  </a:lnTo>
                  <a:lnTo>
                    <a:pt x="0" y="333651"/>
                  </a:lnTo>
                  <a:close/>
                </a:path>
              </a:pathLst>
            </a:custGeom>
            <a:blipFill>
              <a:blip r:embed="rId4">
                <a:alphaModFix amt="0"/>
              </a:blip>
              <a:stretch>
                <a:fillRect l="-78303" t="0" r="-78303" b="12301"/>
              </a:stretch>
            </a:blipFill>
          </p:spPr>
        </p:sp>
        <p:sp>
          <p:nvSpPr>
            <p:cNvPr name="TextBox 43" id="43"/>
            <p:cNvSpPr txBox="true"/>
            <p:nvPr/>
          </p:nvSpPr>
          <p:spPr>
            <a:xfrm>
              <a:off x="0" y="-47625"/>
              <a:ext cx="292608" cy="381276"/>
            </a:xfrm>
            <a:prstGeom prst="rect">
              <a:avLst/>
            </a:prstGeom>
          </p:spPr>
          <p:txBody>
            <a:bodyPr anchor="ctr" rtlCol="false" tIns="0" lIns="0" bIns="0" rIns="0"/>
            <a:lstStyle/>
            <a:p>
              <a:pPr algn="ctr">
                <a:lnSpc>
                  <a:spcPts val="2399"/>
                </a:lnSpc>
              </a:pPr>
              <a:r>
                <a:rPr lang="en-US" sz="1999" b="true">
                  <a:solidFill>
                    <a:srgbClr val="072C35"/>
                  </a:solidFill>
                  <a:latin typeface="Calibri (MS) Bold"/>
                  <a:ea typeface="Calibri (MS) Bold"/>
                  <a:cs typeface="Calibri (MS) Bold"/>
                  <a:sym typeface="Calibri (MS) Bold"/>
                </a:rPr>
                <a:t>3</a:t>
              </a:r>
            </a:p>
          </p:txBody>
        </p:sp>
      </p:grpSp>
      <p:grpSp>
        <p:nvGrpSpPr>
          <p:cNvPr name="Group 44" id="44"/>
          <p:cNvGrpSpPr/>
          <p:nvPr/>
        </p:nvGrpSpPr>
        <p:grpSpPr>
          <a:xfrm rot="0">
            <a:off x="14378126" y="7084671"/>
            <a:ext cx="345422" cy="345422"/>
            <a:chOff x="0" y="0"/>
            <a:chExt cx="292608" cy="292608"/>
          </a:xfrm>
        </p:grpSpPr>
        <p:sp>
          <p:nvSpPr>
            <p:cNvPr name="Freeform 45" id="45"/>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7DC242"/>
            </a:solidFill>
          </p:spPr>
        </p:sp>
      </p:grpSp>
      <p:grpSp>
        <p:nvGrpSpPr>
          <p:cNvPr name="Group 46" id="46"/>
          <p:cNvGrpSpPr/>
          <p:nvPr/>
        </p:nvGrpSpPr>
        <p:grpSpPr>
          <a:xfrm rot="0">
            <a:off x="14378126" y="7073078"/>
            <a:ext cx="345422" cy="393873"/>
            <a:chOff x="0" y="0"/>
            <a:chExt cx="292608" cy="333651"/>
          </a:xfrm>
        </p:grpSpPr>
        <p:sp>
          <p:nvSpPr>
            <p:cNvPr name="Freeform 47" id="47"/>
            <p:cNvSpPr/>
            <p:nvPr/>
          </p:nvSpPr>
          <p:spPr>
            <a:xfrm flipH="false" flipV="false" rot="0">
              <a:off x="0" y="0"/>
              <a:ext cx="292608" cy="333651"/>
            </a:xfrm>
            <a:custGeom>
              <a:avLst/>
              <a:gdLst/>
              <a:ahLst/>
              <a:cxnLst/>
              <a:rect r="r" b="b" t="t" l="l"/>
              <a:pathLst>
                <a:path h="333651" w="292608">
                  <a:moveTo>
                    <a:pt x="0" y="0"/>
                  </a:moveTo>
                  <a:lnTo>
                    <a:pt x="292608" y="0"/>
                  </a:lnTo>
                  <a:lnTo>
                    <a:pt x="292608" y="333651"/>
                  </a:lnTo>
                  <a:lnTo>
                    <a:pt x="0" y="333651"/>
                  </a:lnTo>
                  <a:close/>
                </a:path>
              </a:pathLst>
            </a:custGeom>
            <a:blipFill>
              <a:blip r:embed="rId4">
                <a:alphaModFix amt="0"/>
              </a:blip>
              <a:stretch>
                <a:fillRect l="-78303" t="0" r="-78303" b="12301"/>
              </a:stretch>
            </a:blipFill>
          </p:spPr>
        </p:sp>
        <p:sp>
          <p:nvSpPr>
            <p:cNvPr name="TextBox 48" id="48"/>
            <p:cNvSpPr txBox="true"/>
            <p:nvPr/>
          </p:nvSpPr>
          <p:spPr>
            <a:xfrm>
              <a:off x="0" y="-47625"/>
              <a:ext cx="292608" cy="381276"/>
            </a:xfrm>
            <a:prstGeom prst="rect">
              <a:avLst/>
            </a:prstGeom>
          </p:spPr>
          <p:txBody>
            <a:bodyPr anchor="ctr" rtlCol="false" tIns="0" lIns="0" bIns="0" rIns="0"/>
            <a:lstStyle/>
            <a:p>
              <a:pPr algn="ctr">
                <a:lnSpc>
                  <a:spcPts val="2399"/>
                </a:lnSpc>
              </a:pPr>
              <a:r>
                <a:rPr lang="en-US" sz="1999" b="true">
                  <a:solidFill>
                    <a:srgbClr val="072C35"/>
                  </a:solidFill>
                  <a:latin typeface="Calibri (MS) Bold"/>
                  <a:ea typeface="Calibri (MS) Bold"/>
                  <a:cs typeface="Calibri (MS) Bold"/>
                  <a:sym typeface="Calibri (MS) Bold"/>
                </a:rPr>
                <a:t>4</a:t>
              </a:r>
            </a:p>
          </p:txBody>
        </p:sp>
      </p:grpSp>
      <p:grpSp>
        <p:nvGrpSpPr>
          <p:cNvPr name="Group 49" id="49"/>
          <p:cNvGrpSpPr/>
          <p:nvPr/>
        </p:nvGrpSpPr>
        <p:grpSpPr>
          <a:xfrm rot="0">
            <a:off x="1528953" y="7008515"/>
            <a:ext cx="2941627" cy="458435"/>
            <a:chOff x="0" y="0"/>
            <a:chExt cx="1877568" cy="292608"/>
          </a:xfrm>
        </p:grpSpPr>
        <p:sp>
          <p:nvSpPr>
            <p:cNvPr name="Freeform 50" id="50"/>
            <p:cNvSpPr/>
            <p:nvPr/>
          </p:nvSpPr>
          <p:spPr>
            <a:xfrm flipH="false" flipV="false" rot="0">
              <a:off x="0" y="0"/>
              <a:ext cx="1877568" cy="292608"/>
            </a:xfrm>
            <a:custGeom>
              <a:avLst/>
              <a:gdLst/>
              <a:ahLst/>
              <a:cxnLst/>
              <a:rect r="r" b="b" t="t" l="l"/>
              <a:pathLst>
                <a:path h="292608" w="1877568">
                  <a:moveTo>
                    <a:pt x="0" y="0"/>
                  </a:moveTo>
                  <a:lnTo>
                    <a:pt x="1877568" y="0"/>
                  </a:lnTo>
                  <a:lnTo>
                    <a:pt x="1877568" y="292608"/>
                  </a:lnTo>
                  <a:lnTo>
                    <a:pt x="0" y="292608"/>
                  </a:lnTo>
                  <a:close/>
                </a:path>
              </a:pathLst>
            </a:custGeom>
            <a:blipFill>
              <a:blip r:embed="rId4">
                <a:alphaModFix amt="0"/>
              </a:blip>
              <a:stretch>
                <a:fillRect l="0" t="-75028" r="0" b="-75028"/>
              </a:stretch>
            </a:blipFill>
          </p:spPr>
        </p:sp>
        <p:sp>
          <p:nvSpPr>
            <p:cNvPr name="TextBox 51" id="51"/>
            <p:cNvSpPr txBox="true"/>
            <p:nvPr/>
          </p:nvSpPr>
          <p:spPr>
            <a:xfrm>
              <a:off x="0" y="-38100"/>
              <a:ext cx="1877568" cy="330708"/>
            </a:xfrm>
            <a:prstGeom prst="rect">
              <a:avLst/>
            </a:prstGeom>
          </p:spPr>
          <p:txBody>
            <a:bodyPr anchor="ctr" rtlCol="false" tIns="0" lIns="0" bIns="0" rIns="0"/>
            <a:lstStyle/>
            <a:p>
              <a:pPr algn="l">
                <a:lnSpc>
                  <a:spcPts val="2579"/>
                </a:lnSpc>
              </a:pPr>
              <a:r>
                <a:rPr lang="en-US" sz="2149" b="true">
                  <a:solidFill>
                    <a:srgbClr val="0B6B52"/>
                  </a:solidFill>
                  <a:latin typeface="Calibri (MS) Bold"/>
                  <a:ea typeface="Calibri (MS) Bold"/>
                  <a:cs typeface="Calibri (MS) Bold"/>
                  <a:sym typeface="Calibri (MS) Bold"/>
                </a:rPr>
                <a:t>Periodic survey</a:t>
              </a:r>
            </a:p>
          </p:txBody>
        </p:sp>
      </p:grpSp>
      <p:sp>
        <p:nvSpPr>
          <p:cNvPr name="Freeform 52" id="52"/>
          <p:cNvSpPr/>
          <p:nvPr/>
        </p:nvSpPr>
        <p:spPr>
          <a:xfrm flipH="false" flipV="false" rot="0">
            <a:off x="898112" y="2363464"/>
            <a:ext cx="8069052" cy="3811917"/>
          </a:xfrm>
          <a:custGeom>
            <a:avLst/>
            <a:gdLst/>
            <a:ahLst/>
            <a:cxnLst/>
            <a:rect r="r" b="b" t="t" l="l"/>
            <a:pathLst>
              <a:path h="3811917" w="8069052">
                <a:moveTo>
                  <a:pt x="0" y="0"/>
                </a:moveTo>
                <a:lnTo>
                  <a:pt x="8069052" y="0"/>
                </a:lnTo>
                <a:lnTo>
                  <a:pt x="8069052" y="3811917"/>
                </a:lnTo>
                <a:lnTo>
                  <a:pt x="0" y="3811917"/>
                </a:lnTo>
                <a:lnTo>
                  <a:pt x="0" y="0"/>
                </a:lnTo>
                <a:close/>
              </a:path>
            </a:pathLst>
          </a:custGeom>
          <a:blipFill>
            <a:blip r:embed="rId7"/>
            <a:stretch>
              <a:fillRect l="0" t="-9270" r="0" b="-9270"/>
            </a:stretch>
          </a:blipFill>
        </p:spPr>
      </p:sp>
      <p:sp>
        <p:nvSpPr>
          <p:cNvPr name="TextBox 53" id="53"/>
          <p:cNvSpPr txBox="true"/>
          <p:nvPr/>
        </p:nvSpPr>
        <p:spPr>
          <a:xfrm rot="0">
            <a:off x="989144" y="2967990"/>
            <a:ext cx="7798299" cy="3409950"/>
          </a:xfrm>
          <a:prstGeom prst="rect">
            <a:avLst/>
          </a:prstGeom>
        </p:spPr>
        <p:txBody>
          <a:bodyPr anchor="t" rtlCol="false" tIns="0" lIns="0" bIns="0" rIns="0">
            <a:spAutoFit/>
          </a:bodyPr>
          <a:lstStyle/>
          <a:p>
            <a:pPr algn="l" marL="449937" indent="-224968" lvl="1">
              <a:lnSpc>
                <a:spcPts val="2983"/>
              </a:lnSpc>
              <a:buFont typeface="Arial"/>
              <a:buChar char="•"/>
            </a:pPr>
            <a:r>
              <a:rPr lang="en-US" sz="2486">
                <a:solidFill>
                  <a:srgbClr val="026855"/>
                </a:solidFill>
                <a:latin typeface="Calibri (MS)"/>
                <a:ea typeface="Calibri (MS)"/>
                <a:cs typeface="Calibri (MS)"/>
                <a:sym typeface="Calibri (MS)"/>
              </a:rPr>
              <a:t>Right now equipments are handheld devices i.e technician has to walk around the machines and inspect each leak.</a:t>
            </a:r>
          </a:p>
          <a:p>
            <a:pPr algn="l" marL="449937" indent="-224968" lvl="1">
              <a:lnSpc>
                <a:spcPts val="2983"/>
              </a:lnSpc>
              <a:buFont typeface="Arial"/>
              <a:buChar char="•"/>
            </a:pPr>
            <a:r>
              <a:rPr lang="en-US" b="true" sz="2486">
                <a:solidFill>
                  <a:srgbClr val="026855"/>
                </a:solidFill>
                <a:latin typeface="Calibri (MS) Bold"/>
                <a:ea typeface="Calibri (MS) Bold"/>
                <a:cs typeface="Calibri (MS) Bold"/>
                <a:sym typeface="Calibri (MS) Bold"/>
              </a:rPr>
              <a:t>Fluke </a:t>
            </a:r>
            <a:r>
              <a:rPr lang="en-US" sz="2486">
                <a:solidFill>
                  <a:srgbClr val="026855"/>
                </a:solidFill>
                <a:latin typeface="Calibri (MS)"/>
                <a:ea typeface="Calibri (MS)"/>
                <a:cs typeface="Calibri (MS)"/>
                <a:sym typeface="Calibri (MS)"/>
              </a:rPr>
              <a:t>(ii900, ii910): handheld cameras that find air leaks and electrical sparking from a safe distance. They can even estimate how much the leak costs.</a:t>
            </a:r>
          </a:p>
          <a:p>
            <a:pPr algn="l" marL="449937" indent="-224968" lvl="1">
              <a:lnSpc>
                <a:spcPts val="2983"/>
              </a:lnSpc>
              <a:buFont typeface="Arial"/>
              <a:buChar char="•"/>
            </a:pPr>
            <a:r>
              <a:rPr lang="en-US" b="true" sz="2486">
                <a:solidFill>
                  <a:srgbClr val="026855"/>
                </a:solidFill>
                <a:latin typeface="Calibri (MS) Bold"/>
                <a:ea typeface="Calibri (MS) Bold"/>
                <a:cs typeface="Calibri (MS) Bold"/>
                <a:sym typeface="Calibri (MS) Bold"/>
              </a:rPr>
              <a:t>FLIR </a:t>
            </a:r>
            <a:r>
              <a:rPr lang="en-US" sz="2486">
                <a:solidFill>
                  <a:srgbClr val="026855"/>
                </a:solidFill>
                <a:latin typeface="Calibri (MS)"/>
                <a:ea typeface="Calibri (MS)"/>
                <a:cs typeface="Calibri (MS)"/>
                <a:sym typeface="Calibri (MS)"/>
              </a:rPr>
              <a:t>: similar cameras, claimed to work from up to 200 m away</a:t>
            </a:r>
            <a:r>
              <a:rPr lang="en-US" sz="2486">
                <a:solidFill>
                  <a:srgbClr val="094542"/>
                </a:solidFill>
                <a:latin typeface="Calibri (MS)"/>
                <a:ea typeface="Calibri (MS)"/>
                <a:cs typeface="Calibri (MS)"/>
                <a:sym typeface="Calibri (MS)"/>
              </a:rPr>
              <a:t>.</a:t>
            </a:r>
          </a:p>
          <a:p>
            <a:pPr algn="l">
              <a:lnSpc>
                <a:spcPts val="3112"/>
              </a:lnSpc>
            </a:pPr>
          </a:p>
        </p:txBody>
      </p:sp>
      <p:grpSp>
        <p:nvGrpSpPr>
          <p:cNvPr name="Group 54" id="54"/>
          <p:cNvGrpSpPr/>
          <p:nvPr/>
        </p:nvGrpSpPr>
        <p:grpSpPr>
          <a:xfrm rot="0">
            <a:off x="1175385" y="2624825"/>
            <a:ext cx="302043" cy="302043"/>
            <a:chOff x="0" y="0"/>
            <a:chExt cx="548640" cy="548640"/>
          </a:xfrm>
        </p:grpSpPr>
        <p:sp>
          <p:nvSpPr>
            <p:cNvPr name="Freeform 55" id="55" descr="Lightbulb 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8"/>
              <a:stretch>
                <a:fillRect l="0" t="0" r="0" b="0"/>
              </a:stretch>
            </a:blipFill>
          </p:spPr>
        </p:sp>
      </p:grpSp>
      <p:grpSp>
        <p:nvGrpSpPr>
          <p:cNvPr name="Group 56" id="56"/>
          <p:cNvGrpSpPr/>
          <p:nvPr/>
        </p:nvGrpSpPr>
        <p:grpSpPr>
          <a:xfrm rot="0">
            <a:off x="1528953" y="2540964"/>
            <a:ext cx="10363294" cy="542839"/>
            <a:chOff x="0" y="0"/>
            <a:chExt cx="19202400" cy="1005840"/>
          </a:xfrm>
        </p:grpSpPr>
        <p:sp>
          <p:nvSpPr>
            <p:cNvPr name="Freeform 57" id="57"/>
            <p:cNvSpPr/>
            <p:nvPr/>
          </p:nvSpPr>
          <p:spPr>
            <a:xfrm flipH="false" flipV="false" rot="0">
              <a:off x="0" y="0"/>
              <a:ext cx="19202400" cy="1005840"/>
            </a:xfrm>
            <a:custGeom>
              <a:avLst/>
              <a:gdLst/>
              <a:ahLst/>
              <a:cxnLst/>
              <a:rect r="r" b="b" t="t" l="l"/>
              <a:pathLst>
                <a:path h="1005840" w="19202400">
                  <a:moveTo>
                    <a:pt x="0" y="0"/>
                  </a:moveTo>
                  <a:lnTo>
                    <a:pt x="19202400" y="0"/>
                  </a:lnTo>
                  <a:lnTo>
                    <a:pt x="19202400" y="1005840"/>
                  </a:lnTo>
                  <a:lnTo>
                    <a:pt x="0" y="1005840"/>
                  </a:lnTo>
                  <a:close/>
                </a:path>
              </a:pathLst>
            </a:custGeom>
            <a:blipFill>
              <a:blip r:embed="rId4">
                <a:alphaModFix amt="0"/>
              </a:blip>
              <a:stretch>
                <a:fillRect l="0" t="-321987" r="0" b="-321987"/>
              </a:stretch>
            </a:blipFill>
          </p:spPr>
        </p:sp>
        <p:sp>
          <p:nvSpPr>
            <p:cNvPr name="TextBox 58" id="58"/>
            <p:cNvSpPr txBox="true"/>
            <p:nvPr/>
          </p:nvSpPr>
          <p:spPr>
            <a:xfrm>
              <a:off x="0" y="-57150"/>
              <a:ext cx="19202400" cy="1062990"/>
            </a:xfrm>
            <a:prstGeom prst="rect">
              <a:avLst/>
            </a:prstGeom>
          </p:spPr>
          <p:txBody>
            <a:bodyPr anchor="ctr" rtlCol="false" tIns="0" lIns="0" bIns="0" rIns="0"/>
            <a:lstStyle/>
            <a:p>
              <a:pPr algn="l">
                <a:lnSpc>
                  <a:spcPts val="3000"/>
                </a:lnSpc>
              </a:pPr>
              <a:r>
                <a:rPr lang="en-US" sz="2500" b="true">
                  <a:solidFill>
                    <a:srgbClr val="094542"/>
                  </a:solidFill>
                  <a:latin typeface="Calibri (MS) Bold"/>
                  <a:ea typeface="Calibri (MS) Bold"/>
                  <a:cs typeface="Calibri (MS) Bold"/>
                  <a:sym typeface="Calibri (MS) Bold"/>
                </a:rPr>
                <a:t>Existing scenario</a:t>
              </a:r>
            </a:p>
          </p:txBody>
        </p:sp>
      </p:grpSp>
      <p:sp>
        <p:nvSpPr>
          <p:cNvPr name="TextBox 59" id="59"/>
          <p:cNvSpPr txBox="true"/>
          <p:nvPr/>
        </p:nvSpPr>
        <p:spPr>
          <a:xfrm rot="0">
            <a:off x="1053407" y="7600687"/>
            <a:ext cx="3223368" cy="638175"/>
          </a:xfrm>
          <a:prstGeom prst="rect">
            <a:avLst/>
          </a:prstGeom>
        </p:spPr>
        <p:txBody>
          <a:bodyPr anchor="t" rtlCol="false" tIns="0" lIns="0" bIns="0" rIns="0">
            <a:spAutoFit/>
          </a:bodyPr>
          <a:lstStyle/>
          <a:p>
            <a:pPr algn="l">
              <a:lnSpc>
                <a:spcPts val="2339"/>
              </a:lnSpc>
            </a:pPr>
            <a:r>
              <a:rPr lang="en-US" sz="1949">
                <a:solidFill>
                  <a:srgbClr val="0B2E3C"/>
                </a:solidFill>
                <a:latin typeface="Calibri (MS)"/>
                <a:ea typeface="Calibri (MS)"/>
                <a:cs typeface="Calibri (MS)"/>
                <a:sym typeface="Calibri (MS)"/>
              </a:rPr>
              <a:t>Technician walks the plant with a handheld equipment.</a:t>
            </a:r>
          </a:p>
        </p:txBody>
      </p:sp>
      <p:grpSp>
        <p:nvGrpSpPr>
          <p:cNvPr name="Group 60" id="60"/>
          <p:cNvGrpSpPr/>
          <p:nvPr/>
        </p:nvGrpSpPr>
        <p:grpSpPr>
          <a:xfrm rot="0">
            <a:off x="5897674" y="7022812"/>
            <a:ext cx="2378930" cy="429842"/>
            <a:chOff x="0" y="0"/>
            <a:chExt cx="1877568" cy="339252"/>
          </a:xfrm>
        </p:grpSpPr>
        <p:sp>
          <p:nvSpPr>
            <p:cNvPr name="Freeform 61" id="61"/>
            <p:cNvSpPr/>
            <p:nvPr/>
          </p:nvSpPr>
          <p:spPr>
            <a:xfrm flipH="false" flipV="false" rot="0">
              <a:off x="0" y="0"/>
              <a:ext cx="1877568" cy="339252"/>
            </a:xfrm>
            <a:custGeom>
              <a:avLst/>
              <a:gdLst/>
              <a:ahLst/>
              <a:cxnLst/>
              <a:rect r="r" b="b" t="t" l="l"/>
              <a:pathLst>
                <a:path h="339252" w="1877568">
                  <a:moveTo>
                    <a:pt x="0" y="0"/>
                  </a:moveTo>
                  <a:lnTo>
                    <a:pt x="1877568" y="0"/>
                  </a:lnTo>
                  <a:lnTo>
                    <a:pt x="1877568" y="339252"/>
                  </a:lnTo>
                  <a:lnTo>
                    <a:pt x="0" y="339252"/>
                  </a:lnTo>
                  <a:close/>
                </a:path>
              </a:pathLst>
            </a:custGeom>
            <a:blipFill>
              <a:blip r:embed="rId4">
                <a:alphaModFix amt="0"/>
              </a:blip>
              <a:stretch>
                <a:fillRect l="0" t="-64713" r="0" b="-50963"/>
              </a:stretch>
            </a:blipFill>
          </p:spPr>
        </p:sp>
        <p:sp>
          <p:nvSpPr>
            <p:cNvPr name="TextBox 62" id="62"/>
            <p:cNvSpPr txBox="true"/>
            <p:nvPr/>
          </p:nvSpPr>
          <p:spPr>
            <a:xfrm>
              <a:off x="0" y="-38100"/>
              <a:ext cx="1877568" cy="377352"/>
            </a:xfrm>
            <a:prstGeom prst="rect">
              <a:avLst/>
            </a:prstGeom>
          </p:spPr>
          <p:txBody>
            <a:bodyPr anchor="ctr" rtlCol="false" tIns="0" lIns="0" bIns="0" rIns="0"/>
            <a:lstStyle/>
            <a:p>
              <a:pPr algn="l">
                <a:lnSpc>
                  <a:spcPts val="2579"/>
                </a:lnSpc>
              </a:pPr>
              <a:r>
                <a:rPr lang="en-US" sz="2149" b="true">
                  <a:solidFill>
                    <a:srgbClr val="0B6B52"/>
                  </a:solidFill>
                  <a:latin typeface="Calibri (MS) Bold"/>
                  <a:ea typeface="Calibri (MS) Bold"/>
                  <a:cs typeface="Calibri (MS) Bold"/>
                  <a:sym typeface="Calibri (MS) Bold"/>
                </a:rPr>
                <a:t>Locate and tag</a:t>
              </a:r>
            </a:p>
          </p:txBody>
        </p:sp>
      </p:grpSp>
      <p:grpSp>
        <p:nvGrpSpPr>
          <p:cNvPr name="Group 63" id="63"/>
          <p:cNvGrpSpPr/>
          <p:nvPr/>
        </p:nvGrpSpPr>
        <p:grpSpPr>
          <a:xfrm rot="0">
            <a:off x="14799747" y="7045755"/>
            <a:ext cx="2378930" cy="753692"/>
            <a:chOff x="0" y="0"/>
            <a:chExt cx="1877568" cy="594851"/>
          </a:xfrm>
        </p:grpSpPr>
        <p:sp>
          <p:nvSpPr>
            <p:cNvPr name="Freeform 64" id="64"/>
            <p:cNvSpPr/>
            <p:nvPr/>
          </p:nvSpPr>
          <p:spPr>
            <a:xfrm flipH="false" flipV="false" rot="0">
              <a:off x="0" y="0"/>
              <a:ext cx="1877568" cy="594851"/>
            </a:xfrm>
            <a:custGeom>
              <a:avLst/>
              <a:gdLst/>
              <a:ahLst/>
              <a:cxnLst/>
              <a:rect r="r" b="b" t="t" l="l"/>
              <a:pathLst>
                <a:path h="594851" w="1877568">
                  <a:moveTo>
                    <a:pt x="0" y="0"/>
                  </a:moveTo>
                  <a:lnTo>
                    <a:pt x="1877568" y="0"/>
                  </a:lnTo>
                  <a:lnTo>
                    <a:pt x="1877568" y="594851"/>
                  </a:lnTo>
                  <a:lnTo>
                    <a:pt x="0" y="594851"/>
                  </a:lnTo>
                  <a:close/>
                </a:path>
              </a:pathLst>
            </a:custGeom>
            <a:blipFill>
              <a:blip r:embed="rId4">
                <a:alphaModFix amt="0"/>
              </a:blip>
              <a:stretch>
                <a:fillRect l="0" t="-36906" r="0" b="13902"/>
              </a:stretch>
            </a:blipFill>
          </p:spPr>
        </p:sp>
        <p:sp>
          <p:nvSpPr>
            <p:cNvPr name="TextBox 65" id="65"/>
            <p:cNvSpPr txBox="true"/>
            <p:nvPr/>
          </p:nvSpPr>
          <p:spPr>
            <a:xfrm>
              <a:off x="0" y="-38100"/>
              <a:ext cx="1877568" cy="632951"/>
            </a:xfrm>
            <a:prstGeom prst="rect">
              <a:avLst/>
            </a:prstGeom>
          </p:spPr>
          <p:txBody>
            <a:bodyPr anchor="ctr" rtlCol="false" tIns="0" lIns="0" bIns="0" rIns="0"/>
            <a:lstStyle/>
            <a:p>
              <a:pPr algn="l">
                <a:lnSpc>
                  <a:spcPts val="2579"/>
                </a:lnSpc>
              </a:pPr>
              <a:r>
                <a:rPr lang="en-US" sz="2149" b="true">
                  <a:solidFill>
                    <a:srgbClr val="0B6B52"/>
                  </a:solidFill>
                  <a:latin typeface="Calibri (MS) Bold"/>
                  <a:ea typeface="Calibri (MS) Bold"/>
                  <a:cs typeface="Calibri (MS) Bold"/>
                  <a:sym typeface="Calibri (MS) Bold"/>
                </a:rPr>
                <a:t>Re-inspe</a:t>
              </a:r>
              <a:r>
                <a:rPr lang="en-US" sz="2149" b="true">
                  <a:solidFill>
                    <a:srgbClr val="0B6B52"/>
                  </a:solidFill>
                  <a:latin typeface="Calibri (MS) Bold"/>
                  <a:ea typeface="Calibri (MS) Bold"/>
                  <a:cs typeface="Calibri (MS) Bold"/>
                  <a:sym typeface="Calibri (MS) Bold"/>
                </a:rPr>
                <a:t>ct later</a:t>
              </a:r>
            </a:p>
            <a:p>
              <a:pPr algn="l">
                <a:lnSpc>
                  <a:spcPts val="2579"/>
                </a:lnSpc>
              </a:pPr>
            </a:p>
          </p:txBody>
        </p:sp>
      </p:grpSp>
      <p:grpSp>
        <p:nvGrpSpPr>
          <p:cNvPr name="Group 66" id="66"/>
          <p:cNvGrpSpPr/>
          <p:nvPr/>
        </p:nvGrpSpPr>
        <p:grpSpPr>
          <a:xfrm rot="0">
            <a:off x="10416540" y="7045755"/>
            <a:ext cx="2378930" cy="753692"/>
            <a:chOff x="0" y="0"/>
            <a:chExt cx="1877568" cy="594851"/>
          </a:xfrm>
        </p:grpSpPr>
        <p:sp>
          <p:nvSpPr>
            <p:cNvPr name="Freeform 67" id="67"/>
            <p:cNvSpPr/>
            <p:nvPr/>
          </p:nvSpPr>
          <p:spPr>
            <a:xfrm flipH="false" flipV="false" rot="0">
              <a:off x="0" y="0"/>
              <a:ext cx="1877568" cy="594851"/>
            </a:xfrm>
            <a:custGeom>
              <a:avLst/>
              <a:gdLst/>
              <a:ahLst/>
              <a:cxnLst/>
              <a:rect r="r" b="b" t="t" l="l"/>
              <a:pathLst>
                <a:path h="594851" w="1877568">
                  <a:moveTo>
                    <a:pt x="0" y="0"/>
                  </a:moveTo>
                  <a:lnTo>
                    <a:pt x="1877568" y="0"/>
                  </a:lnTo>
                  <a:lnTo>
                    <a:pt x="1877568" y="594851"/>
                  </a:lnTo>
                  <a:lnTo>
                    <a:pt x="0" y="594851"/>
                  </a:lnTo>
                  <a:close/>
                </a:path>
              </a:pathLst>
            </a:custGeom>
            <a:blipFill>
              <a:blip r:embed="rId4">
                <a:alphaModFix amt="0"/>
              </a:blip>
              <a:stretch>
                <a:fillRect l="0" t="-36906" r="0" b="13902"/>
              </a:stretch>
            </a:blipFill>
          </p:spPr>
        </p:sp>
        <p:sp>
          <p:nvSpPr>
            <p:cNvPr name="TextBox 68" id="68"/>
            <p:cNvSpPr txBox="true"/>
            <p:nvPr/>
          </p:nvSpPr>
          <p:spPr>
            <a:xfrm>
              <a:off x="0" y="-38100"/>
              <a:ext cx="1877568" cy="632951"/>
            </a:xfrm>
            <a:prstGeom prst="rect">
              <a:avLst/>
            </a:prstGeom>
          </p:spPr>
          <p:txBody>
            <a:bodyPr anchor="ctr" rtlCol="false" tIns="0" lIns="0" bIns="0" rIns="0"/>
            <a:lstStyle/>
            <a:p>
              <a:pPr algn="l">
                <a:lnSpc>
                  <a:spcPts val="2579"/>
                </a:lnSpc>
              </a:pPr>
              <a:r>
                <a:rPr lang="en-US" sz="2149" b="true">
                  <a:solidFill>
                    <a:srgbClr val="0B6B52"/>
                  </a:solidFill>
                  <a:latin typeface="Calibri (MS) Bold"/>
                  <a:ea typeface="Calibri (MS) Bold"/>
                  <a:cs typeface="Calibri (MS) Bold"/>
                  <a:sym typeface="Calibri (MS) Bold"/>
                </a:rPr>
                <a:t>Shu</a:t>
              </a:r>
              <a:r>
                <a:rPr lang="en-US" sz="2149" b="true">
                  <a:solidFill>
                    <a:srgbClr val="0B6B52"/>
                  </a:solidFill>
                  <a:latin typeface="Calibri (MS) Bold"/>
                  <a:ea typeface="Calibri (MS) Bold"/>
                  <a:cs typeface="Calibri (MS) Bold"/>
                  <a:sym typeface="Calibri (MS) Bold"/>
                </a:rPr>
                <a:t>t down &amp; repair</a:t>
              </a:r>
            </a:p>
            <a:p>
              <a:pPr algn="l">
                <a:lnSpc>
                  <a:spcPts val="2579"/>
                </a:lnSpc>
              </a:pPr>
            </a:p>
          </p:txBody>
        </p:sp>
      </p:grpSp>
      <p:sp>
        <p:nvSpPr>
          <p:cNvPr name="TextBox 69" id="69"/>
          <p:cNvSpPr txBox="true"/>
          <p:nvPr/>
        </p:nvSpPr>
        <p:spPr>
          <a:xfrm rot="0">
            <a:off x="14350942" y="7453049"/>
            <a:ext cx="3223368" cy="933450"/>
          </a:xfrm>
          <a:prstGeom prst="rect">
            <a:avLst/>
          </a:prstGeom>
        </p:spPr>
        <p:txBody>
          <a:bodyPr anchor="t" rtlCol="false" tIns="0" lIns="0" bIns="0" rIns="0">
            <a:spAutoFit/>
          </a:bodyPr>
          <a:lstStyle/>
          <a:p>
            <a:pPr algn="l">
              <a:lnSpc>
                <a:spcPts val="2339"/>
              </a:lnSpc>
            </a:pPr>
            <a:r>
              <a:rPr lang="en-US" sz="1949">
                <a:solidFill>
                  <a:srgbClr val="0B2E3C"/>
                </a:solidFill>
                <a:latin typeface="Calibri (MS)"/>
                <a:ea typeface="Calibri (MS)"/>
                <a:cs typeface="Calibri (MS)"/>
                <a:sym typeface="Calibri (MS)"/>
              </a:rPr>
              <a:t>Next surv</a:t>
            </a:r>
            <a:r>
              <a:rPr lang="en-US" sz="1949">
                <a:solidFill>
                  <a:srgbClr val="0B2E3C"/>
                </a:solidFill>
                <a:latin typeface="Calibri (MS)"/>
                <a:ea typeface="Calibri (MS)"/>
                <a:cs typeface="Calibri (MS)"/>
                <a:sym typeface="Calibri (MS)"/>
              </a:rPr>
              <a:t>ey is months away; new leaks go unseen</a:t>
            </a:r>
          </a:p>
          <a:p>
            <a:pPr algn="l">
              <a:lnSpc>
                <a:spcPts val="2339"/>
              </a:lnSpc>
            </a:pPr>
          </a:p>
        </p:txBody>
      </p:sp>
      <p:sp>
        <p:nvSpPr>
          <p:cNvPr name="TextBox 70" id="70"/>
          <p:cNvSpPr txBox="true"/>
          <p:nvPr/>
        </p:nvSpPr>
        <p:spPr>
          <a:xfrm rot="0">
            <a:off x="10023493" y="7495339"/>
            <a:ext cx="3223368" cy="1228725"/>
          </a:xfrm>
          <a:prstGeom prst="rect">
            <a:avLst/>
          </a:prstGeom>
        </p:spPr>
        <p:txBody>
          <a:bodyPr anchor="t" rtlCol="false" tIns="0" lIns="0" bIns="0" rIns="0">
            <a:spAutoFit/>
          </a:bodyPr>
          <a:lstStyle/>
          <a:p>
            <a:pPr algn="l">
              <a:lnSpc>
                <a:spcPts val="2339"/>
              </a:lnSpc>
            </a:pPr>
            <a:r>
              <a:rPr lang="en-US" sz="1949">
                <a:solidFill>
                  <a:srgbClr val="0B2E3C"/>
                </a:solidFill>
                <a:latin typeface="Calibri (MS)"/>
                <a:ea typeface="Calibri (MS)"/>
                <a:cs typeface="Calibri (MS)"/>
                <a:sym typeface="Calibri (MS)"/>
              </a:rPr>
              <a:t>L</a:t>
            </a:r>
            <a:r>
              <a:rPr lang="en-US" sz="1949">
                <a:solidFill>
                  <a:srgbClr val="0B2E3C"/>
                </a:solidFill>
                <a:latin typeface="Calibri (MS)"/>
                <a:ea typeface="Calibri (MS)"/>
                <a:cs typeface="Calibri (MS)"/>
                <a:sym typeface="Calibri (MS)"/>
              </a:rPr>
              <a:t>ine stopped for access; electrical faults wait for an outage</a:t>
            </a:r>
          </a:p>
          <a:p>
            <a:pPr algn="l">
              <a:lnSpc>
                <a:spcPts val="2339"/>
              </a:lnSpc>
            </a:pPr>
          </a:p>
        </p:txBody>
      </p:sp>
      <p:sp>
        <p:nvSpPr>
          <p:cNvPr name="TextBox 71" id="71"/>
          <p:cNvSpPr txBox="true"/>
          <p:nvPr/>
        </p:nvSpPr>
        <p:spPr>
          <a:xfrm rot="0">
            <a:off x="5485577" y="7468510"/>
            <a:ext cx="3223368" cy="1228725"/>
          </a:xfrm>
          <a:prstGeom prst="rect">
            <a:avLst/>
          </a:prstGeom>
        </p:spPr>
        <p:txBody>
          <a:bodyPr anchor="t" rtlCol="false" tIns="0" lIns="0" bIns="0" rIns="0">
            <a:spAutoFit/>
          </a:bodyPr>
          <a:lstStyle/>
          <a:p>
            <a:pPr algn="l">
              <a:lnSpc>
                <a:spcPts val="2339"/>
              </a:lnSpc>
            </a:pPr>
            <a:r>
              <a:rPr lang="en-US" sz="1949">
                <a:solidFill>
                  <a:srgbClr val="0B2E3C"/>
                </a:solidFill>
                <a:latin typeface="Calibri (MS)"/>
                <a:ea typeface="Calibri (MS)"/>
                <a:cs typeface="Calibri (MS)"/>
                <a:sym typeface="Calibri (MS)"/>
              </a:rPr>
              <a:t>L</a:t>
            </a:r>
            <a:r>
              <a:rPr lang="en-US" sz="1949">
                <a:solidFill>
                  <a:srgbClr val="0B2E3C"/>
                </a:solidFill>
                <a:latin typeface="Calibri (MS)"/>
                <a:ea typeface="Calibri (MS)"/>
                <a:cs typeface="Calibri (MS)"/>
                <a:sym typeface="Calibri (MS)"/>
              </a:rPr>
              <a:t>eak found, marked with a sticker or paper note,no coordinates </a:t>
            </a:r>
          </a:p>
          <a:p>
            <a:pPr algn="l">
              <a:lnSpc>
                <a:spcPts val="2339"/>
              </a:lnSpc>
            </a:pPr>
          </a:p>
        </p:txBody>
      </p:sp>
      <p:grpSp>
        <p:nvGrpSpPr>
          <p:cNvPr name="Group 72" id="72"/>
          <p:cNvGrpSpPr/>
          <p:nvPr/>
        </p:nvGrpSpPr>
        <p:grpSpPr>
          <a:xfrm rot="0">
            <a:off x="9809204" y="2926868"/>
            <a:ext cx="2986266" cy="2266749"/>
            <a:chOff x="0" y="0"/>
            <a:chExt cx="2333409" cy="1771193"/>
          </a:xfrm>
        </p:grpSpPr>
        <p:sp>
          <p:nvSpPr>
            <p:cNvPr name="Freeform 73" id="73"/>
            <p:cNvSpPr/>
            <p:nvPr/>
          </p:nvSpPr>
          <p:spPr>
            <a:xfrm flipH="false" flipV="false" rot="0">
              <a:off x="0" y="0"/>
              <a:ext cx="2333498" cy="1771281"/>
            </a:xfrm>
            <a:custGeom>
              <a:avLst/>
              <a:gdLst/>
              <a:ahLst/>
              <a:cxnLst/>
              <a:rect r="r" b="b" t="t" l="l"/>
              <a:pathLst>
                <a:path h="1771281" w="2333498">
                  <a:moveTo>
                    <a:pt x="0" y="113425"/>
                  </a:moveTo>
                  <a:cubicBezTo>
                    <a:pt x="0" y="50800"/>
                    <a:pt x="44196" y="0"/>
                    <a:pt x="98679" y="0"/>
                  </a:cubicBezTo>
                  <a:lnTo>
                    <a:pt x="2234819" y="0"/>
                  </a:lnTo>
                  <a:cubicBezTo>
                    <a:pt x="2289302" y="0"/>
                    <a:pt x="2333498" y="50800"/>
                    <a:pt x="2333498" y="113425"/>
                  </a:cubicBezTo>
                  <a:lnTo>
                    <a:pt x="2333498" y="1657870"/>
                  </a:lnTo>
                  <a:cubicBezTo>
                    <a:pt x="2333498" y="1720494"/>
                    <a:pt x="2289302" y="1771281"/>
                    <a:pt x="2234819" y="1771281"/>
                  </a:cubicBezTo>
                  <a:lnTo>
                    <a:pt x="98679" y="1771281"/>
                  </a:lnTo>
                  <a:cubicBezTo>
                    <a:pt x="44196" y="1771281"/>
                    <a:pt x="0" y="1720494"/>
                    <a:pt x="0" y="1657870"/>
                  </a:cubicBezTo>
                  <a:close/>
                </a:path>
              </a:pathLst>
            </a:custGeom>
            <a:solidFill>
              <a:srgbClr val="FFFFFF"/>
            </a:solidFill>
            <a:ln w="12700" cap="sq">
              <a:solidFill>
                <a:srgbClr val="BFE0CC"/>
              </a:solidFill>
              <a:prstDash val="solid"/>
              <a:miter/>
            </a:ln>
          </p:spPr>
        </p:sp>
      </p:grpSp>
      <p:grpSp>
        <p:nvGrpSpPr>
          <p:cNvPr name="Group 74" id="74"/>
          <p:cNvGrpSpPr/>
          <p:nvPr/>
        </p:nvGrpSpPr>
        <p:grpSpPr>
          <a:xfrm rot="0">
            <a:off x="13633670" y="2926868"/>
            <a:ext cx="2986266" cy="2266749"/>
            <a:chOff x="0" y="0"/>
            <a:chExt cx="2333409" cy="1771193"/>
          </a:xfrm>
        </p:grpSpPr>
        <p:sp>
          <p:nvSpPr>
            <p:cNvPr name="Freeform 75" id="75"/>
            <p:cNvSpPr/>
            <p:nvPr/>
          </p:nvSpPr>
          <p:spPr>
            <a:xfrm flipH="false" flipV="false" rot="0">
              <a:off x="0" y="0"/>
              <a:ext cx="2333498" cy="1771281"/>
            </a:xfrm>
            <a:custGeom>
              <a:avLst/>
              <a:gdLst/>
              <a:ahLst/>
              <a:cxnLst/>
              <a:rect r="r" b="b" t="t" l="l"/>
              <a:pathLst>
                <a:path h="1771281" w="2333498">
                  <a:moveTo>
                    <a:pt x="0" y="113425"/>
                  </a:moveTo>
                  <a:cubicBezTo>
                    <a:pt x="0" y="50800"/>
                    <a:pt x="44196" y="0"/>
                    <a:pt x="98679" y="0"/>
                  </a:cubicBezTo>
                  <a:lnTo>
                    <a:pt x="2234819" y="0"/>
                  </a:lnTo>
                  <a:cubicBezTo>
                    <a:pt x="2289302" y="0"/>
                    <a:pt x="2333498" y="50800"/>
                    <a:pt x="2333498" y="113425"/>
                  </a:cubicBezTo>
                  <a:lnTo>
                    <a:pt x="2333498" y="1657870"/>
                  </a:lnTo>
                  <a:cubicBezTo>
                    <a:pt x="2333498" y="1720494"/>
                    <a:pt x="2289302" y="1771281"/>
                    <a:pt x="2234819" y="1771281"/>
                  </a:cubicBezTo>
                  <a:lnTo>
                    <a:pt x="98679" y="1771281"/>
                  </a:lnTo>
                  <a:cubicBezTo>
                    <a:pt x="44196" y="1771281"/>
                    <a:pt x="0" y="1720494"/>
                    <a:pt x="0" y="1657870"/>
                  </a:cubicBezTo>
                  <a:close/>
                </a:path>
              </a:pathLst>
            </a:custGeom>
            <a:solidFill>
              <a:srgbClr val="FFFFFF"/>
            </a:solidFill>
            <a:ln w="12700" cap="sq">
              <a:solidFill>
                <a:srgbClr val="BFE0CC"/>
              </a:solidFill>
              <a:prstDash val="solid"/>
              <a:miter/>
            </a:ln>
          </p:spPr>
        </p:sp>
      </p:grpSp>
      <p:grpSp>
        <p:nvGrpSpPr>
          <p:cNvPr name="Group 76" id="76"/>
          <p:cNvGrpSpPr/>
          <p:nvPr/>
        </p:nvGrpSpPr>
        <p:grpSpPr>
          <a:xfrm rot="0">
            <a:off x="9994918" y="3053715"/>
            <a:ext cx="10363294" cy="542839"/>
            <a:chOff x="0" y="0"/>
            <a:chExt cx="19202400" cy="1005840"/>
          </a:xfrm>
        </p:grpSpPr>
        <p:sp>
          <p:nvSpPr>
            <p:cNvPr name="Freeform 77" id="77"/>
            <p:cNvSpPr/>
            <p:nvPr/>
          </p:nvSpPr>
          <p:spPr>
            <a:xfrm flipH="false" flipV="false" rot="0">
              <a:off x="0" y="0"/>
              <a:ext cx="19202400" cy="1005840"/>
            </a:xfrm>
            <a:custGeom>
              <a:avLst/>
              <a:gdLst/>
              <a:ahLst/>
              <a:cxnLst/>
              <a:rect r="r" b="b" t="t" l="l"/>
              <a:pathLst>
                <a:path h="1005840" w="19202400">
                  <a:moveTo>
                    <a:pt x="0" y="0"/>
                  </a:moveTo>
                  <a:lnTo>
                    <a:pt x="19202400" y="0"/>
                  </a:lnTo>
                  <a:lnTo>
                    <a:pt x="19202400" y="1005840"/>
                  </a:lnTo>
                  <a:lnTo>
                    <a:pt x="0" y="1005840"/>
                  </a:lnTo>
                  <a:close/>
                </a:path>
              </a:pathLst>
            </a:custGeom>
            <a:blipFill>
              <a:blip r:embed="rId4">
                <a:alphaModFix amt="0"/>
              </a:blip>
              <a:stretch>
                <a:fillRect l="0" t="-321987" r="0" b="-321987"/>
              </a:stretch>
            </a:blipFill>
          </p:spPr>
        </p:sp>
        <p:sp>
          <p:nvSpPr>
            <p:cNvPr name="TextBox 78" id="78"/>
            <p:cNvSpPr txBox="true"/>
            <p:nvPr/>
          </p:nvSpPr>
          <p:spPr>
            <a:xfrm>
              <a:off x="0" y="-57150"/>
              <a:ext cx="19202400" cy="1062990"/>
            </a:xfrm>
            <a:prstGeom prst="rect">
              <a:avLst/>
            </a:prstGeom>
          </p:spPr>
          <p:txBody>
            <a:bodyPr anchor="ctr" rtlCol="false" tIns="0" lIns="0" bIns="0" rIns="0"/>
            <a:lstStyle/>
            <a:p>
              <a:pPr algn="l">
                <a:lnSpc>
                  <a:spcPts val="3000"/>
                </a:lnSpc>
              </a:pPr>
              <a:r>
                <a:rPr lang="en-US" sz="2500" b="true">
                  <a:solidFill>
                    <a:srgbClr val="094542"/>
                  </a:solidFill>
                  <a:latin typeface="Calibri (MS) Bold"/>
                  <a:ea typeface="Calibri (MS) Bold"/>
                  <a:cs typeface="Calibri (MS) Bold"/>
                  <a:sym typeface="Calibri (MS) Bold"/>
                </a:rPr>
                <a:t>Price of the device :</a:t>
              </a:r>
            </a:p>
          </p:txBody>
        </p:sp>
      </p:grpSp>
      <p:sp>
        <p:nvSpPr>
          <p:cNvPr name="TextBox 79" id="79"/>
          <p:cNvSpPr txBox="true"/>
          <p:nvPr/>
        </p:nvSpPr>
        <p:spPr>
          <a:xfrm rot="0">
            <a:off x="9994918" y="3635745"/>
            <a:ext cx="2462303" cy="706120"/>
          </a:xfrm>
          <a:prstGeom prst="rect">
            <a:avLst/>
          </a:prstGeom>
        </p:spPr>
        <p:txBody>
          <a:bodyPr anchor="t" rtlCol="false" tIns="0" lIns="0" bIns="0" rIns="0">
            <a:spAutoFit/>
          </a:bodyPr>
          <a:lstStyle/>
          <a:p>
            <a:pPr algn="ctr">
              <a:lnSpc>
                <a:spcPts val="5179"/>
              </a:lnSpc>
              <a:spcBef>
                <a:spcPct val="0"/>
              </a:spcBef>
            </a:pPr>
            <a:r>
              <a:rPr lang="en-US" sz="3699">
                <a:solidFill>
                  <a:srgbClr val="000000"/>
                </a:solidFill>
                <a:latin typeface="Calibri (MS)"/>
                <a:ea typeface="Calibri (MS)"/>
                <a:cs typeface="Calibri (MS)"/>
                <a:sym typeface="Calibri (MS)"/>
              </a:rPr>
              <a:t>10k-15k $</a:t>
            </a:r>
          </a:p>
        </p:txBody>
      </p:sp>
      <p:sp>
        <p:nvSpPr>
          <p:cNvPr name="TextBox 80" id="80"/>
          <p:cNvSpPr txBox="true"/>
          <p:nvPr/>
        </p:nvSpPr>
        <p:spPr>
          <a:xfrm rot="0">
            <a:off x="10023493" y="4388168"/>
            <a:ext cx="2462303" cy="512445"/>
          </a:xfrm>
          <a:prstGeom prst="rect">
            <a:avLst/>
          </a:prstGeom>
        </p:spPr>
        <p:txBody>
          <a:bodyPr anchor="t" rtlCol="false" tIns="0" lIns="0" bIns="0" rIns="0">
            <a:spAutoFit/>
          </a:bodyPr>
          <a:lstStyle/>
          <a:p>
            <a:pPr algn="ctr">
              <a:lnSpc>
                <a:spcPts val="3780"/>
              </a:lnSpc>
              <a:spcBef>
                <a:spcPct val="0"/>
              </a:spcBef>
            </a:pPr>
            <a:r>
              <a:rPr lang="en-US" sz="2700" u="sng">
                <a:solidFill>
                  <a:srgbClr val="5170FF"/>
                </a:solidFill>
                <a:latin typeface="Calibri (MS)"/>
                <a:ea typeface="Calibri (MS)"/>
                <a:cs typeface="Calibri (MS)"/>
                <a:sym typeface="Calibri (MS)"/>
                <a:hlinkClick r:id="rId9" tooltip="https://www.fluke.com/en-us/product/industrial-imaging/precision-acoustic-imager-ii910"/>
              </a:rPr>
              <a:t>click here</a:t>
            </a:r>
          </a:p>
        </p:txBody>
      </p:sp>
      <p:grpSp>
        <p:nvGrpSpPr>
          <p:cNvPr name="Group 81" id="81"/>
          <p:cNvGrpSpPr/>
          <p:nvPr/>
        </p:nvGrpSpPr>
        <p:grpSpPr>
          <a:xfrm rot="0">
            <a:off x="14045367" y="2717501"/>
            <a:ext cx="1508760" cy="1980247"/>
            <a:chOff x="0" y="0"/>
            <a:chExt cx="2011680" cy="2640329"/>
          </a:xfrm>
        </p:grpSpPr>
        <p:sp>
          <p:nvSpPr>
            <p:cNvPr name="Freeform 82" id="82"/>
            <p:cNvSpPr/>
            <p:nvPr/>
          </p:nvSpPr>
          <p:spPr>
            <a:xfrm flipH="false" flipV="false" rot="0">
              <a:off x="0" y="0"/>
              <a:ext cx="2011680" cy="2640329"/>
            </a:xfrm>
            <a:custGeom>
              <a:avLst/>
              <a:gdLst/>
              <a:ahLst/>
              <a:cxnLst/>
              <a:rect r="r" b="b" t="t" l="l"/>
              <a:pathLst>
                <a:path h="2640329" w="2011680">
                  <a:moveTo>
                    <a:pt x="0" y="0"/>
                  </a:moveTo>
                  <a:lnTo>
                    <a:pt x="2011680" y="0"/>
                  </a:lnTo>
                  <a:lnTo>
                    <a:pt x="2011680" y="2640329"/>
                  </a:lnTo>
                  <a:lnTo>
                    <a:pt x="0" y="2640329"/>
                  </a:lnTo>
                  <a:close/>
                </a:path>
              </a:pathLst>
            </a:custGeom>
            <a:blipFill>
              <a:blip r:embed="rId4">
                <a:alphaModFix amt="0"/>
              </a:blip>
              <a:stretch>
                <a:fillRect l="0" t="-3763" r="0" b="74071"/>
              </a:stretch>
            </a:blipFill>
          </p:spPr>
        </p:sp>
        <p:sp>
          <p:nvSpPr>
            <p:cNvPr name="TextBox 83" id="83"/>
            <p:cNvSpPr txBox="true"/>
            <p:nvPr/>
          </p:nvSpPr>
          <p:spPr>
            <a:xfrm>
              <a:off x="0" y="-19050"/>
              <a:ext cx="2011680" cy="2659379"/>
            </a:xfrm>
            <a:prstGeom prst="rect">
              <a:avLst/>
            </a:prstGeom>
          </p:spPr>
          <p:txBody>
            <a:bodyPr anchor="ctr" rtlCol="false" tIns="0" lIns="0" bIns="0" rIns="0"/>
            <a:lstStyle/>
            <a:p>
              <a:pPr algn="l">
                <a:lnSpc>
                  <a:spcPts val="3239"/>
                </a:lnSpc>
              </a:pPr>
              <a:r>
                <a:rPr lang="en-US" sz="2699" b="true">
                  <a:solidFill>
                    <a:srgbClr val="0B6B52"/>
                  </a:solidFill>
                  <a:latin typeface="Cambria Bold"/>
                  <a:ea typeface="Cambria Bold"/>
                  <a:cs typeface="Cambria Bold"/>
                  <a:sym typeface="Cambria Bold"/>
                </a:rPr>
                <a:t>20–30%</a:t>
              </a:r>
            </a:p>
          </p:txBody>
        </p:sp>
      </p:grpSp>
      <p:sp>
        <p:nvSpPr>
          <p:cNvPr name="TextBox 84" id="84"/>
          <p:cNvSpPr txBox="true"/>
          <p:nvPr/>
        </p:nvSpPr>
        <p:spPr>
          <a:xfrm rot="0">
            <a:off x="14045367" y="4126230"/>
            <a:ext cx="2095717" cy="809625"/>
          </a:xfrm>
          <a:prstGeom prst="rect">
            <a:avLst/>
          </a:prstGeom>
        </p:spPr>
        <p:txBody>
          <a:bodyPr anchor="t" rtlCol="false" tIns="0" lIns="0" bIns="0" rIns="0">
            <a:spAutoFit/>
          </a:bodyPr>
          <a:lstStyle/>
          <a:p>
            <a:pPr algn="l">
              <a:lnSpc>
                <a:spcPts val="2039"/>
              </a:lnSpc>
            </a:pPr>
            <a:r>
              <a:rPr lang="en-US" sz="1699">
                <a:solidFill>
                  <a:srgbClr val="0B2E3C"/>
                </a:solidFill>
                <a:latin typeface="Calibri (MS)"/>
                <a:ea typeface="Calibri (MS)"/>
                <a:cs typeface="Calibri (MS)"/>
                <a:sym typeface="Calibri (MS)"/>
              </a:rPr>
              <a:t>of compressed air output is typically lost to leaks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grpSp>
        <p:nvGrpSpPr>
          <p:cNvPr name="Group 2" id="2"/>
          <p:cNvGrpSpPr/>
          <p:nvPr/>
        </p:nvGrpSpPr>
        <p:grpSpPr>
          <a:xfrm rot="0">
            <a:off x="16360159" y="472916"/>
            <a:ext cx="1248727" cy="1248727"/>
            <a:chOff x="0" y="0"/>
            <a:chExt cx="1664970" cy="1664970"/>
          </a:xfrm>
        </p:grpSpPr>
        <p:sp>
          <p:nvSpPr>
            <p:cNvPr name="Freeform 3" id="3"/>
            <p:cNvSpPr/>
            <p:nvPr/>
          </p:nvSpPr>
          <p:spPr>
            <a:xfrm flipH="false" flipV="false" rot="0">
              <a:off x="0" y="0"/>
              <a:ext cx="1664970" cy="1664970"/>
            </a:xfrm>
            <a:custGeom>
              <a:avLst/>
              <a:gdLst/>
              <a:ahLst/>
              <a:cxnLst/>
              <a:rect r="r" b="b" t="t" l="l"/>
              <a:pathLst>
                <a:path h="1664970" w="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4" id="4"/>
          <p:cNvGrpSpPr/>
          <p:nvPr/>
        </p:nvGrpSpPr>
        <p:grpSpPr>
          <a:xfrm rot="0">
            <a:off x="16583920" y="576072"/>
            <a:ext cx="801195" cy="1042416"/>
            <a:chOff x="0" y="0"/>
            <a:chExt cx="1068260" cy="1389888"/>
          </a:xfrm>
        </p:grpSpPr>
        <p:sp>
          <p:nvSpPr>
            <p:cNvPr name="Freeform 5" id="5" descr="Genesis logo"/>
            <p:cNvSpPr/>
            <p:nvPr/>
          </p:nvSpPr>
          <p:spPr>
            <a:xfrm flipH="false" flipV="false" rot="0">
              <a:off x="0" y="0"/>
              <a:ext cx="1068324" cy="1389888"/>
            </a:xfrm>
            <a:custGeom>
              <a:avLst/>
              <a:gdLst/>
              <a:ahLst/>
              <a:cxnLst/>
              <a:rect r="r" b="b" t="t" l="l"/>
              <a:pathLst>
                <a:path h="1389888" w="1068324">
                  <a:moveTo>
                    <a:pt x="0" y="0"/>
                  </a:moveTo>
                  <a:lnTo>
                    <a:pt x="1068324" y="0"/>
                  </a:lnTo>
                  <a:lnTo>
                    <a:pt x="1068324" y="1389888"/>
                  </a:lnTo>
                  <a:lnTo>
                    <a:pt x="0" y="1389888"/>
                  </a:lnTo>
                  <a:lnTo>
                    <a:pt x="0" y="0"/>
                  </a:lnTo>
                  <a:close/>
                </a:path>
              </a:pathLst>
            </a:custGeom>
            <a:blipFill>
              <a:blip r:embed="rId3"/>
              <a:stretch>
                <a:fillRect l="0" t="0" r="5" b="0"/>
              </a:stretch>
            </a:blipFill>
          </p:spPr>
        </p:sp>
      </p:grpSp>
      <p:grpSp>
        <p:nvGrpSpPr>
          <p:cNvPr name="Group 6" id="6"/>
          <p:cNvGrpSpPr/>
          <p:nvPr/>
        </p:nvGrpSpPr>
        <p:grpSpPr>
          <a:xfrm rot="0">
            <a:off x="0" y="9532620"/>
            <a:ext cx="18287543" cy="754380"/>
            <a:chOff x="0" y="0"/>
            <a:chExt cx="24383390" cy="1005840"/>
          </a:xfrm>
        </p:grpSpPr>
        <p:sp>
          <p:nvSpPr>
            <p:cNvPr name="Freeform 7" id="7"/>
            <p:cNvSpPr/>
            <p:nvPr/>
          </p:nvSpPr>
          <p:spPr>
            <a:xfrm flipH="false" flipV="false" rot="0">
              <a:off x="0" y="0"/>
              <a:ext cx="24383364" cy="1005840"/>
            </a:xfrm>
            <a:custGeom>
              <a:avLst/>
              <a:gdLst/>
              <a:ahLst/>
              <a:cxnLst/>
              <a:rect r="r" b="b" t="t" l="l"/>
              <a:pathLst>
                <a:path h="1005840" w="24383364">
                  <a:moveTo>
                    <a:pt x="0" y="0"/>
                  </a:moveTo>
                  <a:lnTo>
                    <a:pt x="24383364" y="0"/>
                  </a:lnTo>
                  <a:lnTo>
                    <a:pt x="24383364" y="1005840"/>
                  </a:lnTo>
                  <a:lnTo>
                    <a:pt x="0" y="1005840"/>
                  </a:lnTo>
                  <a:close/>
                </a:path>
              </a:pathLst>
            </a:custGeom>
            <a:solidFill>
              <a:srgbClr val="052B35"/>
            </a:solidFill>
          </p:spPr>
        </p:sp>
      </p:grpSp>
      <p:grpSp>
        <p:nvGrpSpPr>
          <p:cNvPr name="Group 8" id="8"/>
          <p:cNvGrpSpPr/>
          <p:nvPr/>
        </p:nvGrpSpPr>
        <p:grpSpPr>
          <a:xfrm rot="0">
            <a:off x="16888511" y="9614916"/>
            <a:ext cx="685800" cy="593903"/>
            <a:chOff x="0" y="0"/>
            <a:chExt cx="914400" cy="791870"/>
          </a:xfrm>
        </p:grpSpPr>
        <p:sp>
          <p:nvSpPr>
            <p:cNvPr name="Freeform 9" id="9"/>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10" id="10"/>
          <p:cNvGrpSpPr/>
          <p:nvPr/>
        </p:nvGrpSpPr>
        <p:grpSpPr>
          <a:xfrm rot="0">
            <a:off x="4869180" y="480060"/>
            <a:ext cx="11247120" cy="1234440"/>
            <a:chOff x="0" y="0"/>
            <a:chExt cx="14996160" cy="1645920"/>
          </a:xfrm>
        </p:grpSpPr>
        <p:sp>
          <p:nvSpPr>
            <p:cNvPr name="Freeform 11" id="11"/>
            <p:cNvSpPr/>
            <p:nvPr/>
          </p:nvSpPr>
          <p:spPr>
            <a:xfrm flipH="false" flipV="false" rot="0">
              <a:off x="0" y="0"/>
              <a:ext cx="14996161" cy="1645920"/>
            </a:xfrm>
            <a:custGeom>
              <a:avLst/>
              <a:gdLst/>
              <a:ahLst/>
              <a:cxnLst/>
              <a:rect r="r" b="b" t="t" l="l"/>
              <a:pathLst>
                <a:path h="1645920" w="14996161">
                  <a:moveTo>
                    <a:pt x="0" y="0"/>
                  </a:moveTo>
                  <a:lnTo>
                    <a:pt x="14996161" y="0"/>
                  </a:lnTo>
                  <a:lnTo>
                    <a:pt x="14996161" y="1645920"/>
                  </a:lnTo>
                  <a:lnTo>
                    <a:pt x="0" y="1645920"/>
                  </a:lnTo>
                  <a:close/>
                </a:path>
              </a:pathLst>
            </a:custGeom>
            <a:blipFill>
              <a:blip r:embed="rId4">
                <a:alphaModFix amt="0"/>
              </a:blip>
              <a:stretch>
                <a:fillRect l="0" t="-127530" r="0" b="-127530"/>
              </a:stretch>
            </a:blipFill>
          </p:spPr>
        </p:sp>
        <p:sp>
          <p:nvSpPr>
            <p:cNvPr name="TextBox 12" id="12"/>
            <p:cNvSpPr txBox="true"/>
            <p:nvPr/>
          </p:nvSpPr>
          <p:spPr>
            <a:xfrm>
              <a:off x="0" y="-19050"/>
              <a:ext cx="14996160" cy="1664970"/>
            </a:xfrm>
            <a:prstGeom prst="rect">
              <a:avLst/>
            </a:prstGeom>
          </p:spPr>
          <p:txBody>
            <a:bodyPr anchor="ctr" rtlCol="false" tIns="0" lIns="0" bIns="0" rIns="0"/>
            <a:lstStyle/>
            <a:p>
              <a:pPr algn="ctr">
                <a:lnSpc>
                  <a:spcPts val="4320"/>
                </a:lnSpc>
              </a:pPr>
              <a:r>
                <a:rPr lang="en-US" b="true" sz="3600" spc="150">
                  <a:solidFill>
                    <a:srgbClr val="052B35"/>
                  </a:solidFill>
                  <a:latin typeface="Cambria Bold"/>
                  <a:ea typeface="Cambria Bold"/>
                  <a:cs typeface="Cambria Bold"/>
                  <a:sym typeface="Cambria Bold"/>
                </a:rPr>
                <a:t>KEY CHALLENGES</a:t>
              </a:r>
            </a:p>
          </p:txBody>
        </p:sp>
      </p:grpSp>
      <p:grpSp>
        <p:nvGrpSpPr>
          <p:cNvPr name="Group 13" id="13"/>
          <p:cNvGrpSpPr/>
          <p:nvPr/>
        </p:nvGrpSpPr>
        <p:grpSpPr>
          <a:xfrm rot="0">
            <a:off x="822960" y="2194560"/>
            <a:ext cx="685800" cy="593903"/>
            <a:chOff x="0" y="0"/>
            <a:chExt cx="914400" cy="791870"/>
          </a:xfrm>
        </p:grpSpPr>
        <p:sp>
          <p:nvSpPr>
            <p:cNvPr name="Freeform 14" id="14"/>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15" id="15"/>
          <p:cNvGrpSpPr/>
          <p:nvPr/>
        </p:nvGrpSpPr>
        <p:grpSpPr>
          <a:xfrm rot="0">
            <a:off x="960120" y="2285086"/>
            <a:ext cx="411480" cy="411480"/>
            <a:chOff x="0" y="0"/>
            <a:chExt cx="548640" cy="548640"/>
          </a:xfrm>
        </p:grpSpPr>
        <p:sp>
          <p:nvSpPr>
            <p:cNvPr name="Freeform 16" id="16" descr="Lightbulb 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5"/>
              <a:stretch>
                <a:fillRect l="0" t="0" r="0" b="0"/>
              </a:stretch>
            </a:blipFill>
          </p:spPr>
        </p:sp>
      </p:grpSp>
      <p:grpSp>
        <p:nvGrpSpPr>
          <p:cNvPr name="Group 17" id="17"/>
          <p:cNvGrpSpPr/>
          <p:nvPr/>
        </p:nvGrpSpPr>
        <p:grpSpPr>
          <a:xfrm rot="0">
            <a:off x="1755648" y="2125980"/>
            <a:ext cx="14401800" cy="754380"/>
            <a:chOff x="0" y="0"/>
            <a:chExt cx="19202400" cy="1005840"/>
          </a:xfrm>
        </p:grpSpPr>
        <p:sp>
          <p:nvSpPr>
            <p:cNvPr name="Freeform 18" id="18"/>
            <p:cNvSpPr/>
            <p:nvPr/>
          </p:nvSpPr>
          <p:spPr>
            <a:xfrm flipH="false" flipV="false" rot="0">
              <a:off x="0" y="0"/>
              <a:ext cx="19202400" cy="1005840"/>
            </a:xfrm>
            <a:custGeom>
              <a:avLst/>
              <a:gdLst/>
              <a:ahLst/>
              <a:cxnLst/>
              <a:rect r="r" b="b" t="t" l="l"/>
              <a:pathLst>
                <a:path h="1005840" w="19202400">
                  <a:moveTo>
                    <a:pt x="0" y="0"/>
                  </a:moveTo>
                  <a:lnTo>
                    <a:pt x="19202400" y="0"/>
                  </a:lnTo>
                  <a:lnTo>
                    <a:pt x="19202400" y="1005840"/>
                  </a:lnTo>
                  <a:lnTo>
                    <a:pt x="0" y="1005840"/>
                  </a:lnTo>
                  <a:close/>
                </a:path>
              </a:pathLst>
            </a:custGeom>
            <a:blipFill>
              <a:blip r:embed="rId4">
                <a:alphaModFix amt="0"/>
              </a:blip>
              <a:stretch>
                <a:fillRect l="0" t="-321987" r="0" b="-321987"/>
              </a:stretch>
            </a:blipFill>
          </p:spPr>
        </p:sp>
        <p:sp>
          <p:nvSpPr>
            <p:cNvPr name="TextBox 19" id="19"/>
            <p:cNvSpPr txBox="true"/>
            <p:nvPr/>
          </p:nvSpPr>
          <p:spPr>
            <a:xfrm>
              <a:off x="0" y="-57150"/>
              <a:ext cx="19202400" cy="1062990"/>
            </a:xfrm>
            <a:prstGeom prst="rect">
              <a:avLst/>
            </a:prstGeom>
          </p:spPr>
          <p:txBody>
            <a:bodyPr anchor="ctr" rtlCol="false" tIns="0" lIns="0" bIns="0" rIns="0"/>
            <a:lstStyle/>
            <a:p>
              <a:pPr algn="l">
                <a:lnSpc>
                  <a:spcPts val="3240"/>
                </a:lnSpc>
              </a:pPr>
              <a:r>
                <a:rPr lang="en-US" sz="2700" b="true">
                  <a:solidFill>
                    <a:srgbClr val="094542"/>
                  </a:solidFill>
                  <a:latin typeface="Calibri (MS) Bold"/>
                  <a:ea typeface="Calibri (MS) Bold"/>
                  <a:cs typeface="Calibri (MS) Bold"/>
                  <a:sym typeface="Calibri (MS) Bold"/>
                </a:rPr>
                <a:t>Main difficulties, bottlenecks, root causes and consequences</a:t>
              </a:r>
            </a:p>
          </p:txBody>
        </p:sp>
      </p:grpSp>
      <p:grpSp>
        <p:nvGrpSpPr>
          <p:cNvPr name="Group 20" id="20"/>
          <p:cNvGrpSpPr/>
          <p:nvPr/>
        </p:nvGrpSpPr>
        <p:grpSpPr>
          <a:xfrm rot="0">
            <a:off x="16888511" y="9614916"/>
            <a:ext cx="685800" cy="593903"/>
            <a:chOff x="0" y="0"/>
            <a:chExt cx="914400" cy="791870"/>
          </a:xfrm>
        </p:grpSpPr>
        <p:sp>
          <p:nvSpPr>
            <p:cNvPr name="Freeform 21" id="21"/>
            <p:cNvSpPr/>
            <p:nvPr/>
          </p:nvSpPr>
          <p:spPr>
            <a:xfrm flipH="false" flipV="false" rot="0">
              <a:off x="0" y="0"/>
              <a:ext cx="914400" cy="791870"/>
            </a:xfrm>
            <a:custGeom>
              <a:avLst/>
              <a:gdLst/>
              <a:ahLst/>
              <a:cxnLst/>
              <a:rect r="r" b="b" t="t" l="l"/>
              <a:pathLst>
                <a:path h="791870" w="914400">
                  <a:moveTo>
                    <a:pt x="0" y="0"/>
                  </a:moveTo>
                  <a:lnTo>
                    <a:pt x="914400" y="0"/>
                  </a:lnTo>
                  <a:lnTo>
                    <a:pt x="914400" y="791870"/>
                  </a:lnTo>
                  <a:lnTo>
                    <a:pt x="0" y="791870"/>
                  </a:lnTo>
                  <a:close/>
                </a:path>
              </a:pathLst>
            </a:custGeom>
            <a:blipFill>
              <a:blip r:embed="rId4">
                <a:alphaModFix amt="0"/>
              </a:blip>
              <a:stretch>
                <a:fillRect l="-61110" t="0" r="-61110" b="0"/>
              </a:stretch>
            </a:blipFill>
          </p:spPr>
        </p:sp>
        <p:sp>
          <p:nvSpPr>
            <p:cNvPr name="TextBox 22" id="22"/>
            <p:cNvSpPr txBox="true"/>
            <p:nvPr/>
          </p:nvSpPr>
          <p:spPr>
            <a:xfrm>
              <a:off x="0" y="-28575"/>
              <a:ext cx="914400" cy="820445"/>
            </a:xfrm>
            <a:prstGeom prst="rect">
              <a:avLst/>
            </a:prstGeom>
          </p:spPr>
          <p:txBody>
            <a:bodyPr anchor="ctr" rtlCol="false" tIns="0" lIns="0" bIns="0" rIns="0"/>
            <a:lstStyle/>
            <a:p>
              <a:pPr algn="ctr">
                <a:lnSpc>
                  <a:spcPts val="1980"/>
                </a:lnSpc>
              </a:pPr>
              <a:r>
                <a:rPr lang="en-US" sz="1650" b="true">
                  <a:solidFill>
                    <a:srgbClr val="052B35"/>
                  </a:solidFill>
                  <a:latin typeface="Calibri (MS) Bold"/>
                  <a:ea typeface="Calibri (MS) Bold"/>
                  <a:cs typeface="Calibri (MS) Bold"/>
                  <a:sym typeface="Calibri (MS) Bold"/>
                </a:rPr>
                <a:t>5</a:t>
              </a:r>
            </a:p>
          </p:txBody>
        </p:sp>
      </p:grpSp>
      <p:sp>
        <p:nvSpPr>
          <p:cNvPr name="Freeform 23" id="23"/>
          <p:cNvSpPr/>
          <p:nvPr/>
        </p:nvSpPr>
        <p:spPr>
          <a:xfrm flipH="false" flipV="false" rot="0">
            <a:off x="485482" y="3413760"/>
            <a:ext cx="5414895" cy="5414895"/>
          </a:xfrm>
          <a:custGeom>
            <a:avLst/>
            <a:gdLst/>
            <a:ahLst/>
            <a:cxnLst/>
            <a:rect r="r" b="b" t="t" l="l"/>
            <a:pathLst>
              <a:path h="5414895" w="5414895">
                <a:moveTo>
                  <a:pt x="0" y="0"/>
                </a:moveTo>
                <a:lnTo>
                  <a:pt x="5414895" y="0"/>
                </a:lnTo>
                <a:lnTo>
                  <a:pt x="5414895" y="5414895"/>
                </a:lnTo>
                <a:lnTo>
                  <a:pt x="0" y="541489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4" id="24"/>
          <p:cNvSpPr/>
          <p:nvPr/>
        </p:nvSpPr>
        <p:spPr>
          <a:xfrm flipH="false" flipV="false" rot="0">
            <a:off x="6439736" y="3413760"/>
            <a:ext cx="5414895" cy="5414895"/>
          </a:xfrm>
          <a:custGeom>
            <a:avLst/>
            <a:gdLst/>
            <a:ahLst/>
            <a:cxnLst/>
            <a:rect r="r" b="b" t="t" l="l"/>
            <a:pathLst>
              <a:path h="5414895" w="5414895">
                <a:moveTo>
                  <a:pt x="0" y="0"/>
                </a:moveTo>
                <a:lnTo>
                  <a:pt x="5414894" y="0"/>
                </a:lnTo>
                <a:lnTo>
                  <a:pt x="5414894" y="5414895"/>
                </a:lnTo>
                <a:lnTo>
                  <a:pt x="0" y="541489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5" id="25"/>
          <p:cNvSpPr/>
          <p:nvPr/>
        </p:nvSpPr>
        <p:spPr>
          <a:xfrm flipH="false" flipV="false" rot="0">
            <a:off x="12254273" y="3356610"/>
            <a:ext cx="5414895" cy="5414895"/>
          </a:xfrm>
          <a:custGeom>
            <a:avLst/>
            <a:gdLst/>
            <a:ahLst/>
            <a:cxnLst/>
            <a:rect r="r" b="b" t="t" l="l"/>
            <a:pathLst>
              <a:path h="5414895" w="5414895">
                <a:moveTo>
                  <a:pt x="0" y="0"/>
                </a:moveTo>
                <a:lnTo>
                  <a:pt x="5414895" y="0"/>
                </a:lnTo>
                <a:lnTo>
                  <a:pt x="5414895" y="5414895"/>
                </a:lnTo>
                <a:lnTo>
                  <a:pt x="0" y="541489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6" id="26"/>
          <p:cNvSpPr txBox="true"/>
          <p:nvPr/>
        </p:nvSpPr>
        <p:spPr>
          <a:xfrm rot="0">
            <a:off x="738646" y="4095687"/>
            <a:ext cx="4998362" cy="4505325"/>
          </a:xfrm>
          <a:prstGeom prst="rect">
            <a:avLst/>
          </a:prstGeom>
        </p:spPr>
        <p:txBody>
          <a:bodyPr anchor="t" rtlCol="false" tIns="0" lIns="0" bIns="0" rIns="0">
            <a:spAutoFit/>
          </a:bodyPr>
          <a:lstStyle/>
          <a:p>
            <a:pPr algn="l">
              <a:lnSpc>
                <a:spcPts val="2722"/>
              </a:lnSpc>
            </a:pPr>
            <a:r>
              <a:rPr lang="en-US" sz="2268">
                <a:solidFill>
                  <a:srgbClr val="026855"/>
                </a:solidFill>
                <a:latin typeface="Calibri (MS)"/>
                <a:ea typeface="Calibri (MS)"/>
                <a:cs typeface="Calibri (MS)"/>
                <a:sym typeface="Calibri (MS)"/>
              </a:rPr>
              <a:t>In large scale industries finding a pressure leak or an electrical or mechanical fault is painfully</a:t>
            </a:r>
            <a:r>
              <a:rPr lang="en-US" sz="2268" b="true">
                <a:solidFill>
                  <a:srgbClr val="026855"/>
                </a:solidFill>
                <a:latin typeface="Calibri (MS) Bold"/>
                <a:ea typeface="Calibri (MS) Bold"/>
                <a:cs typeface="Calibri (MS) Bold"/>
                <a:sym typeface="Calibri (MS) Bold"/>
              </a:rPr>
              <a:t> time taking process</a:t>
            </a:r>
            <a:r>
              <a:rPr lang="en-US" sz="2268">
                <a:solidFill>
                  <a:srgbClr val="026855"/>
                </a:solidFill>
                <a:latin typeface="Calibri (MS)"/>
                <a:ea typeface="Calibri (MS)"/>
                <a:cs typeface="Calibri (MS)"/>
                <a:sym typeface="Calibri (MS)"/>
              </a:rPr>
              <a:t>. </a:t>
            </a:r>
          </a:p>
          <a:p>
            <a:pPr algn="l">
              <a:lnSpc>
                <a:spcPts val="2722"/>
              </a:lnSpc>
            </a:pPr>
            <a:r>
              <a:rPr lang="en-US" sz="2268">
                <a:solidFill>
                  <a:srgbClr val="026855"/>
                </a:solidFill>
                <a:latin typeface="Calibri (MS)"/>
                <a:ea typeface="Calibri (MS)"/>
                <a:cs typeface="Calibri (MS)"/>
                <a:sym typeface="Calibri (MS)"/>
              </a:rPr>
              <a:t>these issues delay the total production resulting in financial loss. Moreover leaving them unfixed over a certain time will increase the risk of the part getting damaged further. </a:t>
            </a:r>
          </a:p>
          <a:p>
            <a:pPr algn="l">
              <a:lnSpc>
                <a:spcPts val="2722"/>
              </a:lnSpc>
            </a:pPr>
            <a:r>
              <a:rPr lang="en-US" sz="2268">
                <a:solidFill>
                  <a:srgbClr val="026855"/>
                </a:solidFill>
                <a:latin typeface="Calibri (MS)"/>
                <a:ea typeface="Calibri (MS)"/>
                <a:cs typeface="Calibri (MS)"/>
                <a:sym typeface="Calibri (MS)"/>
              </a:rPr>
              <a:t>the problem here is the absence of a sophisticated monitoring device that could help detect the exact part or location where the fault occurred and report it immediately.</a:t>
            </a:r>
          </a:p>
        </p:txBody>
      </p:sp>
      <p:grpSp>
        <p:nvGrpSpPr>
          <p:cNvPr name="Group 27" id="27"/>
          <p:cNvGrpSpPr/>
          <p:nvPr/>
        </p:nvGrpSpPr>
        <p:grpSpPr>
          <a:xfrm rot="0">
            <a:off x="1028700" y="3537585"/>
            <a:ext cx="14401800" cy="754380"/>
            <a:chOff x="0" y="0"/>
            <a:chExt cx="19202400" cy="1005840"/>
          </a:xfrm>
        </p:grpSpPr>
        <p:sp>
          <p:nvSpPr>
            <p:cNvPr name="Freeform 28" id="28"/>
            <p:cNvSpPr/>
            <p:nvPr/>
          </p:nvSpPr>
          <p:spPr>
            <a:xfrm flipH="false" flipV="false" rot="0">
              <a:off x="0" y="0"/>
              <a:ext cx="19202400" cy="1005840"/>
            </a:xfrm>
            <a:custGeom>
              <a:avLst/>
              <a:gdLst/>
              <a:ahLst/>
              <a:cxnLst/>
              <a:rect r="r" b="b" t="t" l="l"/>
              <a:pathLst>
                <a:path h="1005840" w="19202400">
                  <a:moveTo>
                    <a:pt x="0" y="0"/>
                  </a:moveTo>
                  <a:lnTo>
                    <a:pt x="19202400" y="0"/>
                  </a:lnTo>
                  <a:lnTo>
                    <a:pt x="19202400" y="1005840"/>
                  </a:lnTo>
                  <a:lnTo>
                    <a:pt x="0" y="1005840"/>
                  </a:lnTo>
                  <a:close/>
                </a:path>
              </a:pathLst>
            </a:custGeom>
            <a:blipFill>
              <a:blip r:embed="rId4">
                <a:alphaModFix amt="0"/>
              </a:blip>
              <a:stretch>
                <a:fillRect l="0" t="-321987" r="0" b="-321987"/>
              </a:stretch>
            </a:blipFill>
          </p:spPr>
        </p:sp>
        <p:sp>
          <p:nvSpPr>
            <p:cNvPr name="TextBox 29" id="29"/>
            <p:cNvSpPr txBox="true"/>
            <p:nvPr/>
          </p:nvSpPr>
          <p:spPr>
            <a:xfrm>
              <a:off x="0" y="-38100"/>
              <a:ext cx="19202400" cy="1043940"/>
            </a:xfrm>
            <a:prstGeom prst="rect">
              <a:avLst/>
            </a:prstGeom>
          </p:spPr>
          <p:txBody>
            <a:bodyPr anchor="ctr" rtlCol="false" tIns="0" lIns="0" bIns="0" rIns="0"/>
            <a:lstStyle/>
            <a:p>
              <a:pPr algn="l">
                <a:lnSpc>
                  <a:spcPts val="2880"/>
                </a:lnSpc>
              </a:pPr>
              <a:r>
                <a:rPr lang="en-US" sz="2400" b="true">
                  <a:solidFill>
                    <a:srgbClr val="094542"/>
                  </a:solidFill>
                  <a:latin typeface="Calibri (MS) Bold"/>
                  <a:ea typeface="Calibri (MS) Bold"/>
                  <a:cs typeface="Calibri (MS) Bold"/>
                  <a:sym typeface="Calibri (MS) Bold"/>
                </a:rPr>
                <a:t>Main difficulties</a:t>
              </a:r>
            </a:p>
          </p:txBody>
        </p:sp>
      </p:grpSp>
      <p:grpSp>
        <p:nvGrpSpPr>
          <p:cNvPr name="Group 30" id="30"/>
          <p:cNvGrpSpPr/>
          <p:nvPr/>
        </p:nvGrpSpPr>
        <p:grpSpPr>
          <a:xfrm rot="0">
            <a:off x="784555" y="3832305"/>
            <a:ext cx="145890" cy="145890"/>
            <a:chOff x="0" y="0"/>
            <a:chExt cx="109728" cy="109728"/>
          </a:xfrm>
        </p:grpSpPr>
        <p:sp>
          <p:nvSpPr>
            <p:cNvPr name="Freeform 31" id="31"/>
            <p:cNvSpPr/>
            <p:nvPr/>
          </p:nvSpPr>
          <p:spPr>
            <a:xfrm flipH="false" flipV="false" rot="0">
              <a:off x="0" y="0"/>
              <a:ext cx="109728" cy="109728"/>
            </a:xfrm>
            <a:custGeom>
              <a:avLst/>
              <a:gdLst/>
              <a:ahLst/>
              <a:cxnLst/>
              <a:rect r="r" b="b" t="t" l="l"/>
              <a:pathLst>
                <a:path h="109728" w="109728">
                  <a:moveTo>
                    <a:pt x="0" y="54864"/>
                  </a:moveTo>
                  <a:cubicBezTo>
                    <a:pt x="0" y="24511"/>
                    <a:pt x="24511" y="0"/>
                    <a:pt x="54864" y="0"/>
                  </a:cubicBezTo>
                  <a:cubicBezTo>
                    <a:pt x="85217" y="0"/>
                    <a:pt x="109728" y="24511"/>
                    <a:pt x="109728" y="54864"/>
                  </a:cubicBezTo>
                  <a:cubicBezTo>
                    <a:pt x="109728" y="85217"/>
                    <a:pt x="85217" y="109728"/>
                    <a:pt x="54864" y="109728"/>
                  </a:cubicBezTo>
                  <a:cubicBezTo>
                    <a:pt x="24511" y="109728"/>
                    <a:pt x="0" y="85217"/>
                    <a:pt x="0" y="54864"/>
                  </a:cubicBezTo>
                  <a:close/>
                </a:path>
              </a:pathLst>
            </a:custGeom>
            <a:solidFill>
              <a:srgbClr val="7DC242"/>
            </a:solidFill>
          </p:spPr>
        </p:sp>
      </p:grpSp>
      <p:grpSp>
        <p:nvGrpSpPr>
          <p:cNvPr name="Group 32" id="32"/>
          <p:cNvGrpSpPr/>
          <p:nvPr/>
        </p:nvGrpSpPr>
        <p:grpSpPr>
          <a:xfrm rot="0">
            <a:off x="7011438" y="3528060"/>
            <a:ext cx="14401800" cy="754380"/>
            <a:chOff x="0" y="0"/>
            <a:chExt cx="19202400" cy="1005840"/>
          </a:xfrm>
        </p:grpSpPr>
        <p:sp>
          <p:nvSpPr>
            <p:cNvPr name="Freeform 33" id="33"/>
            <p:cNvSpPr/>
            <p:nvPr/>
          </p:nvSpPr>
          <p:spPr>
            <a:xfrm flipH="false" flipV="false" rot="0">
              <a:off x="0" y="0"/>
              <a:ext cx="19202400" cy="1005840"/>
            </a:xfrm>
            <a:custGeom>
              <a:avLst/>
              <a:gdLst/>
              <a:ahLst/>
              <a:cxnLst/>
              <a:rect r="r" b="b" t="t" l="l"/>
              <a:pathLst>
                <a:path h="1005840" w="19202400">
                  <a:moveTo>
                    <a:pt x="0" y="0"/>
                  </a:moveTo>
                  <a:lnTo>
                    <a:pt x="19202400" y="0"/>
                  </a:lnTo>
                  <a:lnTo>
                    <a:pt x="19202400" y="1005840"/>
                  </a:lnTo>
                  <a:lnTo>
                    <a:pt x="0" y="1005840"/>
                  </a:lnTo>
                  <a:close/>
                </a:path>
              </a:pathLst>
            </a:custGeom>
            <a:blipFill>
              <a:blip r:embed="rId4">
                <a:alphaModFix amt="0"/>
              </a:blip>
              <a:stretch>
                <a:fillRect l="0" t="-321987" r="0" b="-321987"/>
              </a:stretch>
            </a:blipFill>
          </p:spPr>
        </p:sp>
        <p:sp>
          <p:nvSpPr>
            <p:cNvPr name="TextBox 34" id="34"/>
            <p:cNvSpPr txBox="true"/>
            <p:nvPr/>
          </p:nvSpPr>
          <p:spPr>
            <a:xfrm>
              <a:off x="0" y="-38100"/>
              <a:ext cx="19202400" cy="1043940"/>
            </a:xfrm>
            <a:prstGeom prst="rect">
              <a:avLst/>
            </a:prstGeom>
          </p:spPr>
          <p:txBody>
            <a:bodyPr anchor="ctr" rtlCol="false" tIns="0" lIns="0" bIns="0" rIns="0"/>
            <a:lstStyle/>
            <a:p>
              <a:pPr algn="l">
                <a:lnSpc>
                  <a:spcPts val="2880"/>
                </a:lnSpc>
              </a:pPr>
              <a:r>
                <a:rPr lang="en-US" sz="2400" b="true">
                  <a:solidFill>
                    <a:srgbClr val="094542"/>
                  </a:solidFill>
                  <a:latin typeface="Calibri (MS) Bold"/>
                  <a:ea typeface="Calibri (MS) Bold"/>
                  <a:cs typeface="Calibri (MS) Bold"/>
                  <a:sym typeface="Calibri (MS) Bold"/>
                </a:rPr>
                <a:t>Root cause</a:t>
              </a:r>
            </a:p>
          </p:txBody>
        </p:sp>
      </p:grpSp>
      <p:grpSp>
        <p:nvGrpSpPr>
          <p:cNvPr name="Group 35" id="35"/>
          <p:cNvGrpSpPr/>
          <p:nvPr/>
        </p:nvGrpSpPr>
        <p:grpSpPr>
          <a:xfrm rot="0">
            <a:off x="12626155" y="3807748"/>
            <a:ext cx="145890" cy="145890"/>
            <a:chOff x="0" y="0"/>
            <a:chExt cx="109728" cy="109728"/>
          </a:xfrm>
        </p:grpSpPr>
        <p:sp>
          <p:nvSpPr>
            <p:cNvPr name="Freeform 36" id="36"/>
            <p:cNvSpPr/>
            <p:nvPr/>
          </p:nvSpPr>
          <p:spPr>
            <a:xfrm flipH="false" flipV="false" rot="0">
              <a:off x="0" y="0"/>
              <a:ext cx="109728" cy="109728"/>
            </a:xfrm>
            <a:custGeom>
              <a:avLst/>
              <a:gdLst/>
              <a:ahLst/>
              <a:cxnLst/>
              <a:rect r="r" b="b" t="t" l="l"/>
              <a:pathLst>
                <a:path h="109728" w="109728">
                  <a:moveTo>
                    <a:pt x="0" y="54864"/>
                  </a:moveTo>
                  <a:cubicBezTo>
                    <a:pt x="0" y="24511"/>
                    <a:pt x="24511" y="0"/>
                    <a:pt x="54864" y="0"/>
                  </a:cubicBezTo>
                  <a:cubicBezTo>
                    <a:pt x="85217" y="0"/>
                    <a:pt x="109728" y="24511"/>
                    <a:pt x="109728" y="54864"/>
                  </a:cubicBezTo>
                  <a:cubicBezTo>
                    <a:pt x="109728" y="85217"/>
                    <a:pt x="85217" y="109728"/>
                    <a:pt x="54864" y="109728"/>
                  </a:cubicBezTo>
                  <a:cubicBezTo>
                    <a:pt x="24511" y="109728"/>
                    <a:pt x="0" y="85217"/>
                    <a:pt x="0" y="54864"/>
                  </a:cubicBezTo>
                  <a:close/>
                </a:path>
              </a:pathLst>
            </a:custGeom>
            <a:solidFill>
              <a:srgbClr val="7DC242"/>
            </a:solidFill>
          </p:spPr>
        </p:sp>
      </p:grpSp>
      <p:grpSp>
        <p:nvGrpSpPr>
          <p:cNvPr name="Group 37" id="37"/>
          <p:cNvGrpSpPr/>
          <p:nvPr/>
        </p:nvGrpSpPr>
        <p:grpSpPr>
          <a:xfrm rot="0">
            <a:off x="6671096" y="3807748"/>
            <a:ext cx="145890" cy="145890"/>
            <a:chOff x="0" y="0"/>
            <a:chExt cx="109728" cy="109728"/>
          </a:xfrm>
        </p:grpSpPr>
        <p:sp>
          <p:nvSpPr>
            <p:cNvPr name="Freeform 38" id="38"/>
            <p:cNvSpPr/>
            <p:nvPr/>
          </p:nvSpPr>
          <p:spPr>
            <a:xfrm flipH="false" flipV="false" rot="0">
              <a:off x="0" y="0"/>
              <a:ext cx="109728" cy="109728"/>
            </a:xfrm>
            <a:custGeom>
              <a:avLst/>
              <a:gdLst/>
              <a:ahLst/>
              <a:cxnLst/>
              <a:rect r="r" b="b" t="t" l="l"/>
              <a:pathLst>
                <a:path h="109728" w="109728">
                  <a:moveTo>
                    <a:pt x="0" y="54864"/>
                  </a:moveTo>
                  <a:cubicBezTo>
                    <a:pt x="0" y="24511"/>
                    <a:pt x="24511" y="0"/>
                    <a:pt x="54864" y="0"/>
                  </a:cubicBezTo>
                  <a:cubicBezTo>
                    <a:pt x="85217" y="0"/>
                    <a:pt x="109728" y="24511"/>
                    <a:pt x="109728" y="54864"/>
                  </a:cubicBezTo>
                  <a:cubicBezTo>
                    <a:pt x="109728" y="85217"/>
                    <a:pt x="85217" y="109728"/>
                    <a:pt x="54864" y="109728"/>
                  </a:cubicBezTo>
                  <a:cubicBezTo>
                    <a:pt x="24511" y="109728"/>
                    <a:pt x="0" y="85217"/>
                    <a:pt x="0" y="54864"/>
                  </a:cubicBezTo>
                  <a:close/>
                </a:path>
              </a:pathLst>
            </a:custGeom>
            <a:solidFill>
              <a:srgbClr val="7DC242"/>
            </a:solidFill>
          </p:spPr>
        </p:sp>
      </p:grpSp>
      <p:grpSp>
        <p:nvGrpSpPr>
          <p:cNvPr name="Group 39" id="39"/>
          <p:cNvGrpSpPr/>
          <p:nvPr/>
        </p:nvGrpSpPr>
        <p:grpSpPr>
          <a:xfrm rot="0">
            <a:off x="12950163" y="3513028"/>
            <a:ext cx="14401800" cy="754380"/>
            <a:chOff x="0" y="0"/>
            <a:chExt cx="19202400" cy="1005840"/>
          </a:xfrm>
        </p:grpSpPr>
        <p:sp>
          <p:nvSpPr>
            <p:cNvPr name="Freeform 40" id="40"/>
            <p:cNvSpPr/>
            <p:nvPr/>
          </p:nvSpPr>
          <p:spPr>
            <a:xfrm flipH="false" flipV="false" rot="0">
              <a:off x="0" y="0"/>
              <a:ext cx="19202400" cy="1005840"/>
            </a:xfrm>
            <a:custGeom>
              <a:avLst/>
              <a:gdLst/>
              <a:ahLst/>
              <a:cxnLst/>
              <a:rect r="r" b="b" t="t" l="l"/>
              <a:pathLst>
                <a:path h="1005840" w="19202400">
                  <a:moveTo>
                    <a:pt x="0" y="0"/>
                  </a:moveTo>
                  <a:lnTo>
                    <a:pt x="19202400" y="0"/>
                  </a:lnTo>
                  <a:lnTo>
                    <a:pt x="19202400" y="1005840"/>
                  </a:lnTo>
                  <a:lnTo>
                    <a:pt x="0" y="1005840"/>
                  </a:lnTo>
                  <a:close/>
                </a:path>
              </a:pathLst>
            </a:custGeom>
            <a:blipFill>
              <a:blip r:embed="rId4">
                <a:alphaModFix amt="0"/>
              </a:blip>
              <a:stretch>
                <a:fillRect l="0" t="-321987" r="0" b="-321987"/>
              </a:stretch>
            </a:blipFill>
          </p:spPr>
        </p:sp>
        <p:sp>
          <p:nvSpPr>
            <p:cNvPr name="TextBox 41" id="41"/>
            <p:cNvSpPr txBox="true"/>
            <p:nvPr/>
          </p:nvSpPr>
          <p:spPr>
            <a:xfrm>
              <a:off x="0" y="-38100"/>
              <a:ext cx="19202400" cy="1043940"/>
            </a:xfrm>
            <a:prstGeom prst="rect">
              <a:avLst/>
            </a:prstGeom>
          </p:spPr>
          <p:txBody>
            <a:bodyPr anchor="ctr" rtlCol="false" tIns="0" lIns="0" bIns="0" rIns="0"/>
            <a:lstStyle/>
            <a:p>
              <a:pPr algn="l">
                <a:lnSpc>
                  <a:spcPts val="2880"/>
                </a:lnSpc>
              </a:pPr>
              <a:r>
                <a:rPr lang="en-US" sz="2400" b="true">
                  <a:solidFill>
                    <a:srgbClr val="094542"/>
                  </a:solidFill>
                  <a:latin typeface="Calibri (MS) Bold"/>
                  <a:ea typeface="Calibri (MS) Bold"/>
                  <a:cs typeface="Calibri (MS) Bold"/>
                  <a:sym typeface="Calibri (MS) Bold"/>
                </a:rPr>
                <a:t>Consequences</a:t>
              </a:r>
            </a:p>
          </p:txBody>
        </p:sp>
      </p:grpSp>
      <p:sp>
        <p:nvSpPr>
          <p:cNvPr name="TextBox 42" id="42"/>
          <p:cNvSpPr txBox="true"/>
          <p:nvPr/>
        </p:nvSpPr>
        <p:spPr>
          <a:xfrm rot="0">
            <a:off x="6704324" y="4076637"/>
            <a:ext cx="4916995" cy="4801967"/>
          </a:xfrm>
          <a:prstGeom prst="rect">
            <a:avLst/>
          </a:prstGeom>
        </p:spPr>
        <p:txBody>
          <a:bodyPr anchor="t" rtlCol="false" tIns="0" lIns="0" bIns="0" rIns="0">
            <a:spAutoFit/>
          </a:bodyPr>
          <a:lstStyle/>
          <a:p>
            <a:pPr algn="l">
              <a:lnSpc>
                <a:spcPts val="2516"/>
              </a:lnSpc>
            </a:pPr>
            <a:r>
              <a:rPr lang="en-US" sz="2096">
                <a:solidFill>
                  <a:srgbClr val="026855"/>
                </a:solidFill>
                <a:latin typeface="Calibri (MS)"/>
                <a:ea typeface="Calibri (MS)"/>
                <a:cs typeface="Calibri (MS)"/>
                <a:sym typeface="Calibri (MS)"/>
              </a:rPr>
              <a:t>Why do plants lose energy and suffer equipment failures? Because air leaks and electrical discharge keep running unnoticed for weeks or months.</a:t>
            </a:r>
          </a:p>
          <a:p>
            <a:pPr algn="l">
              <a:lnSpc>
                <a:spcPts val="2516"/>
              </a:lnSpc>
            </a:pPr>
          </a:p>
          <a:p>
            <a:pPr algn="l">
              <a:lnSpc>
                <a:spcPts val="2516"/>
              </a:lnSpc>
            </a:pPr>
            <a:r>
              <a:rPr lang="en-US" sz="2096">
                <a:solidFill>
                  <a:srgbClr val="026855"/>
                </a:solidFill>
                <a:latin typeface="Calibri (MS)"/>
                <a:ea typeface="Calibri (MS)"/>
                <a:cs typeface="Calibri (MS)"/>
                <a:sym typeface="Calibri (MS)"/>
              </a:rPr>
              <a:t>Why</a:t>
            </a:r>
            <a:r>
              <a:rPr lang="en-US" sz="2096">
                <a:solidFill>
                  <a:srgbClr val="026855"/>
                </a:solidFill>
                <a:latin typeface="Calibri (MS)"/>
                <a:ea typeface="Calibri (MS)"/>
                <a:cs typeface="Calibri (MS)"/>
                <a:sym typeface="Calibri (MS)"/>
              </a:rPr>
              <a:t> </a:t>
            </a:r>
            <a:r>
              <a:rPr lang="en-US" sz="2096">
                <a:solidFill>
                  <a:srgbClr val="026855"/>
                </a:solidFill>
                <a:latin typeface="Calibri (MS)"/>
                <a:ea typeface="Calibri (MS)"/>
                <a:cs typeface="Calibri (MS)"/>
                <a:sym typeface="Calibri (MS)"/>
              </a:rPr>
              <a:t>do </a:t>
            </a:r>
            <a:r>
              <a:rPr lang="en-US" sz="2096">
                <a:solidFill>
                  <a:srgbClr val="026855"/>
                </a:solidFill>
                <a:latin typeface="Calibri (MS)"/>
                <a:ea typeface="Calibri (MS)"/>
                <a:cs typeface="Calibri (MS)"/>
                <a:sym typeface="Calibri (MS)"/>
              </a:rPr>
              <a:t>t</a:t>
            </a:r>
            <a:r>
              <a:rPr lang="en-US" sz="2096">
                <a:solidFill>
                  <a:srgbClr val="026855"/>
                </a:solidFill>
                <a:latin typeface="Calibri (MS)"/>
                <a:ea typeface="Calibri (MS)"/>
                <a:cs typeface="Calibri (MS)"/>
                <a:sym typeface="Calibri (MS)"/>
              </a:rPr>
              <a:t>h</a:t>
            </a:r>
            <a:r>
              <a:rPr lang="en-US" sz="2096">
                <a:solidFill>
                  <a:srgbClr val="026855"/>
                </a:solidFill>
                <a:latin typeface="Calibri (MS)"/>
                <a:ea typeface="Calibri (MS)"/>
                <a:cs typeface="Calibri (MS)"/>
                <a:sym typeface="Calibri (MS)"/>
              </a:rPr>
              <a:t>e</a:t>
            </a:r>
            <a:r>
              <a:rPr lang="en-US" sz="2096">
                <a:solidFill>
                  <a:srgbClr val="026855"/>
                </a:solidFill>
                <a:latin typeface="Calibri (MS)"/>
                <a:ea typeface="Calibri (MS)"/>
                <a:cs typeface="Calibri (MS)"/>
                <a:sym typeface="Calibri (MS)"/>
              </a:rPr>
              <a:t>y</a:t>
            </a:r>
            <a:r>
              <a:rPr lang="en-US" sz="2096">
                <a:solidFill>
                  <a:srgbClr val="026855"/>
                </a:solidFill>
                <a:latin typeface="Calibri (MS)"/>
                <a:ea typeface="Calibri (MS)"/>
                <a:cs typeface="Calibri (MS)"/>
                <a:sym typeface="Calibri (MS)"/>
              </a:rPr>
              <a:t> g</a:t>
            </a:r>
            <a:r>
              <a:rPr lang="en-US" sz="2096">
                <a:solidFill>
                  <a:srgbClr val="026855"/>
                </a:solidFill>
                <a:latin typeface="Calibri (MS)"/>
                <a:ea typeface="Calibri (MS)"/>
                <a:cs typeface="Calibri (MS)"/>
                <a:sym typeface="Calibri (MS)"/>
              </a:rPr>
              <a:t>o</a:t>
            </a:r>
            <a:r>
              <a:rPr lang="en-US" sz="2096">
                <a:solidFill>
                  <a:srgbClr val="026855"/>
                </a:solidFill>
                <a:latin typeface="Calibri (MS)"/>
                <a:ea typeface="Calibri (MS)"/>
                <a:cs typeface="Calibri (MS)"/>
                <a:sym typeface="Calibri (MS)"/>
              </a:rPr>
              <a:t> </a:t>
            </a:r>
            <a:r>
              <a:rPr lang="en-US" sz="2096">
                <a:solidFill>
                  <a:srgbClr val="026855"/>
                </a:solidFill>
                <a:latin typeface="Calibri (MS)"/>
                <a:ea typeface="Calibri (MS)"/>
                <a:cs typeface="Calibri (MS)"/>
                <a:sym typeface="Calibri (MS)"/>
              </a:rPr>
              <a:t>unn</a:t>
            </a:r>
            <a:r>
              <a:rPr lang="en-US" sz="2096">
                <a:solidFill>
                  <a:srgbClr val="026855"/>
                </a:solidFill>
                <a:latin typeface="Calibri (MS)"/>
                <a:ea typeface="Calibri (MS)"/>
                <a:cs typeface="Calibri (MS)"/>
                <a:sym typeface="Calibri (MS)"/>
              </a:rPr>
              <a:t>o</a:t>
            </a:r>
            <a:r>
              <a:rPr lang="en-US" sz="2096">
                <a:solidFill>
                  <a:srgbClr val="026855"/>
                </a:solidFill>
                <a:latin typeface="Calibri (MS)"/>
                <a:ea typeface="Calibri (MS)"/>
                <a:cs typeface="Calibri (MS)"/>
                <a:sym typeface="Calibri (MS)"/>
              </a:rPr>
              <a:t>ti</a:t>
            </a:r>
            <a:r>
              <a:rPr lang="en-US" sz="2096">
                <a:solidFill>
                  <a:srgbClr val="026855"/>
                </a:solidFill>
                <a:latin typeface="Calibri (MS)"/>
                <a:ea typeface="Calibri (MS)"/>
                <a:cs typeface="Calibri (MS)"/>
                <a:sym typeface="Calibri (MS)"/>
              </a:rPr>
              <a:t>ce</a:t>
            </a:r>
            <a:r>
              <a:rPr lang="en-US" sz="2096">
                <a:solidFill>
                  <a:srgbClr val="026855"/>
                </a:solidFill>
                <a:latin typeface="Calibri (MS)"/>
                <a:ea typeface="Calibri (MS)"/>
                <a:cs typeface="Calibri (MS)"/>
                <a:sym typeface="Calibri (MS)"/>
              </a:rPr>
              <a:t>d? Bo</a:t>
            </a:r>
            <a:r>
              <a:rPr lang="en-US" sz="2096">
                <a:solidFill>
                  <a:srgbClr val="026855"/>
                </a:solidFill>
                <a:latin typeface="Calibri (MS)"/>
                <a:ea typeface="Calibri (MS)"/>
                <a:cs typeface="Calibri (MS)"/>
                <a:sym typeface="Calibri (MS)"/>
              </a:rPr>
              <a:t>th are silent or nearly silent to people. Air hisses at ultrasonic frequencies, and early partial discharge makes no visible sign.</a:t>
            </a:r>
          </a:p>
          <a:p>
            <a:pPr algn="l">
              <a:lnSpc>
                <a:spcPts val="2516"/>
              </a:lnSpc>
            </a:pPr>
            <a:r>
              <a:rPr lang="en-US" sz="2096">
                <a:solidFill>
                  <a:srgbClr val="026855"/>
                </a:solidFill>
                <a:latin typeface="Calibri (MS)"/>
                <a:ea typeface="Calibri (MS)"/>
                <a:cs typeface="Calibri (MS)"/>
                <a:sym typeface="Calibri (MS)"/>
              </a:rPr>
              <a:t>.</a:t>
            </a:r>
          </a:p>
          <a:p>
            <a:pPr algn="l">
              <a:lnSpc>
                <a:spcPts val="2516"/>
              </a:lnSpc>
            </a:pPr>
            <a:r>
              <a:rPr lang="en-US" sz="2096">
                <a:solidFill>
                  <a:srgbClr val="026855"/>
                </a:solidFill>
                <a:latin typeface="Calibri (MS)"/>
                <a:ea typeface="Calibri (MS)"/>
                <a:cs typeface="Calibri (MS)"/>
                <a:sym typeface="Calibri (MS)"/>
              </a:rPr>
              <a:t>Why aren’t better tools used? Commercial acoustic cameras exist, but they cost about $15,000–$30,000, are handheld, and still need a person to scan each area.</a:t>
            </a:r>
          </a:p>
          <a:p>
            <a:pPr algn="l">
              <a:lnSpc>
                <a:spcPts val="2516"/>
              </a:lnSpc>
            </a:pPr>
          </a:p>
        </p:txBody>
      </p:sp>
      <p:sp>
        <p:nvSpPr>
          <p:cNvPr name="TextBox 43" id="43"/>
          <p:cNvSpPr txBox="true"/>
          <p:nvPr/>
        </p:nvSpPr>
        <p:spPr>
          <a:xfrm rot="0">
            <a:off x="12692295" y="4263390"/>
            <a:ext cx="4567005" cy="4036536"/>
          </a:xfrm>
          <a:prstGeom prst="rect">
            <a:avLst/>
          </a:prstGeom>
        </p:spPr>
        <p:txBody>
          <a:bodyPr anchor="t" rtlCol="false" tIns="0" lIns="0" bIns="0" rIns="0">
            <a:spAutoFit/>
          </a:bodyPr>
          <a:lstStyle/>
          <a:p>
            <a:pPr algn="l">
              <a:lnSpc>
                <a:spcPts val="3159"/>
              </a:lnSpc>
            </a:pPr>
            <a:r>
              <a:rPr lang="en-US" sz="2632">
                <a:solidFill>
                  <a:srgbClr val="026855"/>
                </a:solidFill>
                <a:latin typeface="Calibri (MS)"/>
                <a:ea typeface="Calibri (MS)"/>
                <a:cs typeface="Calibri (MS)"/>
                <a:sym typeface="Calibri (MS)"/>
              </a:rPr>
              <a:t>The unnoticed leak delay</a:t>
            </a:r>
            <a:r>
              <a:rPr lang="en-US" sz="2632">
                <a:solidFill>
                  <a:srgbClr val="026855"/>
                </a:solidFill>
                <a:latin typeface="Calibri (MS)"/>
                <a:ea typeface="Calibri (MS)"/>
                <a:cs typeface="Calibri (MS)"/>
                <a:sym typeface="Calibri (MS)"/>
              </a:rPr>
              <a:t>s</a:t>
            </a:r>
            <a:r>
              <a:rPr lang="en-US" sz="2632">
                <a:solidFill>
                  <a:srgbClr val="026855"/>
                </a:solidFill>
                <a:latin typeface="Calibri (MS)"/>
                <a:ea typeface="Calibri (MS)"/>
                <a:cs typeface="Calibri (MS)"/>
                <a:sym typeface="Calibri (MS)"/>
              </a:rPr>
              <a:t> the total production resulting in financial loss. Moreover leaving them unfixed over a certain time will increase the risk of the part getting damaged further. If the fault is in high power electrical machineries left undetected it will end up in devastating results.</a:t>
            </a:r>
          </a:p>
          <a:p>
            <a:pPr algn="l">
              <a:lnSpc>
                <a:spcPts val="3159"/>
              </a:lnSpc>
            </a:pPr>
          </a:p>
        </p:txBody>
      </p:sp>
      <p:sp>
        <p:nvSpPr>
          <p:cNvPr name="Freeform 44" id="44"/>
          <p:cNvSpPr/>
          <p:nvPr/>
        </p:nvSpPr>
        <p:spPr>
          <a:xfrm flipH="false" flipV="false" rot="0">
            <a:off x="673294" y="467554"/>
            <a:ext cx="3934063" cy="1259443"/>
          </a:xfrm>
          <a:custGeom>
            <a:avLst/>
            <a:gdLst/>
            <a:ahLst/>
            <a:cxnLst/>
            <a:rect r="r" b="b" t="t" l="l"/>
            <a:pathLst>
              <a:path h="1259443" w="3934063">
                <a:moveTo>
                  <a:pt x="0" y="0"/>
                </a:moveTo>
                <a:lnTo>
                  <a:pt x="3934063" y="0"/>
                </a:lnTo>
                <a:lnTo>
                  <a:pt x="3934063" y="1259443"/>
                </a:lnTo>
                <a:lnTo>
                  <a:pt x="0" y="125944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45" id="45"/>
          <p:cNvSpPr/>
          <p:nvPr/>
        </p:nvSpPr>
        <p:spPr>
          <a:xfrm flipH="false" flipV="false" rot="0">
            <a:off x="892750" y="673294"/>
            <a:ext cx="971407" cy="847963"/>
          </a:xfrm>
          <a:custGeom>
            <a:avLst/>
            <a:gdLst/>
            <a:ahLst/>
            <a:cxnLst/>
            <a:rect r="r" b="b" t="t" l="l"/>
            <a:pathLst>
              <a:path h="847963" w="971407">
                <a:moveTo>
                  <a:pt x="0" y="0"/>
                </a:moveTo>
                <a:lnTo>
                  <a:pt x="971407" y="0"/>
                </a:lnTo>
                <a:lnTo>
                  <a:pt x="971407" y="847963"/>
                </a:lnTo>
                <a:lnTo>
                  <a:pt x="0" y="84796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46" id="46"/>
          <p:cNvGrpSpPr/>
          <p:nvPr/>
        </p:nvGrpSpPr>
        <p:grpSpPr>
          <a:xfrm rot="0">
            <a:off x="1104138" y="822960"/>
            <a:ext cx="548640" cy="548640"/>
            <a:chOff x="0" y="0"/>
            <a:chExt cx="731520" cy="731520"/>
          </a:xfrm>
        </p:grpSpPr>
        <p:sp>
          <p:nvSpPr>
            <p:cNvPr name="Freeform 47" id="47" descr="Team icon"/>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12"/>
              <a:stretch>
                <a:fillRect l="0" t="0" r="0" b="0"/>
              </a:stretch>
            </a:blipFill>
          </p:spPr>
        </p:sp>
      </p:grpSp>
      <p:grpSp>
        <p:nvGrpSpPr>
          <p:cNvPr name="Group 48" id="48"/>
          <p:cNvGrpSpPr/>
          <p:nvPr/>
        </p:nvGrpSpPr>
        <p:grpSpPr>
          <a:xfrm rot="0">
            <a:off x="2057400" y="576072"/>
            <a:ext cx="2441448" cy="1042416"/>
            <a:chOff x="0" y="0"/>
            <a:chExt cx="3255264" cy="1389888"/>
          </a:xfrm>
        </p:grpSpPr>
        <p:sp>
          <p:nvSpPr>
            <p:cNvPr name="Freeform 49" id="49"/>
            <p:cNvSpPr/>
            <p:nvPr/>
          </p:nvSpPr>
          <p:spPr>
            <a:xfrm flipH="false" flipV="false" rot="0">
              <a:off x="0" y="0"/>
              <a:ext cx="3255264" cy="1389888"/>
            </a:xfrm>
            <a:custGeom>
              <a:avLst/>
              <a:gdLst/>
              <a:ahLst/>
              <a:cxnLst/>
              <a:rect r="r" b="b" t="t" l="l"/>
              <a:pathLst>
                <a:path h="1389888" w="3255264">
                  <a:moveTo>
                    <a:pt x="0" y="0"/>
                  </a:moveTo>
                  <a:lnTo>
                    <a:pt x="3255264" y="0"/>
                  </a:lnTo>
                  <a:lnTo>
                    <a:pt x="3255264" y="1389888"/>
                  </a:lnTo>
                  <a:lnTo>
                    <a:pt x="0" y="1389888"/>
                  </a:lnTo>
                  <a:close/>
                </a:path>
              </a:pathLst>
            </a:custGeom>
            <a:blipFill>
              <a:blip r:embed="rId13">
                <a:alphaModFix amt="0"/>
              </a:blip>
              <a:stretch>
                <a:fillRect l="-4819" t="0" r="-4819" b="0"/>
              </a:stretch>
            </a:blipFill>
          </p:spPr>
        </p:sp>
      </p:grpSp>
      <p:grpSp>
        <p:nvGrpSpPr>
          <p:cNvPr name="Group 50" id="50"/>
          <p:cNvGrpSpPr/>
          <p:nvPr/>
        </p:nvGrpSpPr>
        <p:grpSpPr>
          <a:xfrm rot="0">
            <a:off x="2057400" y="554641"/>
            <a:ext cx="2441448" cy="1063847"/>
            <a:chOff x="0" y="0"/>
            <a:chExt cx="3255264" cy="1418463"/>
          </a:xfrm>
        </p:grpSpPr>
        <p:sp>
          <p:nvSpPr>
            <p:cNvPr name="Freeform 51" id="51"/>
            <p:cNvSpPr/>
            <p:nvPr/>
          </p:nvSpPr>
          <p:spPr>
            <a:xfrm flipH="false" flipV="false" rot="0">
              <a:off x="0" y="0"/>
              <a:ext cx="3255264" cy="1418463"/>
            </a:xfrm>
            <a:custGeom>
              <a:avLst/>
              <a:gdLst/>
              <a:ahLst/>
              <a:cxnLst/>
              <a:rect r="r" b="b" t="t" l="l"/>
              <a:pathLst>
                <a:path h="1418463" w="3255264">
                  <a:moveTo>
                    <a:pt x="0" y="0"/>
                  </a:moveTo>
                  <a:lnTo>
                    <a:pt x="3255264" y="0"/>
                  </a:lnTo>
                  <a:lnTo>
                    <a:pt x="3255264" y="1418463"/>
                  </a:lnTo>
                  <a:lnTo>
                    <a:pt x="0" y="1418463"/>
                  </a:lnTo>
                  <a:close/>
                </a:path>
              </a:pathLst>
            </a:custGeom>
            <a:blipFill>
              <a:blip r:embed="rId4">
                <a:alphaModFix amt="0"/>
              </a:blip>
              <a:stretch>
                <a:fillRect l="-5907" t="0" r="-5907" b="0"/>
              </a:stretch>
            </a:blipFill>
          </p:spPr>
        </p:sp>
        <p:sp>
          <p:nvSpPr>
            <p:cNvPr name="TextBox 52" id="52"/>
            <p:cNvSpPr txBox="true"/>
            <p:nvPr/>
          </p:nvSpPr>
          <p:spPr>
            <a:xfrm>
              <a:off x="0" y="-28575"/>
              <a:ext cx="3255264" cy="1447038"/>
            </a:xfrm>
            <a:prstGeom prst="rect">
              <a:avLst/>
            </a:prstGeom>
          </p:spPr>
          <p:txBody>
            <a:bodyPr anchor="ctr" rtlCol="false" tIns="0" lIns="0" bIns="0" rIns="0"/>
            <a:lstStyle/>
            <a:p>
              <a:pPr algn="l">
                <a:lnSpc>
                  <a:spcPts val="1620"/>
                </a:lnSpc>
              </a:pPr>
              <a:r>
                <a:rPr lang="en-US" b="true" sz="1350" spc="449">
                  <a:solidFill>
                    <a:srgbClr val="5B6F6B"/>
                  </a:solidFill>
                  <a:latin typeface="Calibri (MS) Bold"/>
                  <a:ea typeface="Calibri (MS) Bold"/>
                  <a:cs typeface="Calibri (MS) Bold"/>
                  <a:sym typeface="Calibri (MS) Bold"/>
                </a:rPr>
                <a:t>TEAM</a:t>
              </a:r>
            </a:p>
            <a:p>
              <a:pPr algn="l">
                <a:lnSpc>
                  <a:spcPts val="2700"/>
                </a:lnSpc>
              </a:pPr>
              <a:r>
                <a:rPr lang="en-US" b="true" sz="2250" spc="749">
                  <a:solidFill>
                    <a:srgbClr val="026855"/>
                  </a:solidFill>
                  <a:latin typeface="Calibri (MS) Bold"/>
                  <a:ea typeface="Calibri (MS) Bold"/>
                  <a:cs typeface="Calibri (MS) Bold"/>
                  <a:sym typeface="Calibri (MS) Bold"/>
                </a:rPr>
                <a:t>SIx-SEVEN</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sp>
        <p:nvSpPr>
          <p:cNvPr name="Freeform 2" id="2"/>
          <p:cNvSpPr/>
          <p:nvPr/>
        </p:nvSpPr>
        <p:spPr>
          <a:xfrm flipH="false" flipV="false" rot="0">
            <a:off x="16354796" y="467554"/>
            <a:ext cx="1259443" cy="1259443"/>
          </a:xfrm>
          <a:custGeom>
            <a:avLst/>
            <a:gdLst/>
            <a:ahLst/>
            <a:cxnLst/>
            <a:rect r="r" b="b" t="t" l="l"/>
            <a:pathLst>
              <a:path h="1259443" w="1259443">
                <a:moveTo>
                  <a:pt x="0" y="0"/>
                </a:moveTo>
                <a:lnTo>
                  <a:pt x="1259444" y="0"/>
                </a:lnTo>
                <a:lnTo>
                  <a:pt x="1259444" y="1259443"/>
                </a:lnTo>
                <a:lnTo>
                  <a:pt x="0" y="125944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16583920" y="576072"/>
            <a:ext cx="801243" cy="1042416"/>
            <a:chOff x="0" y="0"/>
            <a:chExt cx="1068324" cy="1389888"/>
          </a:xfrm>
        </p:grpSpPr>
        <p:sp>
          <p:nvSpPr>
            <p:cNvPr name="Freeform 4" id="4" descr="Genesis logo"/>
            <p:cNvSpPr/>
            <p:nvPr/>
          </p:nvSpPr>
          <p:spPr>
            <a:xfrm flipH="false" flipV="false" rot="0">
              <a:off x="0" y="0"/>
              <a:ext cx="1068324" cy="1389888"/>
            </a:xfrm>
            <a:custGeom>
              <a:avLst/>
              <a:gdLst/>
              <a:ahLst/>
              <a:cxnLst/>
              <a:rect r="r" b="b" t="t" l="l"/>
              <a:pathLst>
                <a:path h="1389888" w="1068324">
                  <a:moveTo>
                    <a:pt x="0" y="0"/>
                  </a:moveTo>
                  <a:lnTo>
                    <a:pt x="1068324" y="0"/>
                  </a:lnTo>
                  <a:lnTo>
                    <a:pt x="1068324" y="1389888"/>
                  </a:lnTo>
                  <a:lnTo>
                    <a:pt x="0" y="1389888"/>
                  </a:lnTo>
                  <a:lnTo>
                    <a:pt x="0" y="0"/>
                  </a:lnTo>
                  <a:close/>
                </a:path>
              </a:pathLst>
            </a:custGeom>
            <a:blipFill>
              <a:blip r:embed="rId5"/>
              <a:stretch>
                <a:fillRect l="0" t="-2" r="0" b="-2"/>
              </a:stretch>
            </a:blipFill>
          </p:spPr>
        </p:sp>
      </p:grpSp>
      <p:grpSp>
        <p:nvGrpSpPr>
          <p:cNvPr name="Group 5" id="5"/>
          <p:cNvGrpSpPr/>
          <p:nvPr/>
        </p:nvGrpSpPr>
        <p:grpSpPr>
          <a:xfrm rot="0">
            <a:off x="0" y="9532620"/>
            <a:ext cx="18287524" cy="754380"/>
            <a:chOff x="0" y="0"/>
            <a:chExt cx="24383365" cy="1005840"/>
          </a:xfrm>
        </p:grpSpPr>
        <p:sp>
          <p:nvSpPr>
            <p:cNvPr name="Freeform 6" id="6"/>
            <p:cNvSpPr/>
            <p:nvPr/>
          </p:nvSpPr>
          <p:spPr>
            <a:xfrm flipH="false" flipV="false" rot="0">
              <a:off x="0" y="0"/>
              <a:ext cx="24383364" cy="1005840"/>
            </a:xfrm>
            <a:custGeom>
              <a:avLst/>
              <a:gdLst/>
              <a:ahLst/>
              <a:cxnLst/>
              <a:rect r="r" b="b" t="t" l="l"/>
              <a:pathLst>
                <a:path h="1005840" w="24383364">
                  <a:moveTo>
                    <a:pt x="0" y="0"/>
                  </a:moveTo>
                  <a:lnTo>
                    <a:pt x="24383364" y="0"/>
                  </a:lnTo>
                  <a:lnTo>
                    <a:pt x="24383364" y="1005840"/>
                  </a:lnTo>
                  <a:lnTo>
                    <a:pt x="0" y="1005840"/>
                  </a:lnTo>
                  <a:close/>
                </a:path>
              </a:pathLst>
            </a:custGeom>
            <a:solidFill>
              <a:srgbClr val="052B35"/>
            </a:solidFill>
          </p:spPr>
        </p:sp>
      </p:grpSp>
      <p:grpSp>
        <p:nvGrpSpPr>
          <p:cNvPr name="Group 7" id="7"/>
          <p:cNvGrpSpPr/>
          <p:nvPr/>
        </p:nvGrpSpPr>
        <p:grpSpPr>
          <a:xfrm rot="0">
            <a:off x="3429000" y="9532620"/>
            <a:ext cx="11429543" cy="754380"/>
            <a:chOff x="0" y="0"/>
            <a:chExt cx="15239390" cy="1005840"/>
          </a:xfrm>
        </p:grpSpPr>
        <p:sp>
          <p:nvSpPr>
            <p:cNvPr name="Freeform 8" id="8"/>
            <p:cNvSpPr/>
            <p:nvPr/>
          </p:nvSpPr>
          <p:spPr>
            <a:xfrm flipH="false" flipV="false" rot="0">
              <a:off x="0" y="0"/>
              <a:ext cx="15239364" cy="1005840"/>
            </a:xfrm>
            <a:custGeom>
              <a:avLst/>
              <a:gdLst/>
              <a:ahLst/>
              <a:cxnLst/>
              <a:rect r="r" b="b" t="t" l="l"/>
              <a:pathLst>
                <a:path h="1005840" w="15239364">
                  <a:moveTo>
                    <a:pt x="0" y="0"/>
                  </a:moveTo>
                  <a:lnTo>
                    <a:pt x="15239364" y="0"/>
                  </a:lnTo>
                  <a:lnTo>
                    <a:pt x="15239364" y="1005840"/>
                  </a:lnTo>
                  <a:lnTo>
                    <a:pt x="0" y="1005840"/>
                  </a:lnTo>
                  <a:close/>
                </a:path>
              </a:pathLst>
            </a:custGeom>
            <a:blipFill>
              <a:blip r:embed="rId6">
                <a:alphaModFix amt="0"/>
              </a:blip>
              <a:stretch>
                <a:fillRect l="0" t="-245011" r="0" b="-245010"/>
              </a:stretch>
            </a:blipFill>
          </p:spPr>
        </p:sp>
      </p:grpSp>
      <p:grpSp>
        <p:nvGrpSpPr>
          <p:cNvPr name="Group 9" id="9"/>
          <p:cNvGrpSpPr/>
          <p:nvPr/>
        </p:nvGrpSpPr>
        <p:grpSpPr>
          <a:xfrm rot="0">
            <a:off x="16888511" y="9614916"/>
            <a:ext cx="685800" cy="593884"/>
            <a:chOff x="0" y="0"/>
            <a:chExt cx="914400" cy="791845"/>
          </a:xfrm>
        </p:grpSpPr>
        <p:sp>
          <p:nvSpPr>
            <p:cNvPr name="Freeform 10" id="10"/>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11" id="11"/>
          <p:cNvGrpSpPr/>
          <p:nvPr/>
        </p:nvGrpSpPr>
        <p:grpSpPr>
          <a:xfrm rot="5400000">
            <a:off x="15894653" y="7008600"/>
            <a:ext cx="2179749" cy="1893332"/>
            <a:chOff x="0" y="0"/>
            <a:chExt cx="2906332" cy="2524442"/>
          </a:xfrm>
        </p:grpSpPr>
        <p:sp>
          <p:nvSpPr>
            <p:cNvPr name="Freeform 12" id="12"/>
            <p:cNvSpPr/>
            <p:nvPr/>
          </p:nvSpPr>
          <p:spPr>
            <a:xfrm flipH="false" flipV="false" rot="0">
              <a:off x="0" y="0"/>
              <a:ext cx="2906395" cy="2524506"/>
            </a:xfrm>
            <a:custGeom>
              <a:avLst/>
              <a:gdLst/>
              <a:ahLst/>
              <a:cxnLst/>
              <a:rect r="r" b="b" t="t" l="l"/>
              <a:pathLst>
                <a:path h="2524506" w="2906395">
                  <a:moveTo>
                    <a:pt x="0" y="1262253"/>
                  </a:moveTo>
                  <a:lnTo>
                    <a:pt x="630301" y="0"/>
                  </a:lnTo>
                  <a:lnTo>
                    <a:pt x="2276094" y="0"/>
                  </a:lnTo>
                  <a:lnTo>
                    <a:pt x="2906395" y="1262253"/>
                  </a:lnTo>
                  <a:lnTo>
                    <a:pt x="2276094" y="2524506"/>
                  </a:lnTo>
                  <a:lnTo>
                    <a:pt x="630301" y="2524506"/>
                  </a:lnTo>
                  <a:close/>
                </a:path>
              </a:pathLst>
            </a:custGeom>
            <a:blipFill>
              <a:blip r:embed="rId6">
                <a:alphaModFix amt="0"/>
              </a:blip>
              <a:stretch>
                <a:fillRect l="-61520" t="0" r="-61518" b="2"/>
              </a:stretch>
            </a:blipFill>
            <a:ln w="23812" cap="sq">
              <a:solidFill>
                <a:srgbClr val="4FA278"/>
              </a:solidFill>
              <a:prstDash val="solid"/>
              <a:miter/>
            </a:ln>
          </p:spPr>
        </p:sp>
      </p:grpSp>
      <p:grpSp>
        <p:nvGrpSpPr>
          <p:cNvPr name="Group 13" id="13"/>
          <p:cNvGrpSpPr/>
          <p:nvPr/>
        </p:nvGrpSpPr>
        <p:grpSpPr>
          <a:xfrm rot="5400000">
            <a:off x="14605102" y="8002981"/>
            <a:ext cx="1466993" cy="1276112"/>
            <a:chOff x="0" y="0"/>
            <a:chExt cx="1955990" cy="1701482"/>
          </a:xfrm>
        </p:grpSpPr>
        <p:sp>
          <p:nvSpPr>
            <p:cNvPr name="Freeform 14" id="14"/>
            <p:cNvSpPr/>
            <p:nvPr/>
          </p:nvSpPr>
          <p:spPr>
            <a:xfrm flipH="false" flipV="false" rot="0">
              <a:off x="0" y="0"/>
              <a:ext cx="1956054" cy="1701546"/>
            </a:xfrm>
            <a:custGeom>
              <a:avLst/>
              <a:gdLst/>
              <a:ahLst/>
              <a:cxnLst/>
              <a:rect r="r" b="b" t="t" l="l"/>
              <a:pathLst>
                <a:path h="1701546" w="1956054">
                  <a:moveTo>
                    <a:pt x="0" y="850773"/>
                  </a:moveTo>
                  <a:lnTo>
                    <a:pt x="424561" y="0"/>
                  </a:lnTo>
                  <a:lnTo>
                    <a:pt x="1531493" y="0"/>
                  </a:lnTo>
                  <a:lnTo>
                    <a:pt x="1956054" y="850773"/>
                  </a:lnTo>
                  <a:lnTo>
                    <a:pt x="1531493" y="1701546"/>
                  </a:lnTo>
                  <a:lnTo>
                    <a:pt x="424561" y="1701546"/>
                  </a:lnTo>
                  <a:close/>
                </a:path>
              </a:pathLst>
            </a:custGeom>
            <a:blipFill>
              <a:blip r:embed="rId6">
                <a:alphaModFix amt="0"/>
              </a:blip>
              <a:stretch>
                <a:fillRect l="-61684" t="0" r="-61680" b="3"/>
              </a:stretch>
            </a:blipFill>
            <a:ln w="23812" cap="sq">
              <a:solidFill>
                <a:srgbClr val="4FA278"/>
              </a:solidFill>
              <a:prstDash val="solid"/>
              <a:miter/>
            </a:ln>
          </p:spPr>
        </p:sp>
      </p:grpSp>
      <p:grpSp>
        <p:nvGrpSpPr>
          <p:cNvPr name="Group 15" id="15"/>
          <p:cNvGrpSpPr/>
          <p:nvPr/>
        </p:nvGrpSpPr>
        <p:grpSpPr>
          <a:xfrm rot="5400000">
            <a:off x="17348302" y="5739841"/>
            <a:ext cx="1466993" cy="1276112"/>
            <a:chOff x="0" y="0"/>
            <a:chExt cx="1955990" cy="1701482"/>
          </a:xfrm>
        </p:grpSpPr>
        <p:sp>
          <p:nvSpPr>
            <p:cNvPr name="Freeform 16" id="16"/>
            <p:cNvSpPr/>
            <p:nvPr/>
          </p:nvSpPr>
          <p:spPr>
            <a:xfrm flipH="false" flipV="false" rot="0">
              <a:off x="0" y="0"/>
              <a:ext cx="1956054" cy="1701546"/>
            </a:xfrm>
            <a:custGeom>
              <a:avLst/>
              <a:gdLst/>
              <a:ahLst/>
              <a:cxnLst/>
              <a:rect r="r" b="b" t="t" l="l"/>
              <a:pathLst>
                <a:path h="1701546" w="1956054">
                  <a:moveTo>
                    <a:pt x="0" y="850773"/>
                  </a:moveTo>
                  <a:lnTo>
                    <a:pt x="424561" y="0"/>
                  </a:lnTo>
                  <a:lnTo>
                    <a:pt x="1531493" y="0"/>
                  </a:lnTo>
                  <a:lnTo>
                    <a:pt x="1956054" y="850773"/>
                  </a:lnTo>
                  <a:lnTo>
                    <a:pt x="1531493" y="1701546"/>
                  </a:lnTo>
                  <a:lnTo>
                    <a:pt x="424561" y="1701546"/>
                  </a:lnTo>
                  <a:close/>
                </a:path>
              </a:pathLst>
            </a:custGeom>
            <a:blipFill>
              <a:blip r:embed="rId6">
                <a:alphaModFix amt="0"/>
              </a:blip>
              <a:stretch>
                <a:fillRect l="-61684" t="0" r="-61680" b="3"/>
              </a:stretch>
            </a:blipFill>
            <a:ln w="23812" cap="sq">
              <a:solidFill>
                <a:srgbClr val="4FA278"/>
              </a:solidFill>
              <a:prstDash val="solid"/>
              <a:miter/>
            </a:ln>
          </p:spPr>
        </p:sp>
      </p:grpSp>
      <p:grpSp>
        <p:nvGrpSpPr>
          <p:cNvPr name="Group 17" id="17"/>
          <p:cNvGrpSpPr/>
          <p:nvPr/>
        </p:nvGrpSpPr>
        <p:grpSpPr>
          <a:xfrm rot="0">
            <a:off x="4869180" y="480060"/>
            <a:ext cx="11247120" cy="1234440"/>
            <a:chOff x="0" y="0"/>
            <a:chExt cx="14996160" cy="1645920"/>
          </a:xfrm>
        </p:grpSpPr>
        <p:sp>
          <p:nvSpPr>
            <p:cNvPr name="Freeform 18" id="18"/>
            <p:cNvSpPr/>
            <p:nvPr/>
          </p:nvSpPr>
          <p:spPr>
            <a:xfrm flipH="false" flipV="false" rot="0">
              <a:off x="0" y="0"/>
              <a:ext cx="14996161" cy="1645920"/>
            </a:xfrm>
            <a:custGeom>
              <a:avLst/>
              <a:gdLst/>
              <a:ahLst/>
              <a:cxnLst/>
              <a:rect r="r" b="b" t="t" l="l"/>
              <a:pathLst>
                <a:path h="1645920" w="14996161">
                  <a:moveTo>
                    <a:pt x="0" y="0"/>
                  </a:moveTo>
                  <a:lnTo>
                    <a:pt x="14996161" y="0"/>
                  </a:lnTo>
                  <a:lnTo>
                    <a:pt x="14996161" y="1645920"/>
                  </a:lnTo>
                  <a:lnTo>
                    <a:pt x="0" y="1645920"/>
                  </a:lnTo>
                  <a:close/>
                </a:path>
              </a:pathLst>
            </a:custGeom>
            <a:blipFill>
              <a:blip r:embed="rId6">
                <a:alphaModFix amt="0"/>
              </a:blip>
              <a:stretch>
                <a:fillRect l="0" t="-127406" r="0" b="-127407"/>
              </a:stretch>
            </a:blipFill>
          </p:spPr>
        </p:sp>
      </p:grpSp>
      <p:grpSp>
        <p:nvGrpSpPr>
          <p:cNvPr name="Group 19" id="19"/>
          <p:cNvGrpSpPr/>
          <p:nvPr/>
        </p:nvGrpSpPr>
        <p:grpSpPr>
          <a:xfrm rot="0">
            <a:off x="4869180" y="465772"/>
            <a:ext cx="11247120" cy="1248727"/>
            <a:chOff x="0" y="0"/>
            <a:chExt cx="14996160" cy="1664970"/>
          </a:xfrm>
        </p:grpSpPr>
        <p:sp>
          <p:nvSpPr>
            <p:cNvPr name="Freeform 20" id="20"/>
            <p:cNvSpPr/>
            <p:nvPr/>
          </p:nvSpPr>
          <p:spPr>
            <a:xfrm flipH="false" flipV="false" rot="0">
              <a:off x="0" y="0"/>
              <a:ext cx="14996161" cy="1664970"/>
            </a:xfrm>
            <a:custGeom>
              <a:avLst/>
              <a:gdLst/>
              <a:ahLst/>
              <a:cxnLst/>
              <a:rect r="r" b="b" t="t" l="l"/>
              <a:pathLst>
                <a:path h="1664970" w="14996161">
                  <a:moveTo>
                    <a:pt x="0" y="0"/>
                  </a:moveTo>
                  <a:lnTo>
                    <a:pt x="14996161" y="0"/>
                  </a:lnTo>
                  <a:lnTo>
                    <a:pt x="14996161" y="1664970"/>
                  </a:lnTo>
                  <a:lnTo>
                    <a:pt x="0" y="1664970"/>
                  </a:lnTo>
                  <a:close/>
                </a:path>
              </a:pathLst>
            </a:custGeom>
            <a:blipFill>
              <a:blip r:embed="rId7">
                <a:alphaModFix amt="0"/>
              </a:blip>
              <a:stretch>
                <a:fillRect l="0" t="-125499" r="0" b="-125499"/>
              </a:stretch>
            </a:blipFill>
          </p:spPr>
        </p:sp>
        <p:sp>
          <p:nvSpPr>
            <p:cNvPr name="TextBox 21" id="21"/>
            <p:cNvSpPr txBox="true"/>
            <p:nvPr/>
          </p:nvSpPr>
          <p:spPr>
            <a:xfrm>
              <a:off x="0" y="-19050"/>
              <a:ext cx="14996160" cy="1684020"/>
            </a:xfrm>
            <a:prstGeom prst="rect">
              <a:avLst/>
            </a:prstGeom>
          </p:spPr>
          <p:txBody>
            <a:bodyPr anchor="ctr" rtlCol="false" tIns="0" lIns="0" bIns="0" rIns="0"/>
            <a:lstStyle/>
            <a:p>
              <a:pPr algn="ctr">
                <a:lnSpc>
                  <a:spcPts val="4320"/>
                </a:lnSpc>
              </a:pPr>
              <a:r>
                <a:rPr lang="en-US" b="true" sz="3600" spc="150">
                  <a:solidFill>
                    <a:srgbClr val="0E2A2F"/>
                  </a:solidFill>
                  <a:latin typeface="Cambria Bold"/>
                  <a:ea typeface="Cambria Bold"/>
                  <a:cs typeface="Cambria Bold"/>
                  <a:sym typeface="Cambria Bold"/>
                </a:rPr>
                <a:t>EXISTING SOLUTIONS / APPROACHES</a:t>
              </a:r>
            </a:p>
          </p:txBody>
        </p:sp>
      </p:grpSp>
      <p:grpSp>
        <p:nvGrpSpPr>
          <p:cNvPr name="Group 22" id="22"/>
          <p:cNvGrpSpPr/>
          <p:nvPr/>
        </p:nvGrpSpPr>
        <p:grpSpPr>
          <a:xfrm rot="0">
            <a:off x="822960" y="2194560"/>
            <a:ext cx="685800" cy="593884"/>
            <a:chOff x="0" y="0"/>
            <a:chExt cx="914400" cy="791845"/>
          </a:xfrm>
        </p:grpSpPr>
        <p:sp>
          <p:nvSpPr>
            <p:cNvPr name="Freeform 23" id="23"/>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24" id="24"/>
          <p:cNvGrpSpPr/>
          <p:nvPr/>
        </p:nvGrpSpPr>
        <p:grpSpPr>
          <a:xfrm rot="0">
            <a:off x="960120" y="2285086"/>
            <a:ext cx="411480" cy="411480"/>
            <a:chOff x="0" y="0"/>
            <a:chExt cx="548640" cy="548640"/>
          </a:xfrm>
        </p:grpSpPr>
        <p:sp>
          <p:nvSpPr>
            <p:cNvPr name="Freeform 25" id="25" descr="Lightbulb 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8"/>
              <a:stretch>
                <a:fillRect l="0" t="0" r="0" b="0"/>
              </a:stretch>
            </a:blipFill>
          </p:spPr>
        </p:sp>
      </p:grpSp>
      <p:grpSp>
        <p:nvGrpSpPr>
          <p:cNvPr name="Group 26" id="26"/>
          <p:cNvGrpSpPr/>
          <p:nvPr/>
        </p:nvGrpSpPr>
        <p:grpSpPr>
          <a:xfrm rot="0">
            <a:off x="1565920" y="2194560"/>
            <a:ext cx="14401800" cy="754380"/>
            <a:chOff x="0" y="0"/>
            <a:chExt cx="19202400" cy="1005840"/>
          </a:xfrm>
        </p:grpSpPr>
        <p:sp>
          <p:nvSpPr>
            <p:cNvPr name="Freeform 27" id="27"/>
            <p:cNvSpPr/>
            <p:nvPr/>
          </p:nvSpPr>
          <p:spPr>
            <a:xfrm flipH="false" flipV="false" rot="0">
              <a:off x="0" y="0"/>
              <a:ext cx="19202400" cy="1005840"/>
            </a:xfrm>
            <a:custGeom>
              <a:avLst/>
              <a:gdLst/>
              <a:ahLst/>
              <a:cxnLst/>
              <a:rect r="r" b="b" t="t" l="l"/>
              <a:pathLst>
                <a:path h="1005840" w="19202400">
                  <a:moveTo>
                    <a:pt x="0" y="0"/>
                  </a:moveTo>
                  <a:lnTo>
                    <a:pt x="19202400" y="0"/>
                  </a:lnTo>
                  <a:lnTo>
                    <a:pt x="19202400" y="1005840"/>
                  </a:lnTo>
                  <a:lnTo>
                    <a:pt x="0" y="1005840"/>
                  </a:lnTo>
                  <a:close/>
                </a:path>
              </a:pathLst>
            </a:custGeom>
            <a:blipFill>
              <a:blip r:embed="rId6">
                <a:alphaModFix amt="0"/>
              </a:blip>
              <a:stretch>
                <a:fillRect l="0" t="-321728" r="0" b="-321728"/>
              </a:stretch>
            </a:blipFill>
          </p:spPr>
        </p:sp>
      </p:grpSp>
      <p:grpSp>
        <p:nvGrpSpPr>
          <p:cNvPr name="Group 28" id="28"/>
          <p:cNvGrpSpPr/>
          <p:nvPr/>
        </p:nvGrpSpPr>
        <p:grpSpPr>
          <a:xfrm rot="0">
            <a:off x="1565920" y="2151698"/>
            <a:ext cx="14401800" cy="797243"/>
            <a:chOff x="0" y="0"/>
            <a:chExt cx="19202400" cy="1062990"/>
          </a:xfrm>
        </p:grpSpPr>
        <p:sp>
          <p:nvSpPr>
            <p:cNvPr name="Freeform 29" id="29"/>
            <p:cNvSpPr/>
            <p:nvPr/>
          </p:nvSpPr>
          <p:spPr>
            <a:xfrm flipH="false" flipV="false" rot="0">
              <a:off x="0" y="0"/>
              <a:ext cx="19202400" cy="1062990"/>
            </a:xfrm>
            <a:custGeom>
              <a:avLst/>
              <a:gdLst/>
              <a:ahLst/>
              <a:cxnLst/>
              <a:rect r="r" b="b" t="t" l="l"/>
              <a:pathLst>
                <a:path h="1062990" w="19202400">
                  <a:moveTo>
                    <a:pt x="0" y="0"/>
                  </a:moveTo>
                  <a:lnTo>
                    <a:pt x="19202400" y="0"/>
                  </a:lnTo>
                  <a:lnTo>
                    <a:pt x="19202400" y="1062990"/>
                  </a:lnTo>
                  <a:lnTo>
                    <a:pt x="0" y="1062990"/>
                  </a:lnTo>
                  <a:close/>
                </a:path>
              </a:pathLst>
            </a:custGeom>
            <a:blipFill>
              <a:blip r:embed="rId7">
                <a:alphaModFix amt="0"/>
              </a:blip>
              <a:stretch>
                <a:fillRect l="0" t="-301987" r="0" b="-301987"/>
              </a:stretch>
            </a:blipFill>
          </p:spPr>
        </p:sp>
        <p:sp>
          <p:nvSpPr>
            <p:cNvPr name="TextBox 30" id="30"/>
            <p:cNvSpPr txBox="true"/>
            <p:nvPr/>
          </p:nvSpPr>
          <p:spPr>
            <a:xfrm>
              <a:off x="0" y="-57150"/>
              <a:ext cx="19202400" cy="1120140"/>
            </a:xfrm>
            <a:prstGeom prst="rect">
              <a:avLst/>
            </a:prstGeom>
          </p:spPr>
          <p:txBody>
            <a:bodyPr anchor="ctr" rtlCol="false" tIns="0" lIns="0" bIns="0" rIns="0"/>
            <a:lstStyle/>
            <a:p>
              <a:pPr algn="l">
                <a:lnSpc>
                  <a:spcPts val="3240"/>
                </a:lnSpc>
              </a:pPr>
              <a:r>
                <a:rPr lang="en-US" sz="2700" b="true">
                  <a:solidFill>
                    <a:srgbClr val="094542"/>
                  </a:solidFill>
                  <a:latin typeface="Calibri (MS) Bold"/>
                  <a:ea typeface="Calibri (MS) Bold"/>
                  <a:cs typeface="Calibri (MS) Bold"/>
                  <a:sym typeface="Calibri (MS) Bold"/>
                </a:rPr>
                <a:t>What is already being done, and where it falls</a:t>
              </a:r>
            </a:p>
          </p:txBody>
        </p:sp>
      </p:grpSp>
      <p:sp>
        <p:nvSpPr>
          <p:cNvPr name="TextBox 31" id="31"/>
          <p:cNvSpPr txBox="true"/>
          <p:nvPr/>
        </p:nvSpPr>
        <p:spPr>
          <a:xfrm rot="0">
            <a:off x="1303020" y="3089910"/>
            <a:ext cx="15956280" cy="5095875"/>
          </a:xfrm>
          <a:prstGeom prst="rect">
            <a:avLst/>
          </a:prstGeom>
        </p:spPr>
        <p:txBody>
          <a:bodyPr anchor="t" rtlCol="false" tIns="0" lIns="0" bIns="0" rIns="0">
            <a:spAutoFit/>
          </a:bodyPr>
          <a:lstStyle/>
          <a:p>
            <a:pPr algn="l" marL="581708" indent="-193903" lvl="2">
              <a:lnSpc>
                <a:spcPts val="3305"/>
              </a:lnSpc>
              <a:buFont typeface="Arial"/>
              <a:buChar char="⚬"/>
            </a:pPr>
            <a:r>
              <a:rPr lang="en-US" sz="2754">
                <a:solidFill>
                  <a:srgbClr val="052B35"/>
                </a:solidFill>
                <a:latin typeface="Calibri (MS)"/>
                <a:ea typeface="Calibri (MS)"/>
                <a:cs typeface="Calibri (MS)"/>
                <a:sym typeface="Calibri (MS)"/>
              </a:rPr>
              <a:t>Bubble testing: This process is totally human labored, wanting a person to search through the whole place to find the fault  </a:t>
            </a:r>
          </a:p>
          <a:p>
            <a:pPr algn="l" marL="581708" indent="-193903" lvl="2">
              <a:lnSpc>
                <a:spcPts val="3305"/>
              </a:lnSpc>
              <a:buFont typeface="Arial"/>
              <a:buChar char="⚬"/>
            </a:pPr>
            <a:r>
              <a:rPr lang="en-US" sz="2754">
                <a:solidFill>
                  <a:srgbClr val="0E2A2F"/>
                </a:solidFill>
                <a:latin typeface="Calibri (MS)"/>
                <a:ea typeface="Calibri (MS)"/>
                <a:cs typeface="Calibri (MS)"/>
                <a:sym typeface="Calibri (MS)"/>
              </a:rPr>
              <a:t>Ultrasonic Cameras/ Handheld IRs : these do give a boost in tracking the fault but they also need human supervsion which is comparatively time consuming.</a:t>
            </a:r>
          </a:p>
          <a:p>
            <a:pPr algn="l" marL="581708" indent="-193903" lvl="2">
              <a:lnSpc>
                <a:spcPts val="3305"/>
              </a:lnSpc>
              <a:buFont typeface="Arial"/>
              <a:buChar char="⚬"/>
            </a:pPr>
            <a:r>
              <a:rPr lang="en-US" sz="2754">
                <a:solidFill>
                  <a:srgbClr val="0E2A2F"/>
                </a:solidFill>
                <a:latin typeface="Calibri (MS)"/>
                <a:ea typeface="Calibri (MS)"/>
                <a:cs typeface="Calibri (MS)"/>
                <a:sym typeface="Calibri (MS)"/>
              </a:rPr>
              <a:t>Pressior sensors: this are very good at finding the leak but are limited to only that task, also they can’t exactly pinpoint the fault location.</a:t>
            </a:r>
          </a:p>
          <a:p>
            <a:pPr algn="l" marL="581708" indent="-193903" lvl="2">
              <a:lnSpc>
                <a:spcPts val="3305"/>
              </a:lnSpc>
              <a:buFont typeface="Arial"/>
              <a:buChar char="⚬"/>
            </a:pPr>
            <a:r>
              <a:rPr lang="en-US" sz="2754">
                <a:solidFill>
                  <a:srgbClr val="0E2A2F"/>
                </a:solidFill>
                <a:latin typeface="Calibri (MS)"/>
                <a:ea typeface="Calibri (MS)"/>
                <a:cs typeface="Calibri (MS)"/>
                <a:sym typeface="Calibri (MS)"/>
              </a:rPr>
              <a:t>No 3D Spatial Awareness:Existing tools fail in closely packed, multi-layered industrial machinery where objects block single angles.</a:t>
            </a:r>
          </a:p>
          <a:p>
            <a:pPr algn="l" marL="581708" indent="-193903" lvl="2">
              <a:lnSpc>
                <a:spcPts val="3305"/>
              </a:lnSpc>
              <a:buFont typeface="Arial"/>
              <a:buChar char="⚬"/>
            </a:pPr>
            <a:r>
              <a:rPr lang="en-US" sz="2754">
                <a:solidFill>
                  <a:srgbClr val="0E2A2F"/>
                </a:solidFill>
                <a:latin typeface="Calibri (MS)"/>
                <a:ea typeface="Calibri (MS)"/>
                <a:cs typeface="Calibri (MS)"/>
                <a:sym typeface="Calibri (MS)"/>
              </a:rPr>
              <a:t>Lack of Continuous 24/7 Automation:Inspections are periodic (e.g., monthly or quarterly), allowing leaks to waste energy and pose electrical hazards for weeks before being caught.</a:t>
            </a:r>
          </a:p>
          <a:p>
            <a:pPr algn="l" marL="581708" indent="-193903" lvl="2">
              <a:lnSpc>
                <a:spcPts val="3305"/>
              </a:lnSpc>
              <a:buFont typeface="Arial"/>
              <a:buChar char="⚬"/>
            </a:pPr>
            <a:r>
              <a:rPr lang="en-US" sz="2754">
                <a:solidFill>
                  <a:srgbClr val="0E2A2F"/>
                </a:solidFill>
                <a:latin typeface="Calibri (MS)"/>
                <a:ea typeface="Calibri (MS)"/>
                <a:cs typeface="Calibri (MS)"/>
                <a:sym typeface="Calibri (MS)"/>
              </a:rPr>
              <a:t>Inability to Triangulate: Single-sensor/single-camera systems cannot solve spatial acoustic reflections or triangulate exact coordinates in real time.</a:t>
            </a:r>
          </a:p>
        </p:txBody>
      </p:sp>
      <p:grpSp>
        <p:nvGrpSpPr>
          <p:cNvPr name="Group 32" id="32"/>
          <p:cNvGrpSpPr/>
          <p:nvPr/>
        </p:nvGrpSpPr>
        <p:grpSpPr>
          <a:xfrm rot="0">
            <a:off x="16888511" y="9614916"/>
            <a:ext cx="685800" cy="593903"/>
            <a:chOff x="0" y="0"/>
            <a:chExt cx="914400" cy="791870"/>
          </a:xfrm>
        </p:grpSpPr>
        <p:sp>
          <p:nvSpPr>
            <p:cNvPr name="Freeform 33" id="33"/>
            <p:cNvSpPr/>
            <p:nvPr/>
          </p:nvSpPr>
          <p:spPr>
            <a:xfrm flipH="false" flipV="false" rot="0">
              <a:off x="0" y="0"/>
              <a:ext cx="914400" cy="791845"/>
            </a:xfrm>
            <a:custGeom>
              <a:avLst/>
              <a:gdLst/>
              <a:ahLst/>
              <a:cxnLst/>
              <a:rect r="r" b="b" t="t" l="l"/>
              <a:pathLst>
                <a:path h="791845" w="914400">
                  <a:moveTo>
                    <a:pt x="0" y="0"/>
                  </a:moveTo>
                  <a:lnTo>
                    <a:pt x="914400" y="0"/>
                  </a:lnTo>
                  <a:lnTo>
                    <a:pt x="914400" y="791845"/>
                  </a:lnTo>
                  <a:lnTo>
                    <a:pt x="0" y="791845"/>
                  </a:lnTo>
                  <a:close/>
                </a:path>
              </a:pathLst>
            </a:custGeom>
            <a:blipFill>
              <a:blip r:embed="rId6">
                <a:alphaModFix amt="0"/>
              </a:blip>
              <a:stretch>
                <a:fillRect l="-61188" t="0" r="-61187" b="-3"/>
              </a:stretch>
            </a:blipFill>
          </p:spPr>
        </p:sp>
      </p:grpSp>
      <p:grpSp>
        <p:nvGrpSpPr>
          <p:cNvPr name="Group 34" id="34"/>
          <p:cNvGrpSpPr/>
          <p:nvPr/>
        </p:nvGrpSpPr>
        <p:grpSpPr>
          <a:xfrm rot="0">
            <a:off x="16888511" y="9593485"/>
            <a:ext cx="685800" cy="615334"/>
            <a:chOff x="0" y="0"/>
            <a:chExt cx="914400" cy="820445"/>
          </a:xfrm>
        </p:grpSpPr>
        <p:sp>
          <p:nvSpPr>
            <p:cNvPr name="Freeform 35" id="35"/>
            <p:cNvSpPr/>
            <p:nvPr/>
          </p:nvSpPr>
          <p:spPr>
            <a:xfrm flipH="false" flipV="false" rot="0">
              <a:off x="0" y="0"/>
              <a:ext cx="914400" cy="820446"/>
            </a:xfrm>
            <a:custGeom>
              <a:avLst/>
              <a:gdLst/>
              <a:ahLst/>
              <a:cxnLst/>
              <a:rect r="r" b="b" t="t" l="l"/>
              <a:pathLst>
                <a:path h="820446" w="914400">
                  <a:moveTo>
                    <a:pt x="0" y="0"/>
                  </a:moveTo>
                  <a:lnTo>
                    <a:pt x="914400" y="0"/>
                  </a:lnTo>
                  <a:lnTo>
                    <a:pt x="914400" y="820446"/>
                  </a:lnTo>
                  <a:lnTo>
                    <a:pt x="0" y="820446"/>
                  </a:lnTo>
                  <a:close/>
                </a:path>
              </a:pathLst>
            </a:custGeom>
            <a:blipFill>
              <a:blip r:embed="rId7">
                <a:alphaModFix amt="0"/>
              </a:blip>
              <a:stretch>
                <a:fillRect l="-65120" t="0" r="-65120" b="0"/>
              </a:stretch>
            </a:blipFill>
          </p:spPr>
        </p:sp>
        <p:sp>
          <p:nvSpPr>
            <p:cNvPr name="TextBox 36" id="36"/>
            <p:cNvSpPr txBox="true"/>
            <p:nvPr/>
          </p:nvSpPr>
          <p:spPr>
            <a:xfrm>
              <a:off x="0" y="-28575"/>
              <a:ext cx="914400" cy="849020"/>
            </a:xfrm>
            <a:prstGeom prst="rect">
              <a:avLst/>
            </a:prstGeom>
          </p:spPr>
          <p:txBody>
            <a:bodyPr anchor="ctr" rtlCol="false" tIns="0" lIns="0" bIns="0" rIns="0"/>
            <a:lstStyle/>
            <a:p>
              <a:pPr algn="ctr">
                <a:lnSpc>
                  <a:spcPts val="1980"/>
                </a:lnSpc>
              </a:pPr>
              <a:r>
                <a:rPr lang="en-US" sz="1650" b="true">
                  <a:solidFill>
                    <a:srgbClr val="0E2A2F"/>
                  </a:solidFill>
                  <a:latin typeface="Calibri (MS) Bold"/>
                  <a:ea typeface="Calibri (MS) Bold"/>
                  <a:cs typeface="Calibri (MS) Bold"/>
                  <a:sym typeface="Calibri (MS) Bold"/>
                </a:rPr>
                <a:t>6</a:t>
              </a:r>
            </a:p>
          </p:txBody>
        </p:sp>
      </p:grpSp>
      <p:sp>
        <p:nvSpPr>
          <p:cNvPr name="Freeform 37" id="37"/>
          <p:cNvSpPr/>
          <p:nvPr/>
        </p:nvSpPr>
        <p:spPr>
          <a:xfrm flipH="false" flipV="false" rot="0">
            <a:off x="673294" y="467554"/>
            <a:ext cx="3934063" cy="1259443"/>
          </a:xfrm>
          <a:custGeom>
            <a:avLst/>
            <a:gdLst/>
            <a:ahLst/>
            <a:cxnLst/>
            <a:rect r="r" b="b" t="t" l="l"/>
            <a:pathLst>
              <a:path h="1259443" w="3934063">
                <a:moveTo>
                  <a:pt x="0" y="0"/>
                </a:moveTo>
                <a:lnTo>
                  <a:pt x="3934063" y="0"/>
                </a:lnTo>
                <a:lnTo>
                  <a:pt x="3934063" y="1259443"/>
                </a:lnTo>
                <a:lnTo>
                  <a:pt x="0" y="125944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38" id="38"/>
          <p:cNvSpPr/>
          <p:nvPr/>
        </p:nvSpPr>
        <p:spPr>
          <a:xfrm flipH="false" flipV="false" rot="0">
            <a:off x="892750" y="673294"/>
            <a:ext cx="971407" cy="847963"/>
          </a:xfrm>
          <a:custGeom>
            <a:avLst/>
            <a:gdLst/>
            <a:ahLst/>
            <a:cxnLst/>
            <a:rect r="r" b="b" t="t" l="l"/>
            <a:pathLst>
              <a:path h="847963" w="971407">
                <a:moveTo>
                  <a:pt x="0" y="0"/>
                </a:moveTo>
                <a:lnTo>
                  <a:pt x="971407" y="0"/>
                </a:lnTo>
                <a:lnTo>
                  <a:pt x="971407" y="847963"/>
                </a:lnTo>
                <a:lnTo>
                  <a:pt x="0" y="84796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39" id="39"/>
          <p:cNvGrpSpPr/>
          <p:nvPr/>
        </p:nvGrpSpPr>
        <p:grpSpPr>
          <a:xfrm rot="0">
            <a:off x="1104138" y="822960"/>
            <a:ext cx="548640" cy="548640"/>
            <a:chOff x="0" y="0"/>
            <a:chExt cx="731520" cy="731520"/>
          </a:xfrm>
        </p:grpSpPr>
        <p:sp>
          <p:nvSpPr>
            <p:cNvPr name="Freeform 40" id="40" descr="Team icon"/>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13"/>
              <a:stretch>
                <a:fillRect l="0" t="0" r="0" b="0"/>
              </a:stretch>
            </a:blipFill>
          </p:spPr>
        </p:sp>
      </p:grpSp>
      <p:grpSp>
        <p:nvGrpSpPr>
          <p:cNvPr name="Group 41" id="41"/>
          <p:cNvGrpSpPr/>
          <p:nvPr/>
        </p:nvGrpSpPr>
        <p:grpSpPr>
          <a:xfrm rot="0">
            <a:off x="2057400" y="576072"/>
            <a:ext cx="2441448" cy="1042416"/>
            <a:chOff x="0" y="0"/>
            <a:chExt cx="3255264" cy="1389888"/>
          </a:xfrm>
        </p:grpSpPr>
        <p:sp>
          <p:nvSpPr>
            <p:cNvPr name="Freeform 42" id="42"/>
            <p:cNvSpPr/>
            <p:nvPr/>
          </p:nvSpPr>
          <p:spPr>
            <a:xfrm flipH="false" flipV="false" rot="0">
              <a:off x="0" y="0"/>
              <a:ext cx="3255264" cy="1389888"/>
            </a:xfrm>
            <a:custGeom>
              <a:avLst/>
              <a:gdLst/>
              <a:ahLst/>
              <a:cxnLst/>
              <a:rect r="r" b="b" t="t" l="l"/>
              <a:pathLst>
                <a:path h="1389888" w="3255264">
                  <a:moveTo>
                    <a:pt x="0" y="0"/>
                  </a:moveTo>
                  <a:lnTo>
                    <a:pt x="3255264" y="0"/>
                  </a:lnTo>
                  <a:lnTo>
                    <a:pt x="3255264" y="1389888"/>
                  </a:lnTo>
                  <a:lnTo>
                    <a:pt x="0" y="1389888"/>
                  </a:lnTo>
                  <a:close/>
                </a:path>
              </a:pathLst>
            </a:custGeom>
            <a:blipFill>
              <a:blip r:embed="rId6">
                <a:alphaModFix amt="0"/>
              </a:blip>
              <a:stretch>
                <a:fillRect l="-4819" t="0" r="-4819" b="0"/>
              </a:stretch>
            </a:blipFill>
          </p:spPr>
        </p:sp>
      </p:grpSp>
      <p:grpSp>
        <p:nvGrpSpPr>
          <p:cNvPr name="Group 43" id="43"/>
          <p:cNvGrpSpPr/>
          <p:nvPr/>
        </p:nvGrpSpPr>
        <p:grpSpPr>
          <a:xfrm rot="0">
            <a:off x="2057400" y="554641"/>
            <a:ext cx="2441448" cy="1063847"/>
            <a:chOff x="0" y="0"/>
            <a:chExt cx="3255264" cy="1418463"/>
          </a:xfrm>
        </p:grpSpPr>
        <p:sp>
          <p:nvSpPr>
            <p:cNvPr name="Freeform 44" id="44"/>
            <p:cNvSpPr/>
            <p:nvPr/>
          </p:nvSpPr>
          <p:spPr>
            <a:xfrm flipH="false" flipV="false" rot="0">
              <a:off x="0" y="0"/>
              <a:ext cx="3255264" cy="1418463"/>
            </a:xfrm>
            <a:custGeom>
              <a:avLst/>
              <a:gdLst/>
              <a:ahLst/>
              <a:cxnLst/>
              <a:rect r="r" b="b" t="t" l="l"/>
              <a:pathLst>
                <a:path h="1418463" w="3255264">
                  <a:moveTo>
                    <a:pt x="0" y="0"/>
                  </a:moveTo>
                  <a:lnTo>
                    <a:pt x="3255264" y="0"/>
                  </a:lnTo>
                  <a:lnTo>
                    <a:pt x="3255264" y="1418463"/>
                  </a:lnTo>
                  <a:lnTo>
                    <a:pt x="0" y="1418463"/>
                  </a:lnTo>
                  <a:close/>
                </a:path>
              </a:pathLst>
            </a:custGeom>
            <a:blipFill>
              <a:blip r:embed="rId7">
                <a:alphaModFix amt="0"/>
              </a:blip>
              <a:stretch>
                <a:fillRect l="-5907" t="0" r="-5907" b="0"/>
              </a:stretch>
            </a:blipFill>
          </p:spPr>
        </p:sp>
        <p:sp>
          <p:nvSpPr>
            <p:cNvPr name="TextBox 45" id="45"/>
            <p:cNvSpPr txBox="true"/>
            <p:nvPr/>
          </p:nvSpPr>
          <p:spPr>
            <a:xfrm>
              <a:off x="0" y="-28575"/>
              <a:ext cx="3255264" cy="1447038"/>
            </a:xfrm>
            <a:prstGeom prst="rect">
              <a:avLst/>
            </a:prstGeom>
          </p:spPr>
          <p:txBody>
            <a:bodyPr anchor="ctr" rtlCol="false" tIns="0" lIns="0" bIns="0" rIns="0"/>
            <a:lstStyle/>
            <a:p>
              <a:pPr algn="l">
                <a:lnSpc>
                  <a:spcPts val="1620"/>
                </a:lnSpc>
              </a:pPr>
              <a:r>
                <a:rPr lang="en-US" b="true" sz="1350" spc="449">
                  <a:solidFill>
                    <a:srgbClr val="5B6F6B"/>
                  </a:solidFill>
                  <a:latin typeface="Calibri (MS) Bold"/>
                  <a:ea typeface="Calibri (MS) Bold"/>
                  <a:cs typeface="Calibri (MS) Bold"/>
                  <a:sym typeface="Calibri (MS) Bold"/>
                </a:rPr>
                <a:t>TEAM</a:t>
              </a:r>
            </a:p>
            <a:p>
              <a:pPr algn="l">
                <a:lnSpc>
                  <a:spcPts val="2700"/>
                </a:lnSpc>
              </a:pPr>
              <a:r>
                <a:rPr lang="en-US" b="true" sz="2250" spc="749">
                  <a:solidFill>
                    <a:srgbClr val="026855"/>
                  </a:solidFill>
                  <a:latin typeface="Calibri (MS) Bold"/>
                  <a:ea typeface="Calibri (MS) Bold"/>
                  <a:cs typeface="Calibri (MS) Bold"/>
                  <a:sym typeface="Calibri (MS) Bold"/>
                </a:rPr>
                <a:t>SIx-SEVEN</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sp>
        <p:nvSpPr>
          <p:cNvPr name="Freeform 2" id="2"/>
          <p:cNvSpPr/>
          <p:nvPr/>
        </p:nvSpPr>
        <p:spPr>
          <a:xfrm flipH="false" flipV="false" rot="0">
            <a:off x="16354796" y="467554"/>
            <a:ext cx="1259443" cy="1259443"/>
          </a:xfrm>
          <a:custGeom>
            <a:avLst/>
            <a:gdLst/>
            <a:ahLst/>
            <a:cxnLst/>
            <a:rect r="r" b="b" t="t" l="l"/>
            <a:pathLst>
              <a:path h="1259443" w="1259443">
                <a:moveTo>
                  <a:pt x="0" y="0"/>
                </a:moveTo>
                <a:lnTo>
                  <a:pt x="1259444" y="0"/>
                </a:lnTo>
                <a:lnTo>
                  <a:pt x="1259444" y="1259443"/>
                </a:lnTo>
                <a:lnTo>
                  <a:pt x="0" y="125944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16583920" y="576072"/>
            <a:ext cx="801243" cy="1042416"/>
            <a:chOff x="0" y="0"/>
            <a:chExt cx="1068324" cy="1389888"/>
          </a:xfrm>
        </p:grpSpPr>
        <p:sp>
          <p:nvSpPr>
            <p:cNvPr name="Freeform 4" id="4" descr="Genesis logo"/>
            <p:cNvSpPr/>
            <p:nvPr/>
          </p:nvSpPr>
          <p:spPr>
            <a:xfrm flipH="false" flipV="false" rot="0">
              <a:off x="0" y="0"/>
              <a:ext cx="1068324" cy="1389888"/>
            </a:xfrm>
            <a:custGeom>
              <a:avLst/>
              <a:gdLst/>
              <a:ahLst/>
              <a:cxnLst/>
              <a:rect r="r" b="b" t="t" l="l"/>
              <a:pathLst>
                <a:path h="1389888" w="1068324">
                  <a:moveTo>
                    <a:pt x="0" y="0"/>
                  </a:moveTo>
                  <a:lnTo>
                    <a:pt x="1068324" y="0"/>
                  </a:lnTo>
                  <a:lnTo>
                    <a:pt x="1068324" y="1389888"/>
                  </a:lnTo>
                  <a:lnTo>
                    <a:pt x="0" y="1389888"/>
                  </a:lnTo>
                  <a:lnTo>
                    <a:pt x="0" y="0"/>
                  </a:lnTo>
                  <a:close/>
                </a:path>
              </a:pathLst>
            </a:custGeom>
            <a:blipFill>
              <a:blip r:embed="rId5"/>
              <a:stretch>
                <a:fillRect l="0" t="-2" r="0" b="-2"/>
              </a:stretch>
            </a:blipFill>
          </p:spPr>
        </p:sp>
      </p:grpSp>
      <p:grpSp>
        <p:nvGrpSpPr>
          <p:cNvPr name="Group 5" id="5"/>
          <p:cNvGrpSpPr/>
          <p:nvPr/>
        </p:nvGrpSpPr>
        <p:grpSpPr>
          <a:xfrm rot="0">
            <a:off x="0" y="9532620"/>
            <a:ext cx="18287524" cy="754380"/>
            <a:chOff x="0" y="0"/>
            <a:chExt cx="24383365" cy="1005840"/>
          </a:xfrm>
        </p:grpSpPr>
        <p:sp>
          <p:nvSpPr>
            <p:cNvPr name="Freeform 6" id="6"/>
            <p:cNvSpPr/>
            <p:nvPr/>
          </p:nvSpPr>
          <p:spPr>
            <a:xfrm flipH="false" flipV="false" rot="0">
              <a:off x="0" y="0"/>
              <a:ext cx="24383364" cy="1005840"/>
            </a:xfrm>
            <a:custGeom>
              <a:avLst/>
              <a:gdLst/>
              <a:ahLst/>
              <a:cxnLst/>
              <a:rect r="r" b="b" t="t" l="l"/>
              <a:pathLst>
                <a:path h="1005840" w="24383364">
                  <a:moveTo>
                    <a:pt x="0" y="0"/>
                  </a:moveTo>
                  <a:lnTo>
                    <a:pt x="24383364" y="0"/>
                  </a:lnTo>
                  <a:lnTo>
                    <a:pt x="24383364" y="1005840"/>
                  </a:lnTo>
                  <a:lnTo>
                    <a:pt x="0" y="1005840"/>
                  </a:lnTo>
                  <a:close/>
                </a:path>
              </a:pathLst>
            </a:custGeom>
            <a:solidFill>
              <a:srgbClr val="052B35"/>
            </a:solidFill>
          </p:spPr>
        </p:sp>
      </p:grpSp>
      <p:grpSp>
        <p:nvGrpSpPr>
          <p:cNvPr name="Group 7" id="7"/>
          <p:cNvGrpSpPr/>
          <p:nvPr/>
        </p:nvGrpSpPr>
        <p:grpSpPr>
          <a:xfrm rot="0">
            <a:off x="3429000" y="9532620"/>
            <a:ext cx="11429543" cy="754380"/>
            <a:chOff x="0" y="0"/>
            <a:chExt cx="15239390" cy="1005840"/>
          </a:xfrm>
        </p:grpSpPr>
        <p:sp>
          <p:nvSpPr>
            <p:cNvPr name="Freeform 8" id="8"/>
            <p:cNvSpPr/>
            <p:nvPr/>
          </p:nvSpPr>
          <p:spPr>
            <a:xfrm flipH="false" flipV="false" rot="0">
              <a:off x="0" y="0"/>
              <a:ext cx="15239364" cy="1005840"/>
            </a:xfrm>
            <a:custGeom>
              <a:avLst/>
              <a:gdLst/>
              <a:ahLst/>
              <a:cxnLst/>
              <a:rect r="r" b="b" t="t" l="l"/>
              <a:pathLst>
                <a:path h="1005840" w="15239364">
                  <a:moveTo>
                    <a:pt x="0" y="0"/>
                  </a:moveTo>
                  <a:lnTo>
                    <a:pt x="15239364" y="0"/>
                  </a:lnTo>
                  <a:lnTo>
                    <a:pt x="15239364" y="1005840"/>
                  </a:lnTo>
                  <a:lnTo>
                    <a:pt x="0" y="1005840"/>
                  </a:lnTo>
                  <a:close/>
                </a:path>
              </a:pathLst>
            </a:custGeom>
            <a:blipFill>
              <a:blip r:embed="rId6">
                <a:alphaModFix amt="0"/>
              </a:blip>
              <a:stretch>
                <a:fillRect l="0" t="-245011" r="0" b="-245010"/>
              </a:stretch>
            </a:blipFill>
          </p:spPr>
        </p:sp>
      </p:grpSp>
      <p:grpSp>
        <p:nvGrpSpPr>
          <p:cNvPr name="Group 9" id="9"/>
          <p:cNvGrpSpPr/>
          <p:nvPr/>
        </p:nvGrpSpPr>
        <p:grpSpPr>
          <a:xfrm rot="0">
            <a:off x="16888511" y="9614916"/>
            <a:ext cx="685800" cy="593884"/>
            <a:chOff x="0" y="0"/>
            <a:chExt cx="914400" cy="791845"/>
          </a:xfrm>
        </p:grpSpPr>
        <p:sp>
          <p:nvSpPr>
            <p:cNvPr name="Freeform 10" id="10"/>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11" id="11"/>
          <p:cNvGrpSpPr/>
          <p:nvPr/>
        </p:nvGrpSpPr>
        <p:grpSpPr>
          <a:xfrm rot="5400000">
            <a:off x="15894653" y="7008600"/>
            <a:ext cx="2179749" cy="1893332"/>
            <a:chOff x="0" y="0"/>
            <a:chExt cx="2906332" cy="2524442"/>
          </a:xfrm>
        </p:grpSpPr>
        <p:sp>
          <p:nvSpPr>
            <p:cNvPr name="Freeform 12" id="12"/>
            <p:cNvSpPr/>
            <p:nvPr/>
          </p:nvSpPr>
          <p:spPr>
            <a:xfrm flipH="false" flipV="false" rot="0">
              <a:off x="0" y="0"/>
              <a:ext cx="2906395" cy="2524506"/>
            </a:xfrm>
            <a:custGeom>
              <a:avLst/>
              <a:gdLst/>
              <a:ahLst/>
              <a:cxnLst/>
              <a:rect r="r" b="b" t="t" l="l"/>
              <a:pathLst>
                <a:path h="2524506" w="2906395">
                  <a:moveTo>
                    <a:pt x="0" y="1262253"/>
                  </a:moveTo>
                  <a:lnTo>
                    <a:pt x="630301" y="0"/>
                  </a:lnTo>
                  <a:lnTo>
                    <a:pt x="2276094" y="0"/>
                  </a:lnTo>
                  <a:lnTo>
                    <a:pt x="2906395" y="1262253"/>
                  </a:lnTo>
                  <a:lnTo>
                    <a:pt x="2276094" y="2524506"/>
                  </a:lnTo>
                  <a:lnTo>
                    <a:pt x="630301" y="2524506"/>
                  </a:lnTo>
                  <a:close/>
                </a:path>
              </a:pathLst>
            </a:custGeom>
            <a:blipFill>
              <a:blip r:embed="rId6">
                <a:alphaModFix amt="0"/>
              </a:blip>
              <a:stretch>
                <a:fillRect l="-61520" t="0" r="-61518" b="2"/>
              </a:stretch>
            </a:blipFill>
            <a:ln w="23812" cap="sq">
              <a:solidFill>
                <a:srgbClr val="4FA278"/>
              </a:solidFill>
              <a:prstDash val="solid"/>
              <a:miter/>
            </a:ln>
          </p:spPr>
        </p:sp>
      </p:grpSp>
      <p:grpSp>
        <p:nvGrpSpPr>
          <p:cNvPr name="Group 13" id="13"/>
          <p:cNvGrpSpPr/>
          <p:nvPr/>
        </p:nvGrpSpPr>
        <p:grpSpPr>
          <a:xfrm rot="5400000">
            <a:off x="14605102" y="8002981"/>
            <a:ext cx="1466993" cy="1276112"/>
            <a:chOff x="0" y="0"/>
            <a:chExt cx="1955990" cy="1701482"/>
          </a:xfrm>
        </p:grpSpPr>
        <p:sp>
          <p:nvSpPr>
            <p:cNvPr name="Freeform 14" id="14"/>
            <p:cNvSpPr/>
            <p:nvPr/>
          </p:nvSpPr>
          <p:spPr>
            <a:xfrm flipH="false" flipV="false" rot="0">
              <a:off x="0" y="0"/>
              <a:ext cx="1956054" cy="1701546"/>
            </a:xfrm>
            <a:custGeom>
              <a:avLst/>
              <a:gdLst/>
              <a:ahLst/>
              <a:cxnLst/>
              <a:rect r="r" b="b" t="t" l="l"/>
              <a:pathLst>
                <a:path h="1701546" w="1956054">
                  <a:moveTo>
                    <a:pt x="0" y="850773"/>
                  </a:moveTo>
                  <a:lnTo>
                    <a:pt x="424561" y="0"/>
                  </a:lnTo>
                  <a:lnTo>
                    <a:pt x="1531493" y="0"/>
                  </a:lnTo>
                  <a:lnTo>
                    <a:pt x="1956054" y="850773"/>
                  </a:lnTo>
                  <a:lnTo>
                    <a:pt x="1531493" y="1701546"/>
                  </a:lnTo>
                  <a:lnTo>
                    <a:pt x="424561" y="1701546"/>
                  </a:lnTo>
                  <a:close/>
                </a:path>
              </a:pathLst>
            </a:custGeom>
            <a:blipFill>
              <a:blip r:embed="rId6">
                <a:alphaModFix amt="0"/>
              </a:blip>
              <a:stretch>
                <a:fillRect l="-61684" t="0" r="-61680" b="3"/>
              </a:stretch>
            </a:blipFill>
            <a:ln w="23812" cap="sq">
              <a:solidFill>
                <a:srgbClr val="4FA278"/>
              </a:solidFill>
              <a:prstDash val="solid"/>
              <a:miter/>
            </a:ln>
          </p:spPr>
        </p:sp>
      </p:grpSp>
      <p:grpSp>
        <p:nvGrpSpPr>
          <p:cNvPr name="Group 15" id="15"/>
          <p:cNvGrpSpPr/>
          <p:nvPr/>
        </p:nvGrpSpPr>
        <p:grpSpPr>
          <a:xfrm rot="5400000">
            <a:off x="17348302" y="5739841"/>
            <a:ext cx="1466993" cy="1276112"/>
            <a:chOff x="0" y="0"/>
            <a:chExt cx="1955990" cy="1701482"/>
          </a:xfrm>
        </p:grpSpPr>
        <p:sp>
          <p:nvSpPr>
            <p:cNvPr name="Freeform 16" id="16"/>
            <p:cNvSpPr/>
            <p:nvPr/>
          </p:nvSpPr>
          <p:spPr>
            <a:xfrm flipH="false" flipV="false" rot="0">
              <a:off x="0" y="0"/>
              <a:ext cx="1956054" cy="1701546"/>
            </a:xfrm>
            <a:custGeom>
              <a:avLst/>
              <a:gdLst/>
              <a:ahLst/>
              <a:cxnLst/>
              <a:rect r="r" b="b" t="t" l="l"/>
              <a:pathLst>
                <a:path h="1701546" w="1956054">
                  <a:moveTo>
                    <a:pt x="0" y="850773"/>
                  </a:moveTo>
                  <a:lnTo>
                    <a:pt x="424561" y="0"/>
                  </a:lnTo>
                  <a:lnTo>
                    <a:pt x="1531493" y="0"/>
                  </a:lnTo>
                  <a:lnTo>
                    <a:pt x="1956054" y="850773"/>
                  </a:lnTo>
                  <a:lnTo>
                    <a:pt x="1531493" y="1701546"/>
                  </a:lnTo>
                  <a:lnTo>
                    <a:pt x="424561" y="1701546"/>
                  </a:lnTo>
                  <a:close/>
                </a:path>
              </a:pathLst>
            </a:custGeom>
            <a:blipFill>
              <a:blip r:embed="rId6">
                <a:alphaModFix amt="0"/>
              </a:blip>
              <a:stretch>
                <a:fillRect l="-61684" t="0" r="-61680" b="3"/>
              </a:stretch>
            </a:blipFill>
            <a:ln w="23812" cap="sq">
              <a:solidFill>
                <a:srgbClr val="4FA278"/>
              </a:solidFill>
              <a:prstDash val="solid"/>
              <a:miter/>
            </a:ln>
          </p:spPr>
        </p:sp>
      </p:grpSp>
      <p:grpSp>
        <p:nvGrpSpPr>
          <p:cNvPr name="Group 17" id="17"/>
          <p:cNvGrpSpPr/>
          <p:nvPr/>
        </p:nvGrpSpPr>
        <p:grpSpPr>
          <a:xfrm rot="0">
            <a:off x="4869180" y="480060"/>
            <a:ext cx="11247120" cy="1234440"/>
            <a:chOff x="0" y="0"/>
            <a:chExt cx="14996160" cy="1645920"/>
          </a:xfrm>
        </p:grpSpPr>
        <p:sp>
          <p:nvSpPr>
            <p:cNvPr name="Freeform 18" id="18"/>
            <p:cNvSpPr/>
            <p:nvPr/>
          </p:nvSpPr>
          <p:spPr>
            <a:xfrm flipH="false" flipV="false" rot="0">
              <a:off x="0" y="0"/>
              <a:ext cx="14996161" cy="1645920"/>
            </a:xfrm>
            <a:custGeom>
              <a:avLst/>
              <a:gdLst/>
              <a:ahLst/>
              <a:cxnLst/>
              <a:rect r="r" b="b" t="t" l="l"/>
              <a:pathLst>
                <a:path h="1645920" w="14996161">
                  <a:moveTo>
                    <a:pt x="0" y="0"/>
                  </a:moveTo>
                  <a:lnTo>
                    <a:pt x="14996161" y="0"/>
                  </a:lnTo>
                  <a:lnTo>
                    <a:pt x="14996161" y="1645920"/>
                  </a:lnTo>
                  <a:lnTo>
                    <a:pt x="0" y="1645920"/>
                  </a:lnTo>
                  <a:close/>
                </a:path>
              </a:pathLst>
            </a:custGeom>
            <a:blipFill>
              <a:blip r:embed="rId6">
                <a:alphaModFix amt="0"/>
              </a:blip>
              <a:stretch>
                <a:fillRect l="0" t="-127406" r="0" b="-127407"/>
              </a:stretch>
            </a:blipFill>
          </p:spPr>
        </p:sp>
      </p:grpSp>
      <p:grpSp>
        <p:nvGrpSpPr>
          <p:cNvPr name="Group 19" id="19"/>
          <p:cNvGrpSpPr/>
          <p:nvPr/>
        </p:nvGrpSpPr>
        <p:grpSpPr>
          <a:xfrm rot="0">
            <a:off x="4869180" y="465772"/>
            <a:ext cx="11247120" cy="1248727"/>
            <a:chOff x="0" y="0"/>
            <a:chExt cx="14996160" cy="1664970"/>
          </a:xfrm>
        </p:grpSpPr>
        <p:sp>
          <p:nvSpPr>
            <p:cNvPr name="Freeform 20" id="20"/>
            <p:cNvSpPr/>
            <p:nvPr/>
          </p:nvSpPr>
          <p:spPr>
            <a:xfrm flipH="false" flipV="false" rot="0">
              <a:off x="0" y="0"/>
              <a:ext cx="14996161" cy="1664970"/>
            </a:xfrm>
            <a:custGeom>
              <a:avLst/>
              <a:gdLst/>
              <a:ahLst/>
              <a:cxnLst/>
              <a:rect r="r" b="b" t="t" l="l"/>
              <a:pathLst>
                <a:path h="1664970" w="14996161">
                  <a:moveTo>
                    <a:pt x="0" y="0"/>
                  </a:moveTo>
                  <a:lnTo>
                    <a:pt x="14996161" y="0"/>
                  </a:lnTo>
                  <a:lnTo>
                    <a:pt x="14996161" y="1664970"/>
                  </a:lnTo>
                  <a:lnTo>
                    <a:pt x="0" y="1664970"/>
                  </a:lnTo>
                  <a:close/>
                </a:path>
              </a:pathLst>
            </a:custGeom>
            <a:blipFill>
              <a:blip r:embed="rId7">
                <a:alphaModFix amt="0"/>
              </a:blip>
              <a:stretch>
                <a:fillRect l="0" t="-125499" r="0" b="-125499"/>
              </a:stretch>
            </a:blipFill>
          </p:spPr>
        </p:sp>
        <p:sp>
          <p:nvSpPr>
            <p:cNvPr name="TextBox 21" id="21"/>
            <p:cNvSpPr txBox="true"/>
            <p:nvPr/>
          </p:nvSpPr>
          <p:spPr>
            <a:xfrm>
              <a:off x="0" y="-19050"/>
              <a:ext cx="14996160" cy="1684020"/>
            </a:xfrm>
            <a:prstGeom prst="rect">
              <a:avLst/>
            </a:prstGeom>
          </p:spPr>
          <p:txBody>
            <a:bodyPr anchor="ctr" rtlCol="false" tIns="0" lIns="0" bIns="0" rIns="0"/>
            <a:lstStyle/>
            <a:p>
              <a:pPr algn="ctr">
                <a:lnSpc>
                  <a:spcPts val="4320"/>
                </a:lnSpc>
              </a:pPr>
              <a:r>
                <a:rPr lang="en-US" b="true" sz="3600" spc="150">
                  <a:solidFill>
                    <a:srgbClr val="052B35"/>
                  </a:solidFill>
                  <a:latin typeface="Cambria Bold"/>
                  <a:ea typeface="Cambria Bold"/>
                  <a:cs typeface="Cambria Bold"/>
                  <a:sym typeface="Cambria Bold"/>
                </a:rPr>
                <a:t>PROBLEM INSIGHTS &amp; OPPORTUNITY AREAS</a:t>
              </a:r>
            </a:p>
          </p:txBody>
        </p:sp>
      </p:grpSp>
      <p:sp>
        <p:nvSpPr>
          <p:cNvPr name="Freeform 22" id="22"/>
          <p:cNvSpPr/>
          <p:nvPr/>
        </p:nvSpPr>
        <p:spPr>
          <a:xfrm flipH="false" flipV="false" rot="0">
            <a:off x="673294" y="467554"/>
            <a:ext cx="3934063" cy="1259443"/>
          </a:xfrm>
          <a:custGeom>
            <a:avLst/>
            <a:gdLst/>
            <a:ahLst/>
            <a:cxnLst/>
            <a:rect r="r" b="b" t="t" l="l"/>
            <a:pathLst>
              <a:path h="1259443" w="3934063">
                <a:moveTo>
                  <a:pt x="0" y="0"/>
                </a:moveTo>
                <a:lnTo>
                  <a:pt x="3934063" y="0"/>
                </a:lnTo>
                <a:lnTo>
                  <a:pt x="3934063" y="1259443"/>
                </a:lnTo>
                <a:lnTo>
                  <a:pt x="0" y="125944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3" id="23"/>
          <p:cNvSpPr/>
          <p:nvPr/>
        </p:nvSpPr>
        <p:spPr>
          <a:xfrm flipH="false" flipV="false" rot="0">
            <a:off x="892750" y="673294"/>
            <a:ext cx="971407" cy="847963"/>
          </a:xfrm>
          <a:custGeom>
            <a:avLst/>
            <a:gdLst/>
            <a:ahLst/>
            <a:cxnLst/>
            <a:rect r="r" b="b" t="t" l="l"/>
            <a:pathLst>
              <a:path h="847963" w="971407">
                <a:moveTo>
                  <a:pt x="0" y="0"/>
                </a:moveTo>
                <a:lnTo>
                  <a:pt x="971407" y="0"/>
                </a:lnTo>
                <a:lnTo>
                  <a:pt x="971407" y="847963"/>
                </a:lnTo>
                <a:lnTo>
                  <a:pt x="0" y="84796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24" id="24"/>
          <p:cNvGrpSpPr/>
          <p:nvPr/>
        </p:nvGrpSpPr>
        <p:grpSpPr>
          <a:xfrm rot="0">
            <a:off x="1104138" y="822960"/>
            <a:ext cx="548640" cy="548640"/>
            <a:chOff x="0" y="0"/>
            <a:chExt cx="731520" cy="731520"/>
          </a:xfrm>
        </p:grpSpPr>
        <p:sp>
          <p:nvSpPr>
            <p:cNvPr name="Freeform 25" id="25" descr="Team icon"/>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12"/>
              <a:stretch>
                <a:fillRect l="0" t="0" r="0" b="0"/>
              </a:stretch>
            </a:blipFill>
          </p:spPr>
        </p:sp>
      </p:grpSp>
      <p:grpSp>
        <p:nvGrpSpPr>
          <p:cNvPr name="Group 26" id="26"/>
          <p:cNvGrpSpPr/>
          <p:nvPr/>
        </p:nvGrpSpPr>
        <p:grpSpPr>
          <a:xfrm rot="0">
            <a:off x="2057400" y="576072"/>
            <a:ext cx="2441448" cy="1042416"/>
            <a:chOff x="0" y="0"/>
            <a:chExt cx="3255264" cy="1389888"/>
          </a:xfrm>
        </p:grpSpPr>
        <p:sp>
          <p:nvSpPr>
            <p:cNvPr name="Freeform 27" id="27"/>
            <p:cNvSpPr/>
            <p:nvPr/>
          </p:nvSpPr>
          <p:spPr>
            <a:xfrm flipH="false" flipV="false" rot="0">
              <a:off x="0" y="0"/>
              <a:ext cx="3255264" cy="1389888"/>
            </a:xfrm>
            <a:custGeom>
              <a:avLst/>
              <a:gdLst/>
              <a:ahLst/>
              <a:cxnLst/>
              <a:rect r="r" b="b" t="t" l="l"/>
              <a:pathLst>
                <a:path h="1389888" w="3255264">
                  <a:moveTo>
                    <a:pt x="0" y="0"/>
                  </a:moveTo>
                  <a:lnTo>
                    <a:pt x="3255264" y="0"/>
                  </a:lnTo>
                  <a:lnTo>
                    <a:pt x="3255264" y="1389888"/>
                  </a:lnTo>
                  <a:lnTo>
                    <a:pt x="0" y="1389888"/>
                  </a:lnTo>
                  <a:close/>
                </a:path>
              </a:pathLst>
            </a:custGeom>
            <a:blipFill>
              <a:blip r:embed="rId6">
                <a:alphaModFix amt="0"/>
              </a:blip>
              <a:stretch>
                <a:fillRect l="-4819" t="0" r="-4819" b="0"/>
              </a:stretch>
            </a:blipFill>
          </p:spPr>
        </p:sp>
      </p:grpSp>
      <p:grpSp>
        <p:nvGrpSpPr>
          <p:cNvPr name="Group 28" id="28"/>
          <p:cNvGrpSpPr/>
          <p:nvPr/>
        </p:nvGrpSpPr>
        <p:grpSpPr>
          <a:xfrm rot="0">
            <a:off x="2057400" y="554641"/>
            <a:ext cx="2441448" cy="1063847"/>
            <a:chOff x="0" y="0"/>
            <a:chExt cx="3255264" cy="1418463"/>
          </a:xfrm>
        </p:grpSpPr>
        <p:sp>
          <p:nvSpPr>
            <p:cNvPr name="Freeform 29" id="29"/>
            <p:cNvSpPr/>
            <p:nvPr/>
          </p:nvSpPr>
          <p:spPr>
            <a:xfrm flipH="false" flipV="false" rot="0">
              <a:off x="0" y="0"/>
              <a:ext cx="3255264" cy="1418463"/>
            </a:xfrm>
            <a:custGeom>
              <a:avLst/>
              <a:gdLst/>
              <a:ahLst/>
              <a:cxnLst/>
              <a:rect r="r" b="b" t="t" l="l"/>
              <a:pathLst>
                <a:path h="1418463" w="3255264">
                  <a:moveTo>
                    <a:pt x="0" y="0"/>
                  </a:moveTo>
                  <a:lnTo>
                    <a:pt x="3255264" y="0"/>
                  </a:lnTo>
                  <a:lnTo>
                    <a:pt x="3255264" y="1418463"/>
                  </a:lnTo>
                  <a:lnTo>
                    <a:pt x="0" y="1418463"/>
                  </a:lnTo>
                  <a:close/>
                </a:path>
              </a:pathLst>
            </a:custGeom>
            <a:blipFill>
              <a:blip r:embed="rId7">
                <a:alphaModFix amt="0"/>
              </a:blip>
              <a:stretch>
                <a:fillRect l="-5907" t="0" r="-5907" b="0"/>
              </a:stretch>
            </a:blipFill>
          </p:spPr>
        </p:sp>
        <p:sp>
          <p:nvSpPr>
            <p:cNvPr name="TextBox 30" id="30"/>
            <p:cNvSpPr txBox="true"/>
            <p:nvPr/>
          </p:nvSpPr>
          <p:spPr>
            <a:xfrm>
              <a:off x="0" y="-28575"/>
              <a:ext cx="3255264" cy="1447038"/>
            </a:xfrm>
            <a:prstGeom prst="rect">
              <a:avLst/>
            </a:prstGeom>
          </p:spPr>
          <p:txBody>
            <a:bodyPr anchor="ctr" rtlCol="false" tIns="0" lIns="0" bIns="0" rIns="0"/>
            <a:lstStyle/>
            <a:p>
              <a:pPr algn="l">
                <a:lnSpc>
                  <a:spcPts val="1620"/>
                </a:lnSpc>
              </a:pPr>
              <a:r>
                <a:rPr lang="en-US" b="true" sz="1350" spc="449">
                  <a:solidFill>
                    <a:srgbClr val="5B6F6B"/>
                  </a:solidFill>
                  <a:latin typeface="Calibri (MS) Bold"/>
                  <a:ea typeface="Calibri (MS) Bold"/>
                  <a:cs typeface="Calibri (MS) Bold"/>
                  <a:sym typeface="Calibri (MS) Bold"/>
                </a:rPr>
                <a:t>TEAM</a:t>
              </a:r>
            </a:p>
            <a:p>
              <a:pPr algn="l">
                <a:lnSpc>
                  <a:spcPts val="2700"/>
                </a:lnSpc>
              </a:pPr>
              <a:r>
                <a:rPr lang="en-US" b="true" sz="2250" spc="749">
                  <a:solidFill>
                    <a:srgbClr val="026855"/>
                  </a:solidFill>
                  <a:latin typeface="Calibri (MS) Bold"/>
                  <a:ea typeface="Calibri (MS) Bold"/>
                  <a:cs typeface="Calibri (MS) Bold"/>
                  <a:sym typeface="Calibri (MS) Bold"/>
                </a:rPr>
                <a:t>SIX-SEVEN</a:t>
              </a:r>
            </a:p>
          </p:txBody>
        </p:sp>
      </p:grpSp>
      <p:grpSp>
        <p:nvGrpSpPr>
          <p:cNvPr name="Group 31" id="31"/>
          <p:cNvGrpSpPr/>
          <p:nvPr/>
        </p:nvGrpSpPr>
        <p:grpSpPr>
          <a:xfrm rot="0">
            <a:off x="822960" y="2194560"/>
            <a:ext cx="685800" cy="593884"/>
            <a:chOff x="0" y="0"/>
            <a:chExt cx="914400" cy="791845"/>
          </a:xfrm>
        </p:grpSpPr>
        <p:sp>
          <p:nvSpPr>
            <p:cNvPr name="Freeform 32" id="32"/>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33" id="33"/>
          <p:cNvGrpSpPr/>
          <p:nvPr/>
        </p:nvGrpSpPr>
        <p:grpSpPr>
          <a:xfrm rot="0">
            <a:off x="960120" y="2285086"/>
            <a:ext cx="411480" cy="411480"/>
            <a:chOff x="0" y="0"/>
            <a:chExt cx="548640" cy="548640"/>
          </a:xfrm>
        </p:grpSpPr>
        <p:sp>
          <p:nvSpPr>
            <p:cNvPr name="Freeform 34" id="34" descr="Lightbulb 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13"/>
              <a:stretch>
                <a:fillRect l="0" t="0" r="0" b="0"/>
              </a:stretch>
            </a:blipFill>
          </p:spPr>
        </p:sp>
      </p:grpSp>
      <p:grpSp>
        <p:nvGrpSpPr>
          <p:cNvPr name="Group 35" id="35"/>
          <p:cNvGrpSpPr/>
          <p:nvPr/>
        </p:nvGrpSpPr>
        <p:grpSpPr>
          <a:xfrm rot="0">
            <a:off x="1652778" y="2113636"/>
            <a:ext cx="14401800" cy="754380"/>
            <a:chOff x="0" y="0"/>
            <a:chExt cx="19202400" cy="1005840"/>
          </a:xfrm>
        </p:grpSpPr>
        <p:sp>
          <p:nvSpPr>
            <p:cNvPr name="Freeform 36" id="36"/>
            <p:cNvSpPr/>
            <p:nvPr/>
          </p:nvSpPr>
          <p:spPr>
            <a:xfrm flipH="false" flipV="false" rot="0">
              <a:off x="0" y="0"/>
              <a:ext cx="19202400" cy="1005840"/>
            </a:xfrm>
            <a:custGeom>
              <a:avLst/>
              <a:gdLst/>
              <a:ahLst/>
              <a:cxnLst/>
              <a:rect r="r" b="b" t="t" l="l"/>
              <a:pathLst>
                <a:path h="1005840" w="19202400">
                  <a:moveTo>
                    <a:pt x="0" y="0"/>
                  </a:moveTo>
                  <a:lnTo>
                    <a:pt x="19202400" y="0"/>
                  </a:lnTo>
                  <a:lnTo>
                    <a:pt x="19202400" y="1005840"/>
                  </a:lnTo>
                  <a:lnTo>
                    <a:pt x="0" y="1005840"/>
                  </a:lnTo>
                  <a:close/>
                </a:path>
              </a:pathLst>
            </a:custGeom>
            <a:blipFill>
              <a:blip r:embed="rId6">
                <a:alphaModFix amt="0"/>
              </a:blip>
              <a:stretch>
                <a:fillRect l="0" t="-321728" r="0" b="-321728"/>
              </a:stretch>
            </a:blipFill>
          </p:spPr>
        </p:sp>
      </p:grpSp>
      <p:grpSp>
        <p:nvGrpSpPr>
          <p:cNvPr name="Group 37" id="37"/>
          <p:cNvGrpSpPr/>
          <p:nvPr/>
        </p:nvGrpSpPr>
        <p:grpSpPr>
          <a:xfrm rot="0">
            <a:off x="1652778" y="2100920"/>
            <a:ext cx="14401800" cy="797243"/>
            <a:chOff x="0" y="0"/>
            <a:chExt cx="19202400" cy="1062990"/>
          </a:xfrm>
        </p:grpSpPr>
        <p:sp>
          <p:nvSpPr>
            <p:cNvPr name="Freeform 38" id="38"/>
            <p:cNvSpPr/>
            <p:nvPr/>
          </p:nvSpPr>
          <p:spPr>
            <a:xfrm flipH="false" flipV="false" rot="0">
              <a:off x="0" y="0"/>
              <a:ext cx="19202400" cy="1062990"/>
            </a:xfrm>
            <a:custGeom>
              <a:avLst/>
              <a:gdLst/>
              <a:ahLst/>
              <a:cxnLst/>
              <a:rect r="r" b="b" t="t" l="l"/>
              <a:pathLst>
                <a:path h="1062990" w="19202400">
                  <a:moveTo>
                    <a:pt x="0" y="0"/>
                  </a:moveTo>
                  <a:lnTo>
                    <a:pt x="19202400" y="0"/>
                  </a:lnTo>
                  <a:lnTo>
                    <a:pt x="19202400" y="1062990"/>
                  </a:lnTo>
                  <a:lnTo>
                    <a:pt x="0" y="1062990"/>
                  </a:lnTo>
                  <a:close/>
                </a:path>
              </a:pathLst>
            </a:custGeom>
            <a:blipFill>
              <a:blip r:embed="rId7">
                <a:alphaModFix amt="0"/>
              </a:blip>
              <a:stretch>
                <a:fillRect l="0" t="-301987" r="0" b="-301987"/>
              </a:stretch>
            </a:blipFill>
          </p:spPr>
        </p:sp>
        <p:sp>
          <p:nvSpPr>
            <p:cNvPr name="TextBox 39" id="39"/>
            <p:cNvSpPr txBox="true"/>
            <p:nvPr/>
          </p:nvSpPr>
          <p:spPr>
            <a:xfrm>
              <a:off x="0" y="-57150"/>
              <a:ext cx="19202400" cy="1120140"/>
            </a:xfrm>
            <a:prstGeom prst="rect">
              <a:avLst/>
            </a:prstGeom>
          </p:spPr>
          <p:txBody>
            <a:bodyPr anchor="ctr" rtlCol="false" tIns="0" lIns="0" bIns="0" rIns="0"/>
            <a:lstStyle/>
            <a:p>
              <a:pPr algn="l">
                <a:lnSpc>
                  <a:spcPts val="3240"/>
                </a:lnSpc>
              </a:pPr>
              <a:r>
                <a:rPr lang="en-US" sz="2700" b="true">
                  <a:solidFill>
                    <a:srgbClr val="094542"/>
                  </a:solidFill>
                  <a:latin typeface="Calibri (MS) Bold"/>
                  <a:ea typeface="Calibri (MS) Bold"/>
                  <a:cs typeface="Calibri (MS) Bold"/>
                  <a:sym typeface="Calibri (MS) Bold"/>
                </a:rPr>
                <a:t>Resources required to solve the problem</a:t>
              </a:r>
            </a:p>
          </p:txBody>
        </p:sp>
      </p:grpSp>
      <p:grpSp>
        <p:nvGrpSpPr>
          <p:cNvPr name="Group 40" id="40"/>
          <p:cNvGrpSpPr/>
          <p:nvPr/>
        </p:nvGrpSpPr>
        <p:grpSpPr>
          <a:xfrm rot="0">
            <a:off x="16888511" y="9614916"/>
            <a:ext cx="685800" cy="593903"/>
            <a:chOff x="0" y="0"/>
            <a:chExt cx="914400" cy="791870"/>
          </a:xfrm>
        </p:grpSpPr>
        <p:sp>
          <p:nvSpPr>
            <p:cNvPr name="Freeform 41" id="41"/>
            <p:cNvSpPr/>
            <p:nvPr/>
          </p:nvSpPr>
          <p:spPr>
            <a:xfrm flipH="false" flipV="false" rot="0">
              <a:off x="0" y="0"/>
              <a:ext cx="914400" cy="791845"/>
            </a:xfrm>
            <a:custGeom>
              <a:avLst/>
              <a:gdLst/>
              <a:ahLst/>
              <a:cxnLst/>
              <a:rect r="r" b="b" t="t" l="l"/>
              <a:pathLst>
                <a:path h="791845" w="914400">
                  <a:moveTo>
                    <a:pt x="0" y="0"/>
                  </a:moveTo>
                  <a:lnTo>
                    <a:pt x="914400" y="0"/>
                  </a:lnTo>
                  <a:lnTo>
                    <a:pt x="914400" y="791845"/>
                  </a:lnTo>
                  <a:lnTo>
                    <a:pt x="0" y="791845"/>
                  </a:lnTo>
                  <a:close/>
                </a:path>
              </a:pathLst>
            </a:custGeom>
            <a:blipFill>
              <a:blip r:embed="rId6">
                <a:alphaModFix amt="0"/>
              </a:blip>
              <a:stretch>
                <a:fillRect l="-61188" t="0" r="-61187" b="-3"/>
              </a:stretch>
            </a:blipFill>
          </p:spPr>
        </p:sp>
      </p:grpSp>
      <p:grpSp>
        <p:nvGrpSpPr>
          <p:cNvPr name="Group 42" id="42"/>
          <p:cNvGrpSpPr/>
          <p:nvPr/>
        </p:nvGrpSpPr>
        <p:grpSpPr>
          <a:xfrm rot="0">
            <a:off x="16888511" y="9593485"/>
            <a:ext cx="685800" cy="615334"/>
            <a:chOff x="0" y="0"/>
            <a:chExt cx="914400" cy="820445"/>
          </a:xfrm>
        </p:grpSpPr>
        <p:sp>
          <p:nvSpPr>
            <p:cNvPr name="Freeform 43" id="43"/>
            <p:cNvSpPr/>
            <p:nvPr/>
          </p:nvSpPr>
          <p:spPr>
            <a:xfrm flipH="false" flipV="false" rot="0">
              <a:off x="0" y="0"/>
              <a:ext cx="914400" cy="820446"/>
            </a:xfrm>
            <a:custGeom>
              <a:avLst/>
              <a:gdLst/>
              <a:ahLst/>
              <a:cxnLst/>
              <a:rect r="r" b="b" t="t" l="l"/>
              <a:pathLst>
                <a:path h="820446" w="914400">
                  <a:moveTo>
                    <a:pt x="0" y="0"/>
                  </a:moveTo>
                  <a:lnTo>
                    <a:pt x="914400" y="0"/>
                  </a:lnTo>
                  <a:lnTo>
                    <a:pt x="914400" y="820446"/>
                  </a:lnTo>
                  <a:lnTo>
                    <a:pt x="0" y="820446"/>
                  </a:lnTo>
                  <a:close/>
                </a:path>
              </a:pathLst>
            </a:custGeom>
            <a:blipFill>
              <a:blip r:embed="rId7">
                <a:alphaModFix amt="0"/>
              </a:blip>
              <a:stretch>
                <a:fillRect l="-65120" t="0" r="-65120" b="0"/>
              </a:stretch>
            </a:blipFill>
          </p:spPr>
        </p:sp>
        <p:sp>
          <p:nvSpPr>
            <p:cNvPr name="TextBox 44" id="44"/>
            <p:cNvSpPr txBox="true"/>
            <p:nvPr/>
          </p:nvSpPr>
          <p:spPr>
            <a:xfrm>
              <a:off x="0" y="-28575"/>
              <a:ext cx="914400" cy="849020"/>
            </a:xfrm>
            <a:prstGeom prst="rect">
              <a:avLst/>
            </a:prstGeom>
          </p:spPr>
          <p:txBody>
            <a:bodyPr anchor="ctr" rtlCol="false" tIns="0" lIns="0" bIns="0" rIns="0"/>
            <a:lstStyle/>
            <a:p>
              <a:pPr algn="ctr">
                <a:lnSpc>
                  <a:spcPts val="1980"/>
                </a:lnSpc>
              </a:pPr>
              <a:r>
                <a:rPr lang="en-US" sz="1650" b="true">
                  <a:solidFill>
                    <a:srgbClr val="052B35"/>
                  </a:solidFill>
                  <a:latin typeface="Calibri (MS) Bold"/>
                  <a:ea typeface="Calibri (MS) Bold"/>
                  <a:cs typeface="Calibri (MS) Bold"/>
                  <a:sym typeface="Calibri (MS) Bold"/>
                </a:rPr>
                <a:t>7</a:t>
              </a:r>
            </a:p>
          </p:txBody>
        </p:sp>
      </p:grpSp>
      <p:sp>
        <p:nvSpPr>
          <p:cNvPr name="Freeform 45" id="45"/>
          <p:cNvSpPr/>
          <p:nvPr/>
        </p:nvSpPr>
        <p:spPr>
          <a:xfrm flipH="false" flipV="false" rot="0">
            <a:off x="289284" y="3374412"/>
            <a:ext cx="8219646" cy="4217099"/>
          </a:xfrm>
          <a:custGeom>
            <a:avLst/>
            <a:gdLst/>
            <a:ahLst/>
            <a:cxnLst/>
            <a:rect r="r" b="b" t="t" l="l"/>
            <a:pathLst>
              <a:path h="4217099" w="8219646">
                <a:moveTo>
                  <a:pt x="0" y="0"/>
                </a:moveTo>
                <a:lnTo>
                  <a:pt x="8219646" y="0"/>
                </a:lnTo>
                <a:lnTo>
                  <a:pt x="8219646" y="4217099"/>
                </a:lnTo>
                <a:lnTo>
                  <a:pt x="0" y="421709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46" id="46"/>
          <p:cNvSpPr/>
          <p:nvPr/>
        </p:nvSpPr>
        <p:spPr>
          <a:xfrm flipH="false" flipV="false" rot="0">
            <a:off x="9410033" y="3402997"/>
            <a:ext cx="8042634" cy="4217098"/>
          </a:xfrm>
          <a:custGeom>
            <a:avLst/>
            <a:gdLst/>
            <a:ahLst/>
            <a:cxnLst/>
            <a:rect r="r" b="b" t="t" l="l"/>
            <a:pathLst>
              <a:path h="4217098" w="8042634">
                <a:moveTo>
                  <a:pt x="0" y="0"/>
                </a:moveTo>
                <a:lnTo>
                  <a:pt x="8042634" y="0"/>
                </a:lnTo>
                <a:lnTo>
                  <a:pt x="8042634" y="4217098"/>
                </a:lnTo>
                <a:lnTo>
                  <a:pt x="0" y="421709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47" id="47"/>
          <p:cNvSpPr txBox="true"/>
          <p:nvPr/>
        </p:nvSpPr>
        <p:spPr>
          <a:xfrm rot="0">
            <a:off x="0" y="3877866"/>
            <a:ext cx="8404155" cy="4017621"/>
          </a:xfrm>
          <a:prstGeom prst="rect">
            <a:avLst/>
          </a:prstGeom>
        </p:spPr>
        <p:txBody>
          <a:bodyPr anchor="t" rtlCol="false" tIns="0" lIns="0" bIns="0" rIns="0">
            <a:spAutoFit/>
          </a:bodyPr>
          <a:lstStyle/>
          <a:p>
            <a:pPr algn="ctr">
              <a:lnSpc>
                <a:spcPts val="4408"/>
              </a:lnSpc>
            </a:pPr>
          </a:p>
          <a:p>
            <a:pPr algn="l" marL="839980" indent="-279993" lvl="2">
              <a:lnSpc>
                <a:spcPts val="4408"/>
              </a:lnSpc>
              <a:buFont typeface="Arial"/>
              <a:buChar char="⚬"/>
            </a:pPr>
            <a:r>
              <a:rPr lang="en-US" sz="3674" spc="349">
                <a:solidFill>
                  <a:srgbClr val="FFFFFF"/>
                </a:solidFill>
                <a:latin typeface="Calibri (MS)"/>
                <a:ea typeface="Calibri (MS)"/>
                <a:cs typeface="Calibri (MS)"/>
                <a:sym typeface="Calibri (MS)"/>
              </a:rPr>
              <a:t>MEMS Ultrasonic Microphone</a:t>
            </a:r>
          </a:p>
          <a:p>
            <a:pPr algn="l" marL="839980" indent="-279993" lvl="2">
              <a:lnSpc>
                <a:spcPts val="4408"/>
              </a:lnSpc>
              <a:buFont typeface="Arial"/>
              <a:buChar char="⚬"/>
            </a:pPr>
            <a:r>
              <a:rPr lang="en-US" sz="3674" spc="349">
                <a:solidFill>
                  <a:srgbClr val="FFFFFF"/>
                </a:solidFill>
                <a:latin typeface="Calibri (MS)"/>
                <a:ea typeface="Calibri (MS)"/>
                <a:cs typeface="Calibri (MS)"/>
                <a:sym typeface="Calibri (MS)"/>
              </a:rPr>
              <a:t>Optical Camera Module</a:t>
            </a:r>
          </a:p>
          <a:p>
            <a:pPr algn="l" marL="839980" indent="-279993" lvl="2">
              <a:lnSpc>
                <a:spcPts val="4408"/>
              </a:lnSpc>
              <a:buFont typeface="Arial"/>
              <a:buChar char="⚬"/>
            </a:pPr>
            <a:r>
              <a:rPr lang="en-US" sz="3674" spc="349">
                <a:solidFill>
                  <a:srgbClr val="FFFFFF"/>
                </a:solidFill>
                <a:latin typeface="Calibri (MS)"/>
                <a:ea typeface="Calibri (MS)"/>
                <a:cs typeface="Calibri (MS)"/>
                <a:sym typeface="Calibri (MS)"/>
              </a:rPr>
              <a:t>Microcontroller</a:t>
            </a:r>
          </a:p>
          <a:p>
            <a:pPr algn="l" marL="839980" indent="-279993" lvl="2">
              <a:lnSpc>
                <a:spcPts val="4408"/>
              </a:lnSpc>
              <a:buFont typeface="Arial"/>
              <a:buChar char="⚬"/>
            </a:pPr>
            <a:r>
              <a:rPr lang="en-US" sz="3674" spc="349">
                <a:solidFill>
                  <a:srgbClr val="FFFFFF"/>
                </a:solidFill>
                <a:latin typeface="Calibri (MS)"/>
                <a:ea typeface="Calibri (MS)"/>
                <a:cs typeface="Calibri (MS)"/>
                <a:sym typeface="Calibri (MS)"/>
              </a:rPr>
              <a:t>Network &amp; Power Infrastructure</a:t>
            </a:r>
          </a:p>
          <a:p>
            <a:pPr algn="l" marL="839980" indent="-279993" lvl="2">
              <a:lnSpc>
                <a:spcPts val="4408"/>
              </a:lnSpc>
            </a:pPr>
          </a:p>
          <a:p>
            <a:pPr algn="ctr" marL="839980" indent="-279993" lvl="2">
              <a:lnSpc>
                <a:spcPts val="5488"/>
              </a:lnSpc>
            </a:pPr>
          </a:p>
        </p:txBody>
      </p:sp>
      <p:sp>
        <p:nvSpPr>
          <p:cNvPr name="TextBox 48" id="48"/>
          <p:cNvSpPr txBox="true"/>
          <p:nvPr/>
        </p:nvSpPr>
        <p:spPr>
          <a:xfrm rot="0">
            <a:off x="9235709" y="3930349"/>
            <a:ext cx="8216958" cy="3152853"/>
          </a:xfrm>
          <a:prstGeom prst="rect">
            <a:avLst/>
          </a:prstGeom>
        </p:spPr>
        <p:txBody>
          <a:bodyPr anchor="t" rtlCol="false" tIns="0" lIns="0" bIns="0" rIns="0">
            <a:spAutoFit/>
          </a:bodyPr>
          <a:lstStyle/>
          <a:p>
            <a:pPr algn="ctr">
              <a:lnSpc>
                <a:spcPts val="4088"/>
              </a:lnSpc>
            </a:pPr>
          </a:p>
          <a:p>
            <a:pPr algn="l" marL="779077" indent="-259692" lvl="2">
              <a:lnSpc>
                <a:spcPts val="4088"/>
              </a:lnSpc>
              <a:buFont typeface="Arial"/>
              <a:buChar char="⚬"/>
            </a:pPr>
            <a:r>
              <a:rPr lang="en-US" sz="3408" spc="323">
                <a:solidFill>
                  <a:srgbClr val="FFFFFF"/>
                </a:solidFill>
                <a:latin typeface="Calibri (MS)"/>
                <a:ea typeface="Calibri (MS)"/>
                <a:cs typeface="Calibri (MS)"/>
                <a:sym typeface="Calibri (MS)"/>
              </a:rPr>
              <a:t>Digital Signal Processing (DSP) Engine</a:t>
            </a:r>
          </a:p>
          <a:p>
            <a:pPr algn="l" marL="779077" indent="-259692" lvl="2">
              <a:lnSpc>
                <a:spcPts val="4088"/>
              </a:lnSpc>
              <a:buFont typeface="Arial"/>
              <a:buChar char="⚬"/>
            </a:pPr>
            <a:r>
              <a:rPr lang="en-US" sz="3408" spc="323">
                <a:solidFill>
                  <a:srgbClr val="FFFFFF"/>
                </a:solidFill>
                <a:latin typeface="Calibri (MS)"/>
                <a:ea typeface="Calibri (MS)"/>
                <a:cs typeface="Calibri (MS)"/>
                <a:sym typeface="Calibri (MS)"/>
              </a:rPr>
              <a:t>3D Triangulation &amp; Spatial Engine</a:t>
            </a:r>
          </a:p>
          <a:p>
            <a:pPr algn="l" marL="779077" indent="-259692" lvl="2">
              <a:lnSpc>
                <a:spcPts val="4088"/>
              </a:lnSpc>
              <a:buFont typeface="Arial"/>
              <a:buChar char="⚬"/>
            </a:pPr>
            <a:r>
              <a:rPr lang="en-US" sz="3408" spc="324">
                <a:solidFill>
                  <a:srgbClr val="FFFFFF"/>
                </a:solidFill>
                <a:latin typeface="Calibri (MS)"/>
                <a:ea typeface="Calibri (MS)"/>
                <a:cs typeface="Calibri (MS)"/>
                <a:sym typeface="Calibri (MS)"/>
              </a:rPr>
              <a:t>Visualization Dashboard(contvert 2D image to 3D)</a:t>
            </a:r>
          </a:p>
        </p:txBody>
      </p:sp>
      <p:grpSp>
        <p:nvGrpSpPr>
          <p:cNvPr name="Group 49" id="49"/>
          <p:cNvGrpSpPr/>
          <p:nvPr/>
        </p:nvGrpSpPr>
        <p:grpSpPr>
          <a:xfrm rot="0">
            <a:off x="10038155" y="3753025"/>
            <a:ext cx="5402227" cy="732390"/>
            <a:chOff x="0" y="0"/>
            <a:chExt cx="4084320" cy="553719"/>
          </a:xfrm>
        </p:grpSpPr>
        <p:sp>
          <p:nvSpPr>
            <p:cNvPr name="Freeform 50" id="50"/>
            <p:cNvSpPr/>
            <p:nvPr/>
          </p:nvSpPr>
          <p:spPr>
            <a:xfrm flipH="false" flipV="false" rot="0">
              <a:off x="0" y="0"/>
              <a:ext cx="4084320" cy="553719"/>
            </a:xfrm>
            <a:custGeom>
              <a:avLst/>
              <a:gdLst/>
              <a:ahLst/>
              <a:cxnLst/>
              <a:rect r="r" b="b" t="t" l="l"/>
              <a:pathLst>
                <a:path h="553719" w="4084320">
                  <a:moveTo>
                    <a:pt x="0" y="0"/>
                  </a:moveTo>
                  <a:lnTo>
                    <a:pt x="4084320" y="0"/>
                  </a:lnTo>
                  <a:lnTo>
                    <a:pt x="4084320" y="553719"/>
                  </a:lnTo>
                  <a:lnTo>
                    <a:pt x="0" y="553719"/>
                  </a:lnTo>
                  <a:close/>
                </a:path>
              </a:pathLst>
            </a:custGeom>
            <a:blipFill>
              <a:blip r:embed="rId7">
                <a:alphaModFix amt="0"/>
              </a:blip>
              <a:stretch>
                <a:fillRect l="0" t="-121706" r="0" b="-65743"/>
              </a:stretch>
            </a:blipFill>
          </p:spPr>
        </p:sp>
        <p:sp>
          <p:nvSpPr>
            <p:cNvPr name="TextBox 51" id="51"/>
            <p:cNvSpPr txBox="true"/>
            <p:nvPr/>
          </p:nvSpPr>
          <p:spPr>
            <a:xfrm>
              <a:off x="0" y="-66675"/>
              <a:ext cx="4084320" cy="620394"/>
            </a:xfrm>
            <a:prstGeom prst="rect">
              <a:avLst/>
            </a:prstGeom>
          </p:spPr>
          <p:txBody>
            <a:bodyPr anchor="ctr" rtlCol="false" tIns="0" lIns="0" bIns="0" rIns="0"/>
            <a:lstStyle/>
            <a:p>
              <a:pPr algn="l">
                <a:lnSpc>
                  <a:spcPts val="4379"/>
                </a:lnSpc>
              </a:pPr>
              <a:r>
                <a:rPr lang="en-US" sz="3649" b="true">
                  <a:solidFill>
                    <a:srgbClr val="0B2E3C"/>
                  </a:solidFill>
                  <a:latin typeface="Calibri (MS) Bold"/>
                  <a:ea typeface="Calibri (MS) Bold"/>
                  <a:cs typeface="Calibri (MS) Bold"/>
                  <a:sym typeface="Calibri (MS) Bold"/>
                </a:rPr>
                <a:t>Software :</a:t>
              </a:r>
            </a:p>
          </p:txBody>
        </p:sp>
      </p:grpSp>
      <p:grpSp>
        <p:nvGrpSpPr>
          <p:cNvPr name="Group 52" id="52"/>
          <p:cNvGrpSpPr/>
          <p:nvPr/>
        </p:nvGrpSpPr>
        <p:grpSpPr>
          <a:xfrm rot="0">
            <a:off x="892750" y="3753025"/>
            <a:ext cx="5402227" cy="732390"/>
            <a:chOff x="0" y="0"/>
            <a:chExt cx="4084320" cy="553719"/>
          </a:xfrm>
        </p:grpSpPr>
        <p:sp>
          <p:nvSpPr>
            <p:cNvPr name="Freeform 53" id="53"/>
            <p:cNvSpPr/>
            <p:nvPr/>
          </p:nvSpPr>
          <p:spPr>
            <a:xfrm flipH="false" flipV="false" rot="0">
              <a:off x="0" y="0"/>
              <a:ext cx="4084320" cy="553719"/>
            </a:xfrm>
            <a:custGeom>
              <a:avLst/>
              <a:gdLst/>
              <a:ahLst/>
              <a:cxnLst/>
              <a:rect r="r" b="b" t="t" l="l"/>
              <a:pathLst>
                <a:path h="553719" w="4084320">
                  <a:moveTo>
                    <a:pt x="0" y="0"/>
                  </a:moveTo>
                  <a:lnTo>
                    <a:pt x="4084320" y="0"/>
                  </a:lnTo>
                  <a:lnTo>
                    <a:pt x="4084320" y="553719"/>
                  </a:lnTo>
                  <a:lnTo>
                    <a:pt x="0" y="553719"/>
                  </a:lnTo>
                  <a:close/>
                </a:path>
              </a:pathLst>
            </a:custGeom>
            <a:blipFill>
              <a:blip r:embed="rId7">
                <a:alphaModFix amt="0"/>
              </a:blip>
              <a:stretch>
                <a:fillRect l="0" t="-121706" r="0" b="-65743"/>
              </a:stretch>
            </a:blipFill>
          </p:spPr>
        </p:sp>
        <p:sp>
          <p:nvSpPr>
            <p:cNvPr name="TextBox 54" id="54"/>
            <p:cNvSpPr txBox="true"/>
            <p:nvPr/>
          </p:nvSpPr>
          <p:spPr>
            <a:xfrm>
              <a:off x="0" y="-66675"/>
              <a:ext cx="4084320" cy="620394"/>
            </a:xfrm>
            <a:prstGeom prst="rect">
              <a:avLst/>
            </a:prstGeom>
          </p:spPr>
          <p:txBody>
            <a:bodyPr anchor="ctr" rtlCol="false" tIns="0" lIns="0" bIns="0" rIns="0"/>
            <a:lstStyle/>
            <a:p>
              <a:pPr algn="l">
                <a:lnSpc>
                  <a:spcPts val="4379"/>
                </a:lnSpc>
              </a:pPr>
              <a:r>
                <a:rPr lang="en-US" sz="3649" b="true">
                  <a:solidFill>
                    <a:srgbClr val="0B2E3C"/>
                  </a:solidFill>
                  <a:latin typeface="Calibri (MS) Bold"/>
                  <a:ea typeface="Calibri (MS) Bold"/>
                  <a:cs typeface="Calibri (MS) Bold"/>
                  <a:sym typeface="Calibri (MS) Bold"/>
                </a:rPr>
                <a:t>Hardware:</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sp>
        <p:nvSpPr>
          <p:cNvPr name="Freeform 2" id="2"/>
          <p:cNvSpPr/>
          <p:nvPr/>
        </p:nvSpPr>
        <p:spPr>
          <a:xfrm flipH="false" flipV="false" rot="0">
            <a:off x="16354796" y="467554"/>
            <a:ext cx="1259443" cy="1259443"/>
          </a:xfrm>
          <a:custGeom>
            <a:avLst/>
            <a:gdLst/>
            <a:ahLst/>
            <a:cxnLst/>
            <a:rect r="r" b="b" t="t" l="l"/>
            <a:pathLst>
              <a:path h="1259443" w="1259443">
                <a:moveTo>
                  <a:pt x="0" y="0"/>
                </a:moveTo>
                <a:lnTo>
                  <a:pt x="1259444" y="0"/>
                </a:lnTo>
                <a:lnTo>
                  <a:pt x="1259444" y="1259443"/>
                </a:lnTo>
                <a:lnTo>
                  <a:pt x="0" y="125944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16583920" y="576072"/>
            <a:ext cx="801243" cy="1042416"/>
            <a:chOff x="0" y="0"/>
            <a:chExt cx="1068324" cy="1389888"/>
          </a:xfrm>
        </p:grpSpPr>
        <p:sp>
          <p:nvSpPr>
            <p:cNvPr name="Freeform 4" id="4" descr="Genesis logo"/>
            <p:cNvSpPr/>
            <p:nvPr/>
          </p:nvSpPr>
          <p:spPr>
            <a:xfrm flipH="false" flipV="false" rot="0">
              <a:off x="0" y="0"/>
              <a:ext cx="1068324" cy="1389888"/>
            </a:xfrm>
            <a:custGeom>
              <a:avLst/>
              <a:gdLst/>
              <a:ahLst/>
              <a:cxnLst/>
              <a:rect r="r" b="b" t="t" l="l"/>
              <a:pathLst>
                <a:path h="1389888" w="1068324">
                  <a:moveTo>
                    <a:pt x="0" y="0"/>
                  </a:moveTo>
                  <a:lnTo>
                    <a:pt x="1068324" y="0"/>
                  </a:lnTo>
                  <a:lnTo>
                    <a:pt x="1068324" y="1389888"/>
                  </a:lnTo>
                  <a:lnTo>
                    <a:pt x="0" y="1389888"/>
                  </a:lnTo>
                  <a:lnTo>
                    <a:pt x="0" y="0"/>
                  </a:lnTo>
                  <a:close/>
                </a:path>
              </a:pathLst>
            </a:custGeom>
            <a:blipFill>
              <a:blip r:embed="rId5"/>
              <a:stretch>
                <a:fillRect l="0" t="-2" r="0" b="-2"/>
              </a:stretch>
            </a:blipFill>
          </p:spPr>
        </p:sp>
      </p:grpSp>
      <p:grpSp>
        <p:nvGrpSpPr>
          <p:cNvPr name="Group 5" id="5"/>
          <p:cNvGrpSpPr/>
          <p:nvPr/>
        </p:nvGrpSpPr>
        <p:grpSpPr>
          <a:xfrm rot="0">
            <a:off x="0" y="9532620"/>
            <a:ext cx="18287524" cy="754380"/>
            <a:chOff x="0" y="0"/>
            <a:chExt cx="24383365" cy="1005840"/>
          </a:xfrm>
        </p:grpSpPr>
        <p:sp>
          <p:nvSpPr>
            <p:cNvPr name="Freeform 6" id="6"/>
            <p:cNvSpPr/>
            <p:nvPr/>
          </p:nvSpPr>
          <p:spPr>
            <a:xfrm flipH="false" flipV="false" rot="0">
              <a:off x="0" y="0"/>
              <a:ext cx="24383364" cy="1005840"/>
            </a:xfrm>
            <a:custGeom>
              <a:avLst/>
              <a:gdLst/>
              <a:ahLst/>
              <a:cxnLst/>
              <a:rect r="r" b="b" t="t" l="l"/>
              <a:pathLst>
                <a:path h="1005840" w="24383364">
                  <a:moveTo>
                    <a:pt x="0" y="0"/>
                  </a:moveTo>
                  <a:lnTo>
                    <a:pt x="24383364" y="0"/>
                  </a:lnTo>
                  <a:lnTo>
                    <a:pt x="24383364" y="1005840"/>
                  </a:lnTo>
                  <a:lnTo>
                    <a:pt x="0" y="1005840"/>
                  </a:lnTo>
                  <a:close/>
                </a:path>
              </a:pathLst>
            </a:custGeom>
            <a:solidFill>
              <a:srgbClr val="052B35"/>
            </a:solidFill>
          </p:spPr>
        </p:sp>
      </p:grpSp>
      <p:grpSp>
        <p:nvGrpSpPr>
          <p:cNvPr name="Group 7" id="7"/>
          <p:cNvGrpSpPr/>
          <p:nvPr/>
        </p:nvGrpSpPr>
        <p:grpSpPr>
          <a:xfrm rot="0">
            <a:off x="3429000" y="9532620"/>
            <a:ext cx="11429543" cy="754380"/>
            <a:chOff x="0" y="0"/>
            <a:chExt cx="15239390" cy="1005840"/>
          </a:xfrm>
        </p:grpSpPr>
        <p:sp>
          <p:nvSpPr>
            <p:cNvPr name="Freeform 8" id="8"/>
            <p:cNvSpPr/>
            <p:nvPr/>
          </p:nvSpPr>
          <p:spPr>
            <a:xfrm flipH="false" flipV="false" rot="0">
              <a:off x="0" y="0"/>
              <a:ext cx="15239364" cy="1005840"/>
            </a:xfrm>
            <a:custGeom>
              <a:avLst/>
              <a:gdLst/>
              <a:ahLst/>
              <a:cxnLst/>
              <a:rect r="r" b="b" t="t" l="l"/>
              <a:pathLst>
                <a:path h="1005840" w="15239364">
                  <a:moveTo>
                    <a:pt x="0" y="0"/>
                  </a:moveTo>
                  <a:lnTo>
                    <a:pt x="15239364" y="0"/>
                  </a:lnTo>
                  <a:lnTo>
                    <a:pt x="15239364" y="1005840"/>
                  </a:lnTo>
                  <a:lnTo>
                    <a:pt x="0" y="1005840"/>
                  </a:lnTo>
                  <a:close/>
                </a:path>
              </a:pathLst>
            </a:custGeom>
            <a:blipFill>
              <a:blip r:embed="rId6">
                <a:alphaModFix amt="0"/>
              </a:blip>
              <a:stretch>
                <a:fillRect l="0" t="-245011" r="0" b="-245010"/>
              </a:stretch>
            </a:blipFill>
          </p:spPr>
        </p:sp>
      </p:grpSp>
      <p:grpSp>
        <p:nvGrpSpPr>
          <p:cNvPr name="Group 9" id="9"/>
          <p:cNvGrpSpPr/>
          <p:nvPr/>
        </p:nvGrpSpPr>
        <p:grpSpPr>
          <a:xfrm rot="0">
            <a:off x="16888511" y="9614916"/>
            <a:ext cx="685800" cy="593884"/>
            <a:chOff x="0" y="0"/>
            <a:chExt cx="914400" cy="791845"/>
          </a:xfrm>
        </p:grpSpPr>
        <p:sp>
          <p:nvSpPr>
            <p:cNvPr name="Freeform 10" id="10"/>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11" id="11"/>
          <p:cNvGrpSpPr/>
          <p:nvPr/>
        </p:nvGrpSpPr>
        <p:grpSpPr>
          <a:xfrm rot="5400000">
            <a:off x="15894653" y="7008600"/>
            <a:ext cx="2179749" cy="1893332"/>
            <a:chOff x="0" y="0"/>
            <a:chExt cx="2906332" cy="2524442"/>
          </a:xfrm>
        </p:grpSpPr>
        <p:sp>
          <p:nvSpPr>
            <p:cNvPr name="Freeform 12" id="12"/>
            <p:cNvSpPr/>
            <p:nvPr/>
          </p:nvSpPr>
          <p:spPr>
            <a:xfrm flipH="false" flipV="false" rot="0">
              <a:off x="0" y="0"/>
              <a:ext cx="2906395" cy="2524506"/>
            </a:xfrm>
            <a:custGeom>
              <a:avLst/>
              <a:gdLst/>
              <a:ahLst/>
              <a:cxnLst/>
              <a:rect r="r" b="b" t="t" l="l"/>
              <a:pathLst>
                <a:path h="2524506" w="2906395">
                  <a:moveTo>
                    <a:pt x="0" y="1262253"/>
                  </a:moveTo>
                  <a:lnTo>
                    <a:pt x="630301" y="0"/>
                  </a:lnTo>
                  <a:lnTo>
                    <a:pt x="2276094" y="0"/>
                  </a:lnTo>
                  <a:lnTo>
                    <a:pt x="2906395" y="1262253"/>
                  </a:lnTo>
                  <a:lnTo>
                    <a:pt x="2276094" y="2524506"/>
                  </a:lnTo>
                  <a:lnTo>
                    <a:pt x="630301" y="2524506"/>
                  </a:lnTo>
                  <a:close/>
                </a:path>
              </a:pathLst>
            </a:custGeom>
            <a:blipFill>
              <a:blip r:embed="rId6">
                <a:alphaModFix amt="0"/>
              </a:blip>
              <a:stretch>
                <a:fillRect l="-61520" t="0" r="-61518" b="2"/>
              </a:stretch>
            </a:blipFill>
            <a:ln w="23812" cap="sq">
              <a:solidFill>
                <a:srgbClr val="4FA278"/>
              </a:solidFill>
              <a:prstDash val="solid"/>
              <a:miter/>
            </a:ln>
          </p:spPr>
        </p:sp>
      </p:grpSp>
      <p:grpSp>
        <p:nvGrpSpPr>
          <p:cNvPr name="Group 13" id="13"/>
          <p:cNvGrpSpPr/>
          <p:nvPr/>
        </p:nvGrpSpPr>
        <p:grpSpPr>
          <a:xfrm rot="5400000">
            <a:off x="14605102" y="8002981"/>
            <a:ext cx="1466993" cy="1276112"/>
            <a:chOff x="0" y="0"/>
            <a:chExt cx="1955990" cy="1701482"/>
          </a:xfrm>
        </p:grpSpPr>
        <p:sp>
          <p:nvSpPr>
            <p:cNvPr name="Freeform 14" id="14"/>
            <p:cNvSpPr/>
            <p:nvPr/>
          </p:nvSpPr>
          <p:spPr>
            <a:xfrm flipH="false" flipV="false" rot="0">
              <a:off x="0" y="0"/>
              <a:ext cx="1956054" cy="1701546"/>
            </a:xfrm>
            <a:custGeom>
              <a:avLst/>
              <a:gdLst/>
              <a:ahLst/>
              <a:cxnLst/>
              <a:rect r="r" b="b" t="t" l="l"/>
              <a:pathLst>
                <a:path h="1701546" w="1956054">
                  <a:moveTo>
                    <a:pt x="0" y="850773"/>
                  </a:moveTo>
                  <a:lnTo>
                    <a:pt x="424561" y="0"/>
                  </a:lnTo>
                  <a:lnTo>
                    <a:pt x="1531493" y="0"/>
                  </a:lnTo>
                  <a:lnTo>
                    <a:pt x="1956054" y="850773"/>
                  </a:lnTo>
                  <a:lnTo>
                    <a:pt x="1531493" y="1701546"/>
                  </a:lnTo>
                  <a:lnTo>
                    <a:pt x="424561" y="1701546"/>
                  </a:lnTo>
                  <a:close/>
                </a:path>
              </a:pathLst>
            </a:custGeom>
            <a:blipFill>
              <a:blip r:embed="rId6">
                <a:alphaModFix amt="0"/>
              </a:blip>
              <a:stretch>
                <a:fillRect l="-61684" t="0" r="-61680" b="3"/>
              </a:stretch>
            </a:blipFill>
            <a:ln w="23812" cap="sq">
              <a:solidFill>
                <a:srgbClr val="4FA278"/>
              </a:solidFill>
              <a:prstDash val="solid"/>
              <a:miter/>
            </a:ln>
          </p:spPr>
        </p:sp>
      </p:grpSp>
      <p:grpSp>
        <p:nvGrpSpPr>
          <p:cNvPr name="Group 15" id="15"/>
          <p:cNvGrpSpPr/>
          <p:nvPr/>
        </p:nvGrpSpPr>
        <p:grpSpPr>
          <a:xfrm rot="5400000">
            <a:off x="17348302" y="5739841"/>
            <a:ext cx="1466993" cy="1276112"/>
            <a:chOff x="0" y="0"/>
            <a:chExt cx="1955990" cy="1701482"/>
          </a:xfrm>
        </p:grpSpPr>
        <p:sp>
          <p:nvSpPr>
            <p:cNvPr name="Freeform 16" id="16"/>
            <p:cNvSpPr/>
            <p:nvPr/>
          </p:nvSpPr>
          <p:spPr>
            <a:xfrm flipH="false" flipV="false" rot="0">
              <a:off x="0" y="0"/>
              <a:ext cx="1956054" cy="1701546"/>
            </a:xfrm>
            <a:custGeom>
              <a:avLst/>
              <a:gdLst/>
              <a:ahLst/>
              <a:cxnLst/>
              <a:rect r="r" b="b" t="t" l="l"/>
              <a:pathLst>
                <a:path h="1701546" w="1956054">
                  <a:moveTo>
                    <a:pt x="0" y="850773"/>
                  </a:moveTo>
                  <a:lnTo>
                    <a:pt x="424561" y="0"/>
                  </a:lnTo>
                  <a:lnTo>
                    <a:pt x="1531493" y="0"/>
                  </a:lnTo>
                  <a:lnTo>
                    <a:pt x="1956054" y="850773"/>
                  </a:lnTo>
                  <a:lnTo>
                    <a:pt x="1531493" y="1701546"/>
                  </a:lnTo>
                  <a:lnTo>
                    <a:pt x="424561" y="1701546"/>
                  </a:lnTo>
                  <a:close/>
                </a:path>
              </a:pathLst>
            </a:custGeom>
            <a:blipFill>
              <a:blip r:embed="rId6">
                <a:alphaModFix amt="0"/>
              </a:blip>
              <a:stretch>
                <a:fillRect l="-61684" t="0" r="-61680" b="3"/>
              </a:stretch>
            </a:blipFill>
            <a:ln w="23812" cap="sq">
              <a:solidFill>
                <a:srgbClr val="4FA278"/>
              </a:solidFill>
              <a:prstDash val="solid"/>
              <a:miter/>
            </a:ln>
          </p:spPr>
        </p:sp>
      </p:grpSp>
      <p:grpSp>
        <p:nvGrpSpPr>
          <p:cNvPr name="Group 17" id="17"/>
          <p:cNvGrpSpPr/>
          <p:nvPr/>
        </p:nvGrpSpPr>
        <p:grpSpPr>
          <a:xfrm rot="0">
            <a:off x="4869180" y="480060"/>
            <a:ext cx="11247120" cy="1234440"/>
            <a:chOff x="0" y="0"/>
            <a:chExt cx="14996160" cy="1645920"/>
          </a:xfrm>
        </p:grpSpPr>
        <p:sp>
          <p:nvSpPr>
            <p:cNvPr name="Freeform 18" id="18"/>
            <p:cNvSpPr/>
            <p:nvPr/>
          </p:nvSpPr>
          <p:spPr>
            <a:xfrm flipH="false" flipV="false" rot="0">
              <a:off x="0" y="0"/>
              <a:ext cx="14996161" cy="1645920"/>
            </a:xfrm>
            <a:custGeom>
              <a:avLst/>
              <a:gdLst/>
              <a:ahLst/>
              <a:cxnLst/>
              <a:rect r="r" b="b" t="t" l="l"/>
              <a:pathLst>
                <a:path h="1645920" w="14996161">
                  <a:moveTo>
                    <a:pt x="0" y="0"/>
                  </a:moveTo>
                  <a:lnTo>
                    <a:pt x="14996161" y="0"/>
                  </a:lnTo>
                  <a:lnTo>
                    <a:pt x="14996161" y="1645920"/>
                  </a:lnTo>
                  <a:lnTo>
                    <a:pt x="0" y="1645920"/>
                  </a:lnTo>
                  <a:close/>
                </a:path>
              </a:pathLst>
            </a:custGeom>
            <a:blipFill>
              <a:blip r:embed="rId6">
                <a:alphaModFix amt="0"/>
              </a:blip>
              <a:stretch>
                <a:fillRect l="0" t="-127406" r="0" b="-127407"/>
              </a:stretch>
            </a:blipFill>
          </p:spPr>
        </p:sp>
      </p:grpSp>
      <p:grpSp>
        <p:nvGrpSpPr>
          <p:cNvPr name="Group 19" id="19"/>
          <p:cNvGrpSpPr/>
          <p:nvPr/>
        </p:nvGrpSpPr>
        <p:grpSpPr>
          <a:xfrm rot="0">
            <a:off x="4869180" y="465772"/>
            <a:ext cx="11247120" cy="1248727"/>
            <a:chOff x="0" y="0"/>
            <a:chExt cx="14996160" cy="1664970"/>
          </a:xfrm>
        </p:grpSpPr>
        <p:sp>
          <p:nvSpPr>
            <p:cNvPr name="Freeform 20" id="20"/>
            <p:cNvSpPr/>
            <p:nvPr/>
          </p:nvSpPr>
          <p:spPr>
            <a:xfrm flipH="false" flipV="false" rot="0">
              <a:off x="0" y="0"/>
              <a:ext cx="14996161" cy="1664970"/>
            </a:xfrm>
            <a:custGeom>
              <a:avLst/>
              <a:gdLst/>
              <a:ahLst/>
              <a:cxnLst/>
              <a:rect r="r" b="b" t="t" l="l"/>
              <a:pathLst>
                <a:path h="1664970" w="14996161">
                  <a:moveTo>
                    <a:pt x="0" y="0"/>
                  </a:moveTo>
                  <a:lnTo>
                    <a:pt x="14996161" y="0"/>
                  </a:lnTo>
                  <a:lnTo>
                    <a:pt x="14996161" y="1664970"/>
                  </a:lnTo>
                  <a:lnTo>
                    <a:pt x="0" y="1664970"/>
                  </a:lnTo>
                  <a:close/>
                </a:path>
              </a:pathLst>
            </a:custGeom>
            <a:blipFill>
              <a:blip r:embed="rId7">
                <a:alphaModFix amt="0"/>
              </a:blip>
              <a:stretch>
                <a:fillRect l="0" t="-125499" r="0" b="-125499"/>
              </a:stretch>
            </a:blipFill>
          </p:spPr>
        </p:sp>
        <p:sp>
          <p:nvSpPr>
            <p:cNvPr name="TextBox 21" id="21"/>
            <p:cNvSpPr txBox="true"/>
            <p:nvPr/>
          </p:nvSpPr>
          <p:spPr>
            <a:xfrm>
              <a:off x="0" y="-19050"/>
              <a:ext cx="14996160" cy="1684020"/>
            </a:xfrm>
            <a:prstGeom prst="rect">
              <a:avLst/>
            </a:prstGeom>
          </p:spPr>
          <p:txBody>
            <a:bodyPr anchor="ctr" rtlCol="false" tIns="0" lIns="0" bIns="0" rIns="0"/>
            <a:lstStyle/>
            <a:p>
              <a:pPr algn="ctr">
                <a:lnSpc>
                  <a:spcPts val="4320"/>
                </a:lnSpc>
              </a:pPr>
              <a:r>
                <a:rPr lang="en-US" b="true" sz="3600" spc="150">
                  <a:solidFill>
                    <a:srgbClr val="052B35"/>
                  </a:solidFill>
                  <a:latin typeface="Cambria Bold"/>
                  <a:ea typeface="Cambria Bold"/>
                  <a:cs typeface="Cambria Bold"/>
                  <a:sym typeface="Cambria Bold"/>
                </a:rPr>
                <a:t>INITIAL DIRECTION &amp; EXPECTED OUTCOME</a:t>
              </a:r>
            </a:p>
          </p:txBody>
        </p:sp>
      </p:grpSp>
      <p:sp>
        <p:nvSpPr>
          <p:cNvPr name="Freeform 22" id="22"/>
          <p:cNvSpPr/>
          <p:nvPr/>
        </p:nvSpPr>
        <p:spPr>
          <a:xfrm flipH="false" flipV="false" rot="0">
            <a:off x="673294" y="467554"/>
            <a:ext cx="3934063" cy="1259443"/>
          </a:xfrm>
          <a:custGeom>
            <a:avLst/>
            <a:gdLst/>
            <a:ahLst/>
            <a:cxnLst/>
            <a:rect r="r" b="b" t="t" l="l"/>
            <a:pathLst>
              <a:path h="1259443" w="3934063">
                <a:moveTo>
                  <a:pt x="0" y="0"/>
                </a:moveTo>
                <a:lnTo>
                  <a:pt x="3934063" y="0"/>
                </a:lnTo>
                <a:lnTo>
                  <a:pt x="3934063" y="1259443"/>
                </a:lnTo>
                <a:lnTo>
                  <a:pt x="0" y="125944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3" id="23"/>
          <p:cNvSpPr/>
          <p:nvPr/>
        </p:nvSpPr>
        <p:spPr>
          <a:xfrm flipH="false" flipV="false" rot="0">
            <a:off x="892750" y="673294"/>
            <a:ext cx="971407" cy="847963"/>
          </a:xfrm>
          <a:custGeom>
            <a:avLst/>
            <a:gdLst/>
            <a:ahLst/>
            <a:cxnLst/>
            <a:rect r="r" b="b" t="t" l="l"/>
            <a:pathLst>
              <a:path h="847963" w="971407">
                <a:moveTo>
                  <a:pt x="0" y="0"/>
                </a:moveTo>
                <a:lnTo>
                  <a:pt x="971407" y="0"/>
                </a:lnTo>
                <a:lnTo>
                  <a:pt x="971407" y="847963"/>
                </a:lnTo>
                <a:lnTo>
                  <a:pt x="0" y="84796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24" id="24"/>
          <p:cNvGrpSpPr/>
          <p:nvPr/>
        </p:nvGrpSpPr>
        <p:grpSpPr>
          <a:xfrm rot="0">
            <a:off x="1104138" y="822960"/>
            <a:ext cx="548640" cy="548640"/>
            <a:chOff x="0" y="0"/>
            <a:chExt cx="731520" cy="731520"/>
          </a:xfrm>
        </p:grpSpPr>
        <p:sp>
          <p:nvSpPr>
            <p:cNvPr name="Freeform 25" id="25" descr="Team icon"/>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12"/>
              <a:stretch>
                <a:fillRect l="0" t="0" r="0" b="0"/>
              </a:stretch>
            </a:blipFill>
          </p:spPr>
        </p:sp>
      </p:grpSp>
      <p:grpSp>
        <p:nvGrpSpPr>
          <p:cNvPr name="Group 26" id="26"/>
          <p:cNvGrpSpPr/>
          <p:nvPr/>
        </p:nvGrpSpPr>
        <p:grpSpPr>
          <a:xfrm rot="0">
            <a:off x="2057400" y="576072"/>
            <a:ext cx="2441448" cy="1042416"/>
            <a:chOff x="0" y="0"/>
            <a:chExt cx="3255264" cy="1389888"/>
          </a:xfrm>
        </p:grpSpPr>
        <p:sp>
          <p:nvSpPr>
            <p:cNvPr name="Freeform 27" id="27"/>
            <p:cNvSpPr/>
            <p:nvPr/>
          </p:nvSpPr>
          <p:spPr>
            <a:xfrm flipH="false" flipV="false" rot="0">
              <a:off x="0" y="0"/>
              <a:ext cx="3255264" cy="1389888"/>
            </a:xfrm>
            <a:custGeom>
              <a:avLst/>
              <a:gdLst/>
              <a:ahLst/>
              <a:cxnLst/>
              <a:rect r="r" b="b" t="t" l="l"/>
              <a:pathLst>
                <a:path h="1389888" w="3255264">
                  <a:moveTo>
                    <a:pt x="0" y="0"/>
                  </a:moveTo>
                  <a:lnTo>
                    <a:pt x="3255264" y="0"/>
                  </a:lnTo>
                  <a:lnTo>
                    <a:pt x="3255264" y="1389888"/>
                  </a:lnTo>
                  <a:lnTo>
                    <a:pt x="0" y="1389888"/>
                  </a:lnTo>
                  <a:close/>
                </a:path>
              </a:pathLst>
            </a:custGeom>
            <a:blipFill>
              <a:blip r:embed="rId6">
                <a:alphaModFix amt="0"/>
              </a:blip>
              <a:stretch>
                <a:fillRect l="-4819" t="0" r="-4819" b="0"/>
              </a:stretch>
            </a:blipFill>
          </p:spPr>
        </p:sp>
      </p:grpSp>
      <p:grpSp>
        <p:nvGrpSpPr>
          <p:cNvPr name="Group 28" id="28"/>
          <p:cNvGrpSpPr/>
          <p:nvPr/>
        </p:nvGrpSpPr>
        <p:grpSpPr>
          <a:xfrm rot="0">
            <a:off x="2057400" y="554641"/>
            <a:ext cx="2441448" cy="1063847"/>
            <a:chOff x="0" y="0"/>
            <a:chExt cx="3255264" cy="1418463"/>
          </a:xfrm>
        </p:grpSpPr>
        <p:sp>
          <p:nvSpPr>
            <p:cNvPr name="Freeform 29" id="29"/>
            <p:cNvSpPr/>
            <p:nvPr/>
          </p:nvSpPr>
          <p:spPr>
            <a:xfrm flipH="false" flipV="false" rot="0">
              <a:off x="0" y="0"/>
              <a:ext cx="3255264" cy="1418463"/>
            </a:xfrm>
            <a:custGeom>
              <a:avLst/>
              <a:gdLst/>
              <a:ahLst/>
              <a:cxnLst/>
              <a:rect r="r" b="b" t="t" l="l"/>
              <a:pathLst>
                <a:path h="1418463" w="3255264">
                  <a:moveTo>
                    <a:pt x="0" y="0"/>
                  </a:moveTo>
                  <a:lnTo>
                    <a:pt x="3255264" y="0"/>
                  </a:lnTo>
                  <a:lnTo>
                    <a:pt x="3255264" y="1418463"/>
                  </a:lnTo>
                  <a:lnTo>
                    <a:pt x="0" y="1418463"/>
                  </a:lnTo>
                  <a:close/>
                </a:path>
              </a:pathLst>
            </a:custGeom>
            <a:blipFill>
              <a:blip r:embed="rId7">
                <a:alphaModFix amt="0"/>
              </a:blip>
              <a:stretch>
                <a:fillRect l="-5907" t="0" r="-5907" b="0"/>
              </a:stretch>
            </a:blipFill>
          </p:spPr>
        </p:sp>
        <p:sp>
          <p:nvSpPr>
            <p:cNvPr name="TextBox 30" id="30"/>
            <p:cNvSpPr txBox="true"/>
            <p:nvPr/>
          </p:nvSpPr>
          <p:spPr>
            <a:xfrm>
              <a:off x="0" y="-28575"/>
              <a:ext cx="3255264" cy="1447038"/>
            </a:xfrm>
            <a:prstGeom prst="rect">
              <a:avLst/>
            </a:prstGeom>
          </p:spPr>
          <p:txBody>
            <a:bodyPr anchor="ctr" rtlCol="false" tIns="0" lIns="0" bIns="0" rIns="0"/>
            <a:lstStyle/>
            <a:p>
              <a:pPr algn="l">
                <a:lnSpc>
                  <a:spcPts val="1620"/>
                </a:lnSpc>
              </a:pPr>
              <a:r>
                <a:rPr lang="en-US" b="true" sz="1350" spc="449">
                  <a:solidFill>
                    <a:srgbClr val="5B6F6B"/>
                  </a:solidFill>
                  <a:latin typeface="Calibri (MS) Bold"/>
                  <a:ea typeface="Calibri (MS) Bold"/>
                  <a:cs typeface="Calibri (MS) Bold"/>
                  <a:sym typeface="Calibri (MS) Bold"/>
                </a:rPr>
                <a:t>TEAM</a:t>
              </a:r>
            </a:p>
            <a:p>
              <a:pPr algn="l">
                <a:lnSpc>
                  <a:spcPts val="2700"/>
                </a:lnSpc>
              </a:pPr>
              <a:r>
                <a:rPr lang="en-US" b="true" sz="2250" spc="749">
                  <a:solidFill>
                    <a:srgbClr val="026855"/>
                  </a:solidFill>
                  <a:latin typeface="Calibri (MS) Bold"/>
                  <a:ea typeface="Calibri (MS) Bold"/>
                  <a:cs typeface="Calibri (MS) Bold"/>
                  <a:sym typeface="Calibri (MS) Bold"/>
                </a:rPr>
                <a:t>SIX-SEVEN</a:t>
              </a:r>
            </a:p>
          </p:txBody>
        </p:sp>
      </p:grpSp>
      <p:grpSp>
        <p:nvGrpSpPr>
          <p:cNvPr name="Group 31" id="31"/>
          <p:cNvGrpSpPr/>
          <p:nvPr/>
        </p:nvGrpSpPr>
        <p:grpSpPr>
          <a:xfrm rot="0">
            <a:off x="822960" y="2194560"/>
            <a:ext cx="685800" cy="593884"/>
            <a:chOff x="0" y="0"/>
            <a:chExt cx="914400" cy="791845"/>
          </a:xfrm>
        </p:grpSpPr>
        <p:sp>
          <p:nvSpPr>
            <p:cNvPr name="Freeform 32" id="32"/>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33" id="33"/>
          <p:cNvGrpSpPr/>
          <p:nvPr/>
        </p:nvGrpSpPr>
        <p:grpSpPr>
          <a:xfrm rot="0">
            <a:off x="960120" y="2285086"/>
            <a:ext cx="411480" cy="411480"/>
            <a:chOff x="0" y="0"/>
            <a:chExt cx="548640" cy="548640"/>
          </a:xfrm>
        </p:grpSpPr>
        <p:sp>
          <p:nvSpPr>
            <p:cNvPr name="Freeform 34" id="34" descr="Lightbulb 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13"/>
              <a:stretch>
                <a:fillRect l="0" t="0" r="0" b="0"/>
              </a:stretch>
            </a:blipFill>
          </p:spPr>
        </p:sp>
      </p:grpSp>
      <p:grpSp>
        <p:nvGrpSpPr>
          <p:cNvPr name="Group 35" id="35"/>
          <p:cNvGrpSpPr/>
          <p:nvPr/>
        </p:nvGrpSpPr>
        <p:grpSpPr>
          <a:xfrm rot="0">
            <a:off x="1508760" y="2114321"/>
            <a:ext cx="14401800" cy="754380"/>
            <a:chOff x="0" y="0"/>
            <a:chExt cx="19202400" cy="1005840"/>
          </a:xfrm>
        </p:grpSpPr>
        <p:sp>
          <p:nvSpPr>
            <p:cNvPr name="Freeform 36" id="36"/>
            <p:cNvSpPr/>
            <p:nvPr/>
          </p:nvSpPr>
          <p:spPr>
            <a:xfrm flipH="false" flipV="false" rot="0">
              <a:off x="0" y="0"/>
              <a:ext cx="19202400" cy="1005840"/>
            </a:xfrm>
            <a:custGeom>
              <a:avLst/>
              <a:gdLst/>
              <a:ahLst/>
              <a:cxnLst/>
              <a:rect r="r" b="b" t="t" l="l"/>
              <a:pathLst>
                <a:path h="1005840" w="19202400">
                  <a:moveTo>
                    <a:pt x="0" y="0"/>
                  </a:moveTo>
                  <a:lnTo>
                    <a:pt x="19202400" y="0"/>
                  </a:lnTo>
                  <a:lnTo>
                    <a:pt x="19202400" y="1005840"/>
                  </a:lnTo>
                  <a:lnTo>
                    <a:pt x="0" y="1005840"/>
                  </a:lnTo>
                  <a:close/>
                </a:path>
              </a:pathLst>
            </a:custGeom>
            <a:blipFill>
              <a:blip r:embed="rId6">
                <a:alphaModFix amt="0"/>
              </a:blip>
              <a:stretch>
                <a:fillRect l="0" t="-321728" r="0" b="-321728"/>
              </a:stretch>
            </a:blipFill>
          </p:spPr>
        </p:sp>
      </p:grpSp>
      <p:grpSp>
        <p:nvGrpSpPr>
          <p:cNvPr name="Group 37" id="37"/>
          <p:cNvGrpSpPr/>
          <p:nvPr/>
        </p:nvGrpSpPr>
        <p:grpSpPr>
          <a:xfrm rot="0">
            <a:off x="1612954" y="2123846"/>
            <a:ext cx="14401800" cy="797243"/>
            <a:chOff x="0" y="0"/>
            <a:chExt cx="19202400" cy="1062990"/>
          </a:xfrm>
        </p:grpSpPr>
        <p:sp>
          <p:nvSpPr>
            <p:cNvPr name="Freeform 38" id="38"/>
            <p:cNvSpPr/>
            <p:nvPr/>
          </p:nvSpPr>
          <p:spPr>
            <a:xfrm flipH="false" flipV="false" rot="0">
              <a:off x="0" y="0"/>
              <a:ext cx="19202400" cy="1062990"/>
            </a:xfrm>
            <a:custGeom>
              <a:avLst/>
              <a:gdLst/>
              <a:ahLst/>
              <a:cxnLst/>
              <a:rect r="r" b="b" t="t" l="l"/>
              <a:pathLst>
                <a:path h="1062990" w="19202400">
                  <a:moveTo>
                    <a:pt x="0" y="0"/>
                  </a:moveTo>
                  <a:lnTo>
                    <a:pt x="19202400" y="0"/>
                  </a:lnTo>
                  <a:lnTo>
                    <a:pt x="19202400" y="1062990"/>
                  </a:lnTo>
                  <a:lnTo>
                    <a:pt x="0" y="1062990"/>
                  </a:lnTo>
                  <a:close/>
                </a:path>
              </a:pathLst>
            </a:custGeom>
            <a:blipFill>
              <a:blip r:embed="rId7">
                <a:alphaModFix amt="0"/>
              </a:blip>
              <a:stretch>
                <a:fillRect l="0" t="-301987" r="0" b="-301987"/>
              </a:stretch>
            </a:blipFill>
          </p:spPr>
        </p:sp>
        <p:sp>
          <p:nvSpPr>
            <p:cNvPr name="TextBox 39" id="39"/>
            <p:cNvSpPr txBox="true"/>
            <p:nvPr/>
          </p:nvSpPr>
          <p:spPr>
            <a:xfrm>
              <a:off x="0" y="-57150"/>
              <a:ext cx="19202400" cy="1120140"/>
            </a:xfrm>
            <a:prstGeom prst="rect">
              <a:avLst/>
            </a:prstGeom>
          </p:spPr>
          <p:txBody>
            <a:bodyPr anchor="ctr" rtlCol="false" tIns="0" lIns="0" bIns="0" rIns="0"/>
            <a:lstStyle/>
            <a:p>
              <a:pPr algn="l">
                <a:lnSpc>
                  <a:spcPts val="3240"/>
                </a:lnSpc>
              </a:pPr>
              <a:r>
                <a:rPr lang="en-US" sz="2700" b="true">
                  <a:solidFill>
                    <a:srgbClr val="094542"/>
                  </a:solidFill>
                  <a:latin typeface="Calibri (MS) Bold"/>
                  <a:ea typeface="Calibri (MS) Bold"/>
                  <a:cs typeface="Calibri (MS) Bold"/>
                  <a:sym typeface="Calibri (MS) Bold"/>
                </a:rPr>
                <a:t>What Is Your Expected Outcome?</a:t>
              </a:r>
            </a:p>
          </p:txBody>
        </p:sp>
      </p:grpSp>
      <p:grpSp>
        <p:nvGrpSpPr>
          <p:cNvPr name="Group 40" id="40"/>
          <p:cNvGrpSpPr/>
          <p:nvPr/>
        </p:nvGrpSpPr>
        <p:grpSpPr>
          <a:xfrm rot="0">
            <a:off x="16888511" y="9614916"/>
            <a:ext cx="685800" cy="593903"/>
            <a:chOff x="0" y="0"/>
            <a:chExt cx="914400" cy="791870"/>
          </a:xfrm>
        </p:grpSpPr>
        <p:sp>
          <p:nvSpPr>
            <p:cNvPr name="Freeform 41" id="41"/>
            <p:cNvSpPr/>
            <p:nvPr/>
          </p:nvSpPr>
          <p:spPr>
            <a:xfrm flipH="false" flipV="false" rot="0">
              <a:off x="0" y="0"/>
              <a:ext cx="914400" cy="791845"/>
            </a:xfrm>
            <a:custGeom>
              <a:avLst/>
              <a:gdLst/>
              <a:ahLst/>
              <a:cxnLst/>
              <a:rect r="r" b="b" t="t" l="l"/>
              <a:pathLst>
                <a:path h="791845" w="914400">
                  <a:moveTo>
                    <a:pt x="0" y="0"/>
                  </a:moveTo>
                  <a:lnTo>
                    <a:pt x="914400" y="0"/>
                  </a:lnTo>
                  <a:lnTo>
                    <a:pt x="914400" y="791845"/>
                  </a:lnTo>
                  <a:lnTo>
                    <a:pt x="0" y="791845"/>
                  </a:lnTo>
                  <a:close/>
                </a:path>
              </a:pathLst>
            </a:custGeom>
            <a:blipFill>
              <a:blip r:embed="rId6">
                <a:alphaModFix amt="0"/>
              </a:blip>
              <a:stretch>
                <a:fillRect l="-61188" t="0" r="-61187" b="-3"/>
              </a:stretch>
            </a:blipFill>
          </p:spPr>
        </p:sp>
      </p:grpSp>
      <p:grpSp>
        <p:nvGrpSpPr>
          <p:cNvPr name="Group 42" id="42"/>
          <p:cNvGrpSpPr/>
          <p:nvPr/>
        </p:nvGrpSpPr>
        <p:grpSpPr>
          <a:xfrm rot="0">
            <a:off x="16888511" y="9593485"/>
            <a:ext cx="685800" cy="615334"/>
            <a:chOff x="0" y="0"/>
            <a:chExt cx="914400" cy="820445"/>
          </a:xfrm>
        </p:grpSpPr>
        <p:sp>
          <p:nvSpPr>
            <p:cNvPr name="Freeform 43" id="43"/>
            <p:cNvSpPr/>
            <p:nvPr/>
          </p:nvSpPr>
          <p:spPr>
            <a:xfrm flipH="false" flipV="false" rot="0">
              <a:off x="0" y="0"/>
              <a:ext cx="914400" cy="820446"/>
            </a:xfrm>
            <a:custGeom>
              <a:avLst/>
              <a:gdLst/>
              <a:ahLst/>
              <a:cxnLst/>
              <a:rect r="r" b="b" t="t" l="l"/>
              <a:pathLst>
                <a:path h="820446" w="914400">
                  <a:moveTo>
                    <a:pt x="0" y="0"/>
                  </a:moveTo>
                  <a:lnTo>
                    <a:pt x="914400" y="0"/>
                  </a:lnTo>
                  <a:lnTo>
                    <a:pt x="914400" y="820446"/>
                  </a:lnTo>
                  <a:lnTo>
                    <a:pt x="0" y="820446"/>
                  </a:lnTo>
                  <a:close/>
                </a:path>
              </a:pathLst>
            </a:custGeom>
            <a:blipFill>
              <a:blip r:embed="rId7">
                <a:alphaModFix amt="0"/>
              </a:blip>
              <a:stretch>
                <a:fillRect l="-65120" t="0" r="-65120" b="0"/>
              </a:stretch>
            </a:blipFill>
          </p:spPr>
        </p:sp>
        <p:sp>
          <p:nvSpPr>
            <p:cNvPr name="TextBox 44" id="44"/>
            <p:cNvSpPr txBox="true"/>
            <p:nvPr/>
          </p:nvSpPr>
          <p:spPr>
            <a:xfrm>
              <a:off x="0" y="-28575"/>
              <a:ext cx="914400" cy="849020"/>
            </a:xfrm>
            <a:prstGeom prst="rect">
              <a:avLst/>
            </a:prstGeom>
          </p:spPr>
          <p:txBody>
            <a:bodyPr anchor="ctr" rtlCol="false" tIns="0" lIns="0" bIns="0" rIns="0"/>
            <a:lstStyle/>
            <a:p>
              <a:pPr algn="ctr">
                <a:lnSpc>
                  <a:spcPts val="1980"/>
                </a:lnSpc>
              </a:pPr>
              <a:r>
                <a:rPr lang="en-US" sz="1650" b="true">
                  <a:solidFill>
                    <a:srgbClr val="052B35"/>
                  </a:solidFill>
                  <a:latin typeface="Calibri (MS) Bold"/>
                  <a:ea typeface="Calibri (MS) Bold"/>
                  <a:cs typeface="Calibri (MS) Bold"/>
                  <a:sym typeface="Calibri (MS) Bold"/>
                </a:rPr>
                <a:t>8</a:t>
              </a:r>
            </a:p>
          </p:txBody>
        </p:sp>
      </p:grpSp>
      <p:sp>
        <p:nvSpPr>
          <p:cNvPr name="Freeform 45" id="45"/>
          <p:cNvSpPr/>
          <p:nvPr/>
        </p:nvSpPr>
        <p:spPr>
          <a:xfrm flipH="false" flipV="false" rot="0">
            <a:off x="1531403" y="5014422"/>
            <a:ext cx="3749690" cy="814402"/>
          </a:xfrm>
          <a:custGeom>
            <a:avLst/>
            <a:gdLst/>
            <a:ahLst/>
            <a:cxnLst/>
            <a:rect r="r" b="b" t="t" l="l"/>
            <a:pathLst>
              <a:path h="814402" w="3749690">
                <a:moveTo>
                  <a:pt x="0" y="0"/>
                </a:moveTo>
                <a:lnTo>
                  <a:pt x="3749690" y="0"/>
                </a:lnTo>
                <a:lnTo>
                  <a:pt x="3749690" y="814402"/>
                </a:lnTo>
                <a:lnTo>
                  <a:pt x="0" y="814402"/>
                </a:lnTo>
                <a:lnTo>
                  <a:pt x="0" y="0"/>
                </a:lnTo>
                <a:close/>
              </a:path>
            </a:pathLst>
          </a:custGeom>
          <a:blipFill>
            <a:blip r:embed="rId14"/>
            <a:stretch>
              <a:fillRect l="0" t="-158773" r="-332851" b="-349074"/>
            </a:stretch>
          </a:blipFill>
        </p:spPr>
      </p:sp>
      <p:sp>
        <p:nvSpPr>
          <p:cNvPr name="TextBox 46" id="46"/>
          <p:cNvSpPr txBox="true"/>
          <p:nvPr/>
        </p:nvSpPr>
        <p:spPr>
          <a:xfrm rot="0">
            <a:off x="1303020" y="3425914"/>
            <a:ext cx="15681493" cy="1647749"/>
          </a:xfrm>
          <a:prstGeom prst="rect">
            <a:avLst/>
          </a:prstGeom>
        </p:spPr>
        <p:txBody>
          <a:bodyPr anchor="t" rtlCol="false" tIns="0" lIns="0" bIns="0" rIns="0">
            <a:spAutoFit/>
          </a:bodyPr>
          <a:lstStyle/>
          <a:p>
            <a:pPr algn="l" marL="571624" indent="-190541" lvl="2">
              <a:lnSpc>
                <a:spcPts val="3248"/>
              </a:lnSpc>
              <a:buFont typeface="Arial"/>
              <a:buChar char="⚬"/>
            </a:pPr>
            <a:r>
              <a:rPr lang="en-US" sz="2706">
                <a:solidFill>
                  <a:srgbClr val="052B35"/>
                </a:solidFill>
                <a:latin typeface="Cambria"/>
                <a:ea typeface="Cambria"/>
                <a:cs typeface="Cambria"/>
                <a:sym typeface="Cambria"/>
              </a:rPr>
              <a:t>To generate real-time 3D spatial maps of congested industrial environments to precisely pinpointing leak coordinates to proactively prevent catastrophic equipment failures and safety hazards.</a:t>
            </a:r>
          </a:p>
          <a:p>
            <a:pPr algn="l" marL="571624" indent="-190541" lvl="2">
              <a:lnSpc>
                <a:spcPts val="3248"/>
              </a:lnSpc>
            </a:pPr>
          </a:p>
          <a:p>
            <a:pPr algn="l" marL="571624" indent="-190541" lvl="2">
              <a:lnSpc>
                <a:spcPts val="3248"/>
              </a:lnSpc>
            </a:pPr>
          </a:p>
        </p:txBody>
      </p:sp>
      <p:sp>
        <p:nvSpPr>
          <p:cNvPr name="TextBox 47" id="47"/>
          <p:cNvSpPr txBox="true"/>
          <p:nvPr/>
        </p:nvSpPr>
        <p:spPr>
          <a:xfrm rot="0">
            <a:off x="1371600" y="5181600"/>
            <a:ext cx="15943917" cy="3143326"/>
          </a:xfrm>
          <a:prstGeom prst="rect">
            <a:avLst/>
          </a:prstGeom>
        </p:spPr>
        <p:txBody>
          <a:bodyPr anchor="t" rtlCol="false" tIns="0" lIns="0" bIns="0" rIns="0">
            <a:spAutoFit/>
          </a:bodyPr>
          <a:lstStyle/>
          <a:p>
            <a:pPr algn="l" marL="598482" indent="-199494" lvl="2">
              <a:lnSpc>
                <a:spcPts val="3141"/>
              </a:lnSpc>
              <a:buFont typeface="Arial"/>
              <a:buChar char="⚬"/>
            </a:pPr>
            <a:r>
              <a:rPr lang="en-US" b="true" sz="2618" spc="248">
                <a:solidFill>
                  <a:srgbClr val="000000"/>
                </a:solidFill>
                <a:latin typeface="Cambria Bold"/>
                <a:ea typeface="Cambria Bold"/>
                <a:cs typeface="Cambria Bold"/>
                <a:sym typeface="Cambria Bold"/>
              </a:rPr>
              <a:t>Improvements :</a:t>
            </a:r>
          </a:p>
          <a:p>
            <a:pPr algn="l" marL="598482" indent="-199494" lvl="2">
              <a:lnSpc>
                <a:spcPts val="3141"/>
              </a:lnSpc>
            </a:pPr>
          </a:p>
          <a:p>
            <a:pPr algn="l" marL="598482" indent="-199494" lvl="2">
              <a:lnSpc>
                <a:spcPts val="3141"/>
              </a:lnSpc>
              <a:buFont typeface="Arial"/>
              <a:buChar char="⚬"/>
            </a:pPr>
            <a:r>
              <a:rPr lang="en-US" sz="2618" spc="248">
                <a:solidFill>
                  <a:srgbClr val="052B35"/>
                </a:solidFill>
                <a:latin typeface="Cambria"/>
                <a:ea typeface="Cambria"/>
                <a:cs typeface="Cambria"/>
                <a:sym typeface="Cambria"/>
              </a:rPr>
              <a:t>Eliminate Manual &amp; Delayed Inspections: Replace slow, periodic manual handheld scanner sweeps with continuous 24/7 automated plant monitoring.</a:t>
            </a:r>
          </a:p>
          <a:p>
            <a:pPr algn="l" marL="598482" indent="-199494" lvl="2">
              <a:lnSpc>
                <a:spcPts val="3141"/>
              </a:lnSpc>
              <a:buFont typeface="Arial"/>
              <a:buChar char="⚬"/>
            </a:pPr>
            <a:r>
              <a:rPr lang="en-US" sz="2618" spc="248">
                <a:solidFill>
                  <a:srgbClr val="052B35"/>
                </a:solidFill>
                <a:latin typeface="Cambria"/>
                <a:ea typeface="Cambria"/>
                <a:cs typeface="Cambria"/>
                <a:sym typeface="Cambria"/>
              </a:rPr>
              <a:t>Overcome 2D Limitations: Upgrade from simple 2D visual overlays to true 3D spatial mapping, enabling precise fault targeting even in complex, obstructed factory layouts.</a:t>
            </a:r>
          </a:p>
          <a:p>
            <a:pPr algn="l" marL="598482" indent="-199494" lvl="2">
              <a:lnSpc>
                <a:spcPts val="3141"/>
              </a:lnSpc>
              <a:buFont typeface="Arial"/>
              <a:buChar char="⚬"/>
            </a:pPr>
            <a:r>
              <a:rPr lang="en-US" sz="2618" spc="249">
                <a:solidFill>
                  <a:srgbClr val="052B35"/>
                </a:solidFill>
                <a:latin typeface="Cambria"/>
                <a:ea typeface="Cambria"/>
                <a:cs typeface="Cambria"/>
                <a:sym typeface="Cambria"/>
              </a:rPr>
              <a:t>Prevent Unseen Industrial Losses: Drastically reduce energy waste from compressed air leaks and mitigate high-voltage arc/fire risk.</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grpSp>
        <p:nvGrpSpPr>
          <p:cNvPr name="Group 2" id="2"/>
          <p:cNvGrpSpPr/>
          <p:nvPr/>
        </p:nvGrpSpPr>
        <p:grpSpPr>
          <a:xfrm rot="0">
            <a:off x="16360159" y="472916"/>
            <a:ext cx="1248727" cy="1248727"/>
            <a:chOff x="0" y="0"/>
            <a:chExt cx="1664970" cy="1664970"/>
          </a:xfrm>
        </p:grpSpPr>
        <p:sp>
          <p:nvSpPr>
            <p:cNvPr name="Freeform 3" id="3"/>
            <p:cNvSpPr/>
            <p:nvPr/>
          </p:nvSpPr>
          <p:spPr>
            <a:xfrm flipH="false" flipV="false" rot="0">
              <a:off x="0" y="0"/>
              <a:ext cx="1664970" cy="1664970"/>
            </a:xfrm>
            <a:custGeom>
              <a:avLst/>
              <a:gdLst/>
              <a:ahLst/>
              <a:cxnLst/>
              <a:rect r="r" b="b" t="t" l="l"/>
              <a:pathLst>
                <a:path h="1664970" w="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4" id="4"/>
          <p:cNvGrpSpPr/>
          <p:nvPr/>
        </p:nvGrpSpPr>
        <p:grpSpPr>
          <a:xfrm rot="0">
            <a:off x="16583920" y="576072"/>
            <a:ext cx="801195" cy="1042416"/>
            <a:chOff x="0" y="0"/>
            <a:chExt cx="1068260" cy="1389888"/>
          </a:xfrm>
        </p:grpSpPr>
        <p:sp>
          <p:nvSpPr>
            <p:cNvPr name="Freeform 5" id="5" descr="Genesis logo"/>
            <p:cNvSpPr/>
            <p:nvPr/>
          </p:nvSpPr>
          <p:spPr>
            <a:xfrm flipH="false" flipV="false" rot="0">
              <a:off x="0" y="0"/>
              <a:ext cx="1068324" cy="1389888"/>
            </a:xfrm>
            <a:custGeom>
              <a:avLst/>
              <a:gdLst/>
              <a:ahLst/>
              <a:cxnLst/>
              <a:rect r="r" b="b" t="t" l="l"/>
              <a:pathLst>
                <a:path h="1389888" w="1068324">
                  <a:moveTo>
                    <a:pt x="0" y="0"/>
                  </a:moveTo>
                  <a:lnTo>
                    <a:pt x="1068324" y="0"/>
                  </a:lnTo>
                  <a:lnTo>
                    <a:pt x="1068324" y="1389888"/>
                  </a:lnTo>
                  <a:lnTo>
                    <a:pt x="0" y="1389888"/>
                  </a:lnTo>
                  <a:lnTo>
                    <a:pt x="0" y="0"/>
                  </a:lnTo>
                  <a:close/>
                </a:path>
              </a:pathLst>
            </a:custGeom>
            <a:blipFill>
              <a:blip r:embed="rId3"/>
              <a:stretch>
                <a:fillRect l="0" t="0" r="5" b="0"/>
              </a:stretch>
            </a:blipFill>
          </p:spPr>
        </p:sp>
      </p:grpSp>
      <p:grpSp>
        <p:nvGrpSpPr>
          <p:cNvPr name="Group 6" id="6"/>
          <p:cNvGrpSpPr/>
          <p:nvPr/>
        </p:nvGrpSpPr>
        <p:grpSpPr>
          <a:xfrm rot="0">
            <a:off x="0" y="9532620"/>
            <a:ext cx="18287543" cy="754380"/>
            <a:chOff x="0" y="0"/>
            <a:chExt cx="24383390" cy="1005840"/>
          </a:xfrm>
        </p:grpSpPr>
        <p:sp>
          <p:nvSpPr>
            <p:cNvPr name="Freeform 7" id="7"/>
            <p:cNvSpPr/>
            <p:nvPr/>
          </p:nvSpPr>
          <p:spPr>
            <a:xfrm flipH="false" flipV="false" rot="0">
              <a:off x="0" y="0"/>
              <a:ext cx="24383364" cy="1005840"/>
            </a:xfrm>
            <a:custGeom>
              <a:avLst/>
              <a:gdLst/>
              <a:ahLst/>
              <a:cxnLst/>
              <a:rect r="r" b="b" t="t" l="l"/>
              <a:pathLst>
                <a:path h="1005840" w="24383364">
                  <a:moveTo>
                    <a:pt x="0" y="0"/>
                  </a:moveTo>
                  <a:lnTo>
                    <a:pt x="24383364" y="0"/>
                  </a:lnTo>
                  <a:lnTo>
                    <a:pt x="24383364" y="1005840"/>
                  </a:lnTo>
                  <a:lnTo>
                    <a:pt x="0" y="1005840"/>
                  </a:lnTo>
                  <a:close/>
                </a:path>
              </a:pathLst>
            </a:custGeom>
            <a:solidFill>
              <a:srgbClr val="052B35"/>
            </a:solidFill>
          </p:spPr>
        </p:sp>
      </p:grpSp>
      <p:grpSp>
        <p:nvGrpSpPr>
          <p:cNvPr name="Group 8" id="8"/>
          <p:cNvGrpSpPr/>
          <p:nvPr/>
        </p:nvGrpSpPr>
        <p:grpSpPr>
          <a:xfrm rot="0">
            <a:off x="3429000" y="9532620"/>
            <a:ext cx="11429543" cy="754380"/>
            <a:chOff x="0" y="0"/>
            <a:chExt cx="15239390" cy="1005840"/>
          </a:xfrm>
        </p:grpSpPr>
        <p:sp>
          <p:nvSpPr>
            <p:cNvPr name="Freeform 9" id="9"/>
            <p:cNvSpPr/>
            <p:nvPr/>
          </p:nvSpPr>
          <p:spPr>
            <a:xfrm flipH="false" flipV="false" rot="0">
              <a:off x="0" y="0"/>
              <a:ext cx="15239391" cy="1005840"/>
            </a:xfrm>
            <a:custGeom>
              <a:avLst/>
              <a:gdLst/>
              <a:ahLst/>
              <a:cxnLst/>
              <a:rect r="r" b="b" t="t" l="l"/>
              <a:pathLst>
                <a:path h="1005840" w="15239391">
                  <a:moveTo>
                    <a:pt x="0" y="0"/>
                  </a:moveTo>
                  <a:lnTo>
                    <a:pt x="15239391" y="0"/>
                  </a:lnTo>
                  <a:lnTo>
                    <a:pt x="15239391" y="1005840"/>
                  </a:lnTo>
                  <a:lnTo>
                    <a:pt x="0" y="1005840"/>
                  </a:lnTo>
                  <a:close/>
                </a:path>
              </a:pathLst>
            </a:custGeom>
            <a:blipFill>
              <a:blip r:embed="rId4">
                <a:alphaModFix amt="0"/>
              </a:blip>
              <a:stretch>
                <a:fillRect l="0" t="-245216" r="0" b="-245216"/>
              </a:stretch>
            </a:blipFill>
          </p:spPr>
        </p:sp>
        <p:sp>
          <p:nvSpPr>
            <p:cNvPr name="TextBox 10" id="10"/>
            <p:cNvSpPr txBox="true"/>
            <p:nvPr/>
          </p:nvSpPr>
          <p:spPr>
            <a:xfrm>
              <a:off x="0" y="-19050"/>
              <a:ext cx="15239390" cy="1024890"/>
            </a:xfrm>
            <a:prstGeom prst="rect">
              <a:avLst/>
            </a:prstGeom>
          </p:spPr>
          <p:txBody>
            <a:bodyPr anchor="ctr" rtlCol="false" tIns="0" lIns="0" bIns="0" rIns="0"/>
            <a:lstStyle/>
            <a:p>
              <a:pPr algn="ctr">
                <a:lnSpc>
                  <a:spcPts val="1889"/>
                </a:lnSpc>
              </a:pPr>
              <a:r>
                <a:rPr lang="en-US" sz="1575" spc="150">
                  <a:solidFill>
                    <a:srgbClr val="D3E6DD"/>
                  </a:solidFill>
                  <a:latin typeface="Calibri (MS)"/>
                  <a:ea typeface="Calibri (MS)"/>
                  <a:cs typeface="Calibri (MS)"/>
                  <a:sym typeface="Calibri (MS)"/>
                </a:rPr>
                <a:t>Genesis Ideathon – Pre-Ideathon Template</a:t>
              </a:r>
            </a:p>
          </p:txBody>
        </p:sp>
      </p:grpSp>
      <p:grpSp>
        <p:nvGrpSpPr>
          <p:cNvPr name="Group 11" id="11"/>
          <p:cNvGrpSpPr/>
          <p:nvPr/>
        </p:nvGrpSpPr>
        <p:grpSpPr>
          <a:xfrm rot="0">
            <a:off x="16888511" y="9614916"/>
            <a:ext cx="685800" cy="593903"/>
            <a:chOff x="0" y="0"/>
            <a:chExt cx="914400" cy="791870"/>
          </a:xfrm>
        </p:grpSpPr>
        <p:sp>
          <p:nvSpPr>
            <p:cNvPr name="Freeform 12" id="12"/>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13" id="13"/>
          <p:cNvGrpSpPr/>
          <p:nvPr/>
        </p:nvGrpSpPr>
        <p:grpSpPr>
          <a:xfrm rot="5400000">
            <a:off x="15903559" y="7017544"/>
            <a:ext cx="2161927" cy="1875473"/>
            <a:chOff x="0" y="0"/>
            <a:chExt cx="2882570" cy="2500630"/>
          </a:xfrm>
        </p:grpSpPr>
        <p:sp>
          <p:nvSpPr>
            <p:cNvPr name="Freeform 14" id="14"/>
            <p:cNvSpPr/>
            <p:nvPr/>
          </p:nvSpPr>
          <p:spPr>
            <a:xfrm flipH="false" flipV="false" rot="0">
              <a:off x="0" y="0"/>
              <a:ext cx="2882519" cy="2500630"/>
            </a:xfrm>
            <a:custGeom>
              <a:avLst/>
              <a:gdLst/>
              <a:ahLst/>
              <a:cxnLst/>
              <a:rect r="r" b="b" t="t" l="l"/>
              <a:pathLst>
                <a:path h="2500630" w="2882519">
                  <a:moveTo>
                    <a:pt x="0" y="1250315"/>
                  </a:moveTo>
                  <a:lnTo>
                    <a:pt x="625094" y="0"/>
                  </a:lnTo>
                  <a:lnTo>
                    <a:pt x="2257425" y="0"/>
                  </a:lnTo>
                  <a:lnTo>
                    <a:pt x="2882519" y="1250315"/>
                  </a:lnTo>
                  <a:lnTo>
                    <a:pt x="2257425" y="2500630"/>
                  </a:lnTo>
                  <a:lnTo>
                    <a:pt x="625094" y="2500630"/>
                  </a:lnTo>
                  <a:close/>
                </a:path>
              </a:pathLst>
            </a:custGeom>
            <a:blipFill>
              <a:blip r:embed="rId4">
                <a:alphaModFix amt="0"/>
              </a:blip>
              <a:stretch>
                <a:fillRect l="-61304" t="0" r="-61306" b="0"/>
              </a:stretch>
            </a:blipFill>
            <a:ln w="23812" cap="sq">
              <a:solidFill>
                <a:srgbClr val="4FA278"/>
              </a:solidFill>
              <a:prstDash val="solid"/>
              <a:miter/>
            </a:ln>
          </p:spPr>
        </p:sp>
      </p:grpSp>
      <p:grpSp>
        <p:nvGrpSpPr>
          <p:cNvPr name="Group 15" id="15"/>
          <p:cNvGrpSpPr/>
          <p:nvPr/>
        </p:nvGrpSpPr>
        <p:grpSpPr>
          <a:xfrm rot="5400000">
            <a:off x="14613988" y="8011954"/>
            <a:ext cx="1449219" cy="1258252"/>
            <a:chOff x="0" y="0"/>
            <a:chExt cx="1932292" cy="1677670"/>
          </a:xfrm>
        </p:grpSpPr>
        <p:sp>
          <p:nvSpPr>
            <p:cNvPr name="Freeform 16" id="16"/>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7" id="17"/>
          <p:cNvGrpSpPr/>
          <p:nvPr/>
        </p:nvGrpSpPr>
        <p:grpSpPr>
          <a:xfrm rot="5400000">
            <a:off x="17357188" y="5748814"/>
            <a:ext cx="1449219" cy="1258252"/>
            <a:chOff x="0" y="0"/>
            <a:chExt cx="1932292" cy="1677670"/>
          </a:xfrm>
        </p:grpSpPr>
        <p:sp>
          <p:nvSpPr>
            <p:cNvPr name="Freeform 18" id="18"/>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9" id="19"/>
          <p:cNvGrpSpPr/>
          <p:nvPr/>
        </p:nvGrpSpPr>
        <p:grpSpPr>
          <a:xfrm rot="0">
            <a:off x="4869180" y="480060"/>
            <a:ext cx="11247120" cy="1234440"/>
            <a:chOff x="0" y="0"/>
            <a:chExt cx="14996160" cy="1645920"/>
          </a:xfrm>
        </p:grpSpPr>
        <p:sp>
          <p:nvSpPr>
            <p:cNvPr name="Freeform 20" id="20"/>
            <p:cNvSpPr/>
            <p:nvPr/>
          </p:nvSpPr>
          <p:spPr>
            <a:xfrm flipH="false" flipV="false" rot="0">
              <a:off x="0" y="0"/>
              <a:ext cx="14996161" cy="1645920"/>
            </a:xfrm>
            <a:custGeom>
              <a:avLst/>
              <a:gdLst/>
              <a:ahLst/>
              <a:cxnLst/>
              <a:rect r="r" b="b" t="t" l="l"/>
              <a:pathLst>
                <a:path h="1645920" w="14996161">
                  <a:moveTo>
                    <a:pt x="0" y="0"/>
                  </a:moveTo>
                  <a:lnTo>
                    <a:pt x="14996161" y="0"/>
                  </a:lnTo>
                  <a:lnTo>
                    <a:pt x="14996161" y="1645920"/>
                  </a:lnTo>
                  <a:lnTo>
                    <a:pt x="0" y="1645920"/>
                  </a:lnTo>
                  <a:close/>
                </a:path>
              </a:pathLst>
            </a:custGeom>
            <a:blipFill>
              <a:blip r:embed="rId4">
                <a:alphaModFix amt="0"/>
              </a:blip>
              <a:stretch>
                <a:fillRect l="0" t="-127530" r="0" b="-127530"/>
              </a:stretch>
            </a:blipFill>
          </p:spPr>
        </p:sp>
        <p:sp>
          <p:nvSpPr>
            <p:cNvPr name="TextBox 21" id="21"/>
            <p:cNvSpPr txBox="true"/>
            <p:nvPr/>
          </p:nvSpPr>
          <p:spPr>
            <a:xfrm>
              <a:off x="0" y="-19050"/>
              <a:ext cx="14996160" cy="1664970"/>
            </a:xfrm>
            <a:prstGeom prst="rect">
              <a:avLst/>
            </a:prstGeom>
          </p:spPr>
          <p:txBody>
            <a:bodyPr anchor="ctr" rtlCol="false" tIns="0" lIns="0" bIns="0" rIns="0"/>
            <a:lstStyle/>
            <a:p>
              <a:pPr algn="ctr">
                <a:lnSpc>
                  <a:spcPts val="4320"/>
                </a:lnSpc>
              </a:pPr>
              <a:r>
                <a:rPr lang="en-US" b="true" sz="3600" spc="150">
                  <a:solidFill>
                    <a:srgbClr val="052B35"/>
                  </a:solidFill>
                  <a:latin typeface="Cambria Bold"/>
                  <a:ea typeface="Cambria Bold"/>
                  <a:cs typeface="Cambria Bold"/>
                  <a:sym typeface="Cambria Bold"/>
                </a:rPr>
                <a:t>TEAM CONTRIBUTION</a:t>
              </a:r>
            </a:p>
          </p:txBody>
        </p:sp>
      </p:grpSp>
      <p:grpSp>
        <p:nvGrpSpPr>
          <p:cNvPr name="Group 22" id="22"/>
          <p:cNvGrpSpPr/>
          <p:nvPr/>
        </p:nvGrpSpPr>
        <p:grpSpPr>
          <a:xfrm rot="0">
            <a:off x="678656" y="472916"/>
            <a:ext cx="3923347" cy="1248727"/>
            <a:chOff x="0" y="0"/>
            <a:chExt cx="5231130" cy="1664970"/>
          </a:xfrm>
        </p:grpSpPr>
        <p:sp>
          <p:nvSpPr>
            <p:cNvPr name="Freeform 23" id="23"/>
            <p:cNvSpPr/>
            <p:nvPr/>
          </p:nvSpPr>
          <p:spPr>
            <a:xfrm flipH="false" flipV="false" rot="0">
              <a:off x="0" y="0"/>
              <a:ext cx="5231130" cy="1664970"/>
            </a:xfrm>
            <a:custGeom>
              <a:avLst/>
              <a:gdLst/>
              <a:ahLst/>
              <a:cxnLst/>
              <a:rect r="r" b="b" t="t" l="l"/>
              <a:pathLst>
                <a:path h="1664970" w="523113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24" id="24"/>
          <p:cNvGrpSpPr/>
          <p:nvPr/>
        </p:nvGrpSpPr>
        <p:grpSpPr>
          <a:xfrm rot="0">
            <a:off x="898112" y="678656"/>
            <a:ext cx="960692" cy="837248"/>
            <a:chOff x="0" y="0"/>
            <a:chExt cx="1280922" cy="1116330"/>
          </a:xfrm>
        </p:grpSpPr>
        <p:sp>
          <p:nvSpPr>
            <p:cNvPr name="Freeform 25" id="25"/>
            <p:cNvSpPr/>
            <p:nvPr/>
          </p:nvSpPr>
          <p:spPr>
            <a:xfrm flipH="false" flipV="false" rot="0">
              <a:off x="0" y="0"/>
              <a:ext cx="1280922" cy="1116330"/>
            </a:xfrm>
            <a:custGeom>
              <a:avLst/>
              <a:gdLst/>
              <a:ahLst/>
              <a:cxnLst/>
              <a:rect r="r" b="b" t="t" l="l"/>
              <a:pathLst>
                <a:path h="1116330" w="1280922">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name="Group 26" id="26"/>
          <p:cNvGrpSpPr/>
          <p:nvPr/>
        </p:nvGrpSpPr>
        <p:grpSpPr>
          <a:xfrm rot="0">
            <a:off x="1104138" y="822960"/>
            <a:ext cx="548640" cy="548640"/>
            <a:chOff x="0" y="0"/>
            <a:chExt cx="731520" cy="731520"/>
          </a:xfrm>
        </p:grpSpPr>
        <p:sp>
          <p:nvSpPr>
            <p:cNvPr name="Freeform 27" id="27" descr="Team icon"/>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5"/>
              <a:stretch>
                <a:fillRect l="0" t="0" r="0" b="0"/>
              </a:stretch>
            </a:blipFill>
          </p:spPr>
        </p:sp>
      </p:grpSp>
      <p:grpSp>
        <p:nvGrpSpPr>
          <p:cNvPr name="Group 28" id="28"/>
          <p:cNvGrpSpPr/>
          <p:nvPr/>
        </p:nvGrpSpPr>
        <p:grpSpPr>
          <a:xfrm rot="0">
            <a:off x="2057400" y="576072"/>
            <a:ext cx="2441448" cy="1042416"/>
            <a:chOff x="0" y="0"/>
            <a:chExt cx="3255264" cy="1389888"/>
          </a:xfrm>
        </p:grpSpPr>
        <p:sp>
          <p:nvSpPr>
            <p:cNvPr name="Freeform 29" id="29"/>
            <p:cNvSpPr/>
            <p:nvPr/>
          </p:nvSpPr>
          <p:spPr>
            <a:xfrm flipH="false" flipV="false" rot="0">
              <a:off x="0" y="0"/>
              <a:ext cx="3255264" cy="1389888"/>
            </a:xfrm>
            <a:custGeom>
              <a:avLst/>
              <a:gdLst/>
              <a:ahLst/>
              <a:cxnLst/>
              <a:rect r="r" b="b" t="t" l="l"/>
              <a:pathLst>
                <a:path h="1389888" w="3255264">
                  <a:moveTo>
                    <a:pt x="0" y="0"/>
                  </a:moveTo>
                  <a:lnTo>
                    <a:pt x="3255264" y="0"/>
                  </a:lnTo>
                  <a:lnTo>
                    <a:pt x="3255264" y="1389888"/>
                  </a:lnTo>
                  <a:lnTo>
                    <a:pt x="0" y="1389888"/>
                  </a:lnTo>
                  <a:close/>
                </a:path>
              </a:pathLst>
            </a:custGeom>
            <a:blipFill>
              <a:blip r:embed="rId4">
                <a:alphaModFix amt="0"/>
              </a:blip>
              <a:stretch>
                <a:fillRect l="-4781" t="0" r="-4781" b="0"/>
              </a:stretch>
            </a:blipFill>
          </p:spPr>
        </p:sp>
        <p:sp>
          <p:nvSpPr>
            <p:cNvPr name="TextBox 30" id="30"/>
            <p:cNvSpPr txBox="true"/>
            <p:nvPr/>
          </p:nvSpPr>
          <p:spPr>
            <a:xfrm>
              <a:off x="0" y="-28575"/>
              <a:ext cx="3255264" cy="1418463"/>
            </a:xfrm>
            <a:prstGeom prst="rect">
              <a:avLst/>
            </a:prstGeom>
          </p:spPr>
          <p:txBody>
            <a:bodyPr anchor="ctr" rtlCol="false" tIns="0" lIns="0" bIns="0" rIns="0"/>
            <a:lstStyle/>
            <a:p>
              <a:pPr algn="l">
                <a:lnSpc>
                  <a:spcPts val="1620"/>
                </a:lnSpc>
              </a:pPr>
              <a:r>
                <a:rPr lang="en-US" b="true" sz="1350" spc="449">
                  <a:solidFill>
                    <a:srgbClr val="5B6F6B"/>
                  </a:solidFill>
                  <a:latin typeface="Calibri (MS) Bold"/>
                  <a:ea typeface="Calibri (MS) Bold"/>
                  <a:cs typeface="Calibri (MS) Bold"/>
                  <a:sym typeface="Calibri (MS) Bold"/>
                </a:rPr>
                <a:t>TEAM</a:t>
              </a:r>
            </a:p>
            <a:p>
              <a:pPr algn="l">
                <a:lnSpc>
                  <a:spcPts val="2700"/>
                </a:lnSpc>
              </a:pPr>
              <a:r>
                <a:rPr lang="en-US" b="true" sz="2250" spc="749">
                  <a:solidFill>
                    <a:srgbClr val="026855"/>
                  </a:solidFill>
                  <a:latin typeface="Calibri (MS) Bold"/>
                  <a:ea typeface="Calibri (MS) Bold"/>
                  <a:cs typeface="Calibri (MS) Bold"/>
                  <a:sym typeface="Calibri (MS) Bold"/>
                </a:rPr>
                <a:t>SIX-SEVE</a:t>
              </a:r>
              <a:r>
                <a:rPr lang="en-US" b="true" sz="2250" spc="749">
                  <a:solidFill>
                    <a:srgbClr val="026855"/>
                  </a:solidFill>
                  <a:latin typeface="Calibri (MS) Bold"/>
                  <a:ea typeface="Calibri (MS) Bold"/>
                  <a:cs typeface="Calibri (MS) Bold"/>
                  <a:sym typeface="Calibri (MS) Bold"/>
                </a:rPr>
                <a:t>N</a:t>
              </a:r>
            </a:p>
          </p:txBody>
        </p:sp>
      </p:grpSp>
      <p:grpSp>
        <p:nvGrpSpPr>
          <p:cNvPr name="Group 31" id="31"/>
          <p:cNvGrpSpPr/>
          <p:nvPr/>
        </p:nvGrpSpPr>
        <p:grpSpPr>
          <a:xfrm rot="0">
            <a:off x="822960" y="2194560"/>
            <a:ext cx="685800" cy="593903"/>
            <a:chOff x="0" y="0"/>
            <a:chExt cx="914400" cy="791870"/>
          </a:xfrm>
        </p:grpSpPr>
        <p:sp>
          <p:nvSpPr>
            <p:cNvPr name="Freeform 32" id="32"/>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33" id="33"/>
          <p:cNvGrpSpPr/>
          <p:nvPr/>
        </p:nvGrpSpPr>
        <p:grpSpPr>
          <a:xfrm rot="0">
            <a:off x="960120" y="2285086"/>
            <a:ext cx="411480" cy="411480"/>
            <a:chOff x="0" y="0"/>
            <a:chExt cx="548640" cy="548640"/>
          </a:xfrm>
        </p:grpSpPr>
        <p:sp>
          <p:nvSpPr>
            <p:cNvPr name="Freeform 34" id="34" descr="Lightbulb 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6"/>
              <a:stretch>
                <a:fillRect l="0" t="0" r="0" b="0"/>
              </a:stretch>
            </a:blipFill>
          </p:spPr>
        </p:sp>
      </p:grpSp>
      <p:grpSp>
        <p:nvGrpSpPr>
          <p:cNvPr name="Group 35" id="35"/>
          <p:cNvGrpSpPr/>
          <p:nvPr/>
        </p:nvGrpSpPr>
        <p:grpSpPr>
          <a:xfrm rot="0">
            <a:off x="1755648" y="2125980"/>
            <a:ext cx="14401800" cy="754380"/>
            <a:chOff x="0" y="0"/>
            <a:chExt cx="19202400" cy="1005840"/>
          </a:xfrm>
        </p:grpSpPr>
        <p:sp>
          <p:nvSpPr>
            <p:cNvPr name="Freeform 36" id="36"/>
            <p:cNvSpPr/>
            <p:nvPr/>
          </p:nvSpPr>
          <p:spPr>
            <a:xfrm flipH="false" flipV="false" rot="0">
              <a:off x="0" y="0"/>
              <a:ext cx="19202400" cy="1005840"/>
            </a:xfrm>
            <a:custGeom>
              <a:avLst/>
              <a:gdLst/>
              <a:ahLst/>
              <a:cxnLst/>
              <a:rect r="r" b="b" t="t" l="l"/>
              <a:pathLst>
                <a:path h="1005840" w="19202400">
                  <a:moveTo>
                    <a:pt x="0" y="0"/>
                  </a:moveTo>
                  <a:lnTo>
                    <a:pt x="19202400" y="0"/>
                  </a:lnTo>
                  <a:lnTo>
                    <a:pt x="19202400" y="1005840"/>
                  </a:lnTo>
                  <a:lnTo>
                    <a:pt x="0" y="1005840"/>
                  </a:lnTo>
                  <a:close/>
                </a:path>
              </a:pathLst>
            </a:custGeom>
            <a:blipFill>
              <a:blip r:embed="rId4">
                <a:alphaModFix amt="0"/>
              </a:blip>
              <a:stretch>
                <a:fillRect l="0" t="-321987" r="0" b="-321987"/>
              </a:stretch>
            </a:blipFill>
          </p:spPr>
        </p:sp>
        <p:sp>
          <p:nvSpPr>
            <p:cNvPr name="TextBox 37" id="37"/>
            <p:cNvSpPr txBox="true"/>
            <p:nvPr/>
          </p:nvSpPr>
          <p:spPr>
            <a:xfrm>
              <a:off x="0" y="-57150"/>
              <a:ext cx="19202400" cy="1062990"/>
            </a:xfrm>
            <a:prstGeom prst="rect">
              <a:avLst/>
            </a:prstGeom>
          </p:spPr>
          <p:txBody>
            <a:bodyPr anchor="ctr" rtlCol="false" tIns="0" lIns="0" bIns="0" rIns="0"/>
            <a:lstStyle/>
            <a:p>
              <a:pPr algn="l">
                <a:lnSpc>
                  <a:spcPts val="3240"/>
                </a:lnSpc>
              </a:pPr>
              <a:r>
                <a:rPr lang="en-US" sz="2700" b="true">
                  <a:solidFill>
                    <a:srgbClr val="094542"/>
                  </a:solidFill>
                  <a:latin typeface="Calibri (MS) Bold"/>
                  <a:ea typeface="Calibri (MS) Bold"/>
                  <a:cs typeface="Calibri (MS) Bold"/>
                  <a:sym typeface="Calibri (MS) Bold"/>
                </a:rPr>
                <a:t>Who will handle which part of the execution</a:t>
              </a:r>
            </a:p>
          </p:txBody>
        </p:sp>
      </p:grpSp>
      <p:graphicFrame>
        <p:nvGraphicFramePr>
          <p:cNvPr name="Table 38" id="38"/>
          <p:cNvGraphicFramePr>
            <a:graphicFrameLocks noGrp="true"/>
          </p:cNvGraphicFramePr>
          <p:nvPr/>
        </p:nvGraphicFramePr>
        <p:xfrm>
          <a:off x="822960" y="3291840"/>
          <a:ext cx="16611600" cy="5162550"/>
        </p:xfrm>
        <a:graphic>
          <a:graphicData uri="http://schemas.openxmlformats.org/drawingml/2006/table">
            <a:tbl>
              <a:tblPr/>
              <a:tblGrid>
                <a:gridCol w="4523337"/>
                <a:gridCol w="3842282"/>
                <a:gridCol w="8245981"/>
              </a:tblGrid>
              <a:tr h="820939">
                <a:tc>
                  <a:txBody>
                    <a:bodyPr anchor="t" rtlCol="false"/>
                    <a:lstStyle/>
                    <a:p>
                      <a:pPr algn="l">
                        <a:lnSpc>
                          <a:spcPts val="2520"/>
                        </a:lnSpc>
                        <a:defRPr/>
                      </a:pPr>
                      <a:r>
                        <a:rPr lang="en-US" sz="2100" b="true">
                          <a:solidFill>
                            <a:srgbClr val="FFFFFF"/>
                          </a:solidFill>
                          <a:latin typeface="Calibri (MS) Bold"/>
                          <a:ea typeface="Calibri (MS) Bold"/>
                          <a:cs typeface="Calibri (MS) Bold"/>
                          <a:sym typeface="Calibri (MS) Bold"/>
                        </a:rPr>
                        <a:t>Team Member</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026855"/>
                    </a:solidFill>
                  </a:tcPr>
                </a:tc>
                <a:tc>
                  <a:txBody>
                    <a:bodyPr anchor="t" rtlCol="false"/>
                    <a:lstStyle/>
                    <a:p>
                      <a:pPr algn="l">
                        <a:lnSpc>
                          <a:spcPts val="2520"/>
                        </a:lnSpc>
                        <a:defRPr/>
                      </a:pPr>
                      <a:r>
                        <a:rPr lang="en-US" sz="2100" b="true">
                          <a:solidFill>
                            <a:srgbClr val="FFFFFF"/>
                          </a:solidFill>
                          <a:latin typeface="Calibri (MS) Bold"/>
                          <a:ea typeface="Calibri (MS) Bold"/>
                          <a:cs typeface="Calibri (MS) Bold"/>
                          <a:sym typeface="Calibri (MS) Bold"/>
                        </a:rPr>
                        <a:t>Role</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026855"/>
                    </a:solidFill>
                  </a:tcPr>
                </a:tc>
                <a:tc>
                  <a:txBody>
                    <a:bodyPr anchor="t" rtlCol="false"/>
                    <a:lstStyle/>
                    <a:p>
                      <a:pPr algn="l">
                        <a:lnSpc>
                          <a:spcPts val="2520"/>
                        </a:lnSpc>
                        <a:defRPr/>
                      </a:pPr>
                      <a:r>
                        <a:rPr lang="en-US" sz="2100" b="true">
                          <a:solidFill>
                            <a:srgbClr val="FFFFFF"/>
                          </a:solidFill>
                          <a:latin typeface="Calibri (MS) Bold"/>
                          <a:ea typeface="Calibri (MS) Bold"/>
                          <a:cs typeface="Calibri (MS) Bold"/>
                          <a:sym typeface="Calibri (MS) Bold"/>
                        </a:rPr>
                        <a:t>Responsibility in Execution</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026855"/>
                    </a:solidFill>
                  </a:tcPr>
                </a:tc>
              </a:tr>
              <a:tr h="1085403">
                <a:tc>
                  <a:txBody>
                    <a:bodyPr anchor="t" rtlCol="false"/>
                    <a:lstStyle/>
                    <a:p>
                      <a:pPr algn="l">
                        <a:lnSpc>
                          <a:spcPts val="2520"/>
                        </a:lnSpc>
                        <a:defRPr/>
                      </a:pPr>
                      <a:r>
                        <a:rPr lang="en-US" sz="2100" b="true">
                          <a:solidFill>
                            <a:srgbClr val="0E2A2F"/>
                          </a:solidFill>
                          <a:latin typeface="Calibri (MS) Bold"/>
                          <a:ea typeface="Calibri (MS) Bold"/>
                          <a:cs typeface="Calibri (MS) Bold"/>
                          <a:sym typeface="Calibri (MS) Bold"/>
                        </a:rPr>
                        <a:t>Member 1 name</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5B6F6B"/>
                          </a:solidFill>
                          <a:latin typeface="Calibri (MS)"/>
                          <a:ea typeface="Calibri (MS)"/>
                          <a:cs typeface="Calibri (MS)"/>
                          <a:sym typeface="Calibri (MS)"/>
                        </a:rPr>
                        <a:t>Role</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5B6F6B"/>
                          </a:solidFill>
                          <a:latin typeface="Calibri (MS)"/>
                          <a:ea typeface="Calibri (MS)"/>
                          <a:cs typeface="Calibri (MS)"/>
                          <a:sym typeface="Calibri (MS)"/>
                        </a:rPr>
                        <a:t>What they will handle</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r>
              <a:tr h="1085403">
                <a:tc>
                  <a:txBody>
                    <a:bodyPr anchor="t" rtlCol="false"/>
                    <a:lstStyle/>
                    <a:p>
                      <a:pPr algn="l">
                        <a:lnSpc>
                          <a:spcPts val="2520"/>
                        </a:lnSpc>
                        <a:defRPr/>
                      </a:pPr>
                      <a:r>
                        <a:rPr lang="en-US" sz="2100" b="true">
                          <a:solidFill>
                            <a:srgbClr val="0E2A2F"/>
                          </a:solidFill>
                          <a:latin typeface="Calibri (MS) Bold"/>
                          <a:ea typeface="Calibri (MS) Bold"/>
                          <a:cs typeface="Calibri (MS) Bold"/>
                          <a:sym typeface="Calibri (MS) Bold"/>
                        </a:rPr>
                        <a:t>Member 2 name</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5B6F6B"/>
                          </a:solidFill>
                          <a:latin typeface="Calibri (MS)"/>
                          <a:ea typeface="Calibri (MS)"/>
                          <a:cs typeface="Calibri (MS)"/>
                          <a:sym typeface="Calibri (MS)"/>
                        </a:rPr>
                        <a:t>Role</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5B6F6B"/>
                          </a:solidFill>
                          <a:latin typeface="Calibri (MS)"/>
                          <a:ea typeface="Calibri (MS)"/>
                          <a:cs typeface="Calibri (MS)"/>
                          <a:sym typeface="Calibri (MS)"/>
                        </a:rPr>
                        <a:t>What they will handle</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r>
              <a:tr h="1085403">
                <a:tc>
                  <a:txBody>
                    <a:bodyPr anchor="t" rtlCol="false"/>
                    <a:lstStyle/>
                    <a:p>
                      <a:pPr algn="l">
                        <a:lnSpc>
                          <a:spcPts val="2520"/>
                        </a:lnSpc>
                        <a:defRPr/>
                      </a:pPr>
                      <a:r>
                        <a:rPr lang="en-US" sz="2100" b="true">
                          <a:solidFill>
                            <a:srgbClr val="0E2A2F"/>
                          </a:solidFill>
                          <a:latin typeface="Calibri (MS) Bold"/>
                          <a:ea typeface="Calibri (MS) Bold"/>
                          <a:cs typeface="Calibri (MS) Bold"/>
                          <a:sym typeface="Calibri (MS) Bold"/>
                        </a:rPr>
                        <a:t>Member 3 name</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5B6F6B"/>
                          </a:solidFill>
                          <a:latin typeface="Calibri (MS)"/>
                          <a:ea typeface="Calibri (MS)"/>
                          <a:cs typeface="Calibri (MS)"/>
                          <a:sym typeface="Calibri (MS)"/>
                        </a:rPr>
                        <a:t>Role</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5B6F6B"/>
                          </a:solidFill>
                          <a:latin typeface="Calibri (MS)"/>
                          <a:ea typeface="Calibri (MS)"/>
                          <a:cs typeface="Calibri (MS)"/>
                          <a:sym typeface="Calibri (MS)"/>
                        </a:rPr>
                        <a:t>What they will handle</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r>
              <a:tr h="1085403">
                <a:tc>
                  <a:txBody>
                    <a:bodyPr anchor="t" rtlCol="false"/>
                    <a:lstStyle/>
                    <a:p>
                      <a:pPr algn="l">
                        <a:lnSpc>
                          <a:spcPts val="2520"/>
                        </a:lnSpc>
                        <a:defRPr/>
                      </a:pPr>
                      <a:r>
                        <a:rPr lang="en-US" sz="2100" b="true">
                          <a:solidFill>
                            <a:srgbClr val="0E2A2F"/>
                          </a:solidFill>
                          <a:latin typeface="Calibri (MS) Bold"/>
                          <a:ea typeface="Calibri (MS) Bold"/>
                          <a:cs typeface="Calibri (MS) Bold"/>
                          <a:sym typeface="Calibri (MS) Bold"/>
                        </a:rPr>
                        <a:t>Member 4 name</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5B6F6B"/>
                          </a:solidFill>
                          <a:latin typeface="Calibri (MS)"/>
                          <a:ea typeface="Calibri (MS)"/>
                          <a:cs typeface="Calibri (MS)"/>
                          <a:sym typeface="Calibri (MS)"/>
                        </a:rPr>
                        <a:t>Role</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5B6F6B"/>
                          </a:solidFill>
                          <a:latin typeface="Calibri (MS)"/>
                          <a:ea typeface="Calibri (MS)"/>
                          <a:cs typeface="Calibri (MS)"/>
                          <a:sym typeface="Calibri (MS)"/>
                        </a:rPr>
                        <a:t>What they will handle</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r>
            </a:tbl>
          </a:graphicData>
        </a:graphic>
      </p:graphicFrame>
      <p:grpSp>
        <p:nvGrpSpPr>
          <p:cNvPr name="Group 39" id="39"/>
          <p:cNvGrpSpPr/>
          <p:nvPr/>
        </p:nvGrpSpPr>
        <p:grpSpPr>
          <a:xfrm rot="0">
            <a:off x="16888511" y="9614916"/>
            <a:ext cx="685800" cy="593903"/>
            <a:chOff x="0" y="0"/>
            <a:chExt cx="914400" cy="791870"/>
          </a:xfrm>
        </p:grpSpPr>
        <p:sp>
          <p:nvSpPr>
            <p:cNvPr name="Freeform 40" id="40"/>
            <p:cNvSpPr/>
            <p:nvPr/>
          </p:nvSpPr>
          <p:spPr>
            <a:xfrm flipH="false" flipV="false" rot="0">
              <a:off x="0" y="0"/>
              <a:ext cx="914400" cy="791870"/>
            </a:xfrm>
            <a:custGeom>
              <a:avLst/>
              <a:gdLst/>
              <a:ahLst/>
              <a:cxnLst/>
              <a:rect r="r" b="b" t="t" l="l"/>
              <a:pathLst>
                <a:path h="791870" w="914400">
                  <a:moveTo>
                    <a:pt x="0" y="0"/>
                  </a:moveTo>
                  <a:lnTo>
                    <a:pt x="914400" y="0"/>
                  </a:lnTo>
                  <a:lnTo>
                    <a:pt x="914400" y="791870"/>
                  </a:lnTo>
                  <a:lnTo>
                    <a:pt x="0" y="791870"/>
                  </a:lnTo>
                  <a:close/>
                </a:path>
              </a:pathLst>
            </a:custGeom>
            <a:blipFill>
              <a:blip r:embed="rId4">
                <a:alphaModFix amt="0"/>
              </a:blip>
              <a:stretch>
                <a:fillRect l="-61110" t="0" r="-61110" b="0"/>
              </a:stretch>
            </a:blipFill>
          </p:spPr>
        </p:sp>
        <p:sp>
          <p:nvSpPr>
            <p:cNvPr name="TextBox 41" id="41"/>
            <p:cNvSpPr txBox="true"/>
            <p:nvPr/>
          </p:nvSpPr>
          <p:spPr>
            <a:xfrm>
              <a:off x="0" y="-28575"/>
              <a:ext cx="914400" cy="820445"/>
            </a:xfrm>
            <a:prstGeom prst="rect">
              <a:avLst/>
            </a:prstGeom>
          </p:spPr>
          <p:txBody>
            <a:bodyPr anchor="ctr" rtlCol="false" tIns="0" lIns="0" bIns="0" rIns="0"/>
            <a:lstStyle/>
            <a:p>
              <a:pPr algn="ctr">
                <a:lnSpc>
                  <a:spcPts val="1980"/>
                </a:lnSpc>
              </a:pPr>
              <a:r>
                <a:rPr lang="en-US" sz="1650" b="true">
                  <a:solidFill>
                    <a:srgbClr val="052B35"/>
                  </a:solidFill>
                  <a:latin typeface="Calibri (MS) Bold"/>
                  <a:ea typeface="Calibri (MS) Bold"/>
                  <a:cs typeface="Calibri (MS) Bold"/>
                  <a:sym typeface="Calibri (MS) Bold"/>
                </a:rPr>
                <a:t>9</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DAHXbDpGOdo</dc:identifier>
  <dcterms:modified xsi:type="dcterms:W3CDTF">2011-08-01T06:04:30Z</dcterms:modified>
  <cp:revision>1</cp:revision>
  <dc:title>Genesis_PreIdeathon_Template.pptx</dc:title>
</cp:coreProperties>
</file>